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F2590-739D-4EB4-A8AB-963D1502563C}" v="5" dt="2026-08-19T07:53:5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AKOU Davies" userId="c08c6ba1-a1ea-46ae-ac51-965dd17fe49c" providerId="ADAL" clId="{E6E1E5F7-C559-456C-B6CE-AFA82007674C}"/>
    <pc:docChg chg="mod modSld">
      <pc:chgData name="KOUAKOU Davies" userId="c08c6ba1-a1ea-46ae-ac51-965dd17fe49c" providerId="ADAL" clId="{E6E1E5F7-C559-456C-B6CE-AFA82007674C}" dt="2026-08-19T08:28:33.878" v="9" actId="20577"/>
      <pc:docMkLst>
        <pc:docMk/>
      </pc:docMkLst>
      <pc:sldChg chg="modSp mod">
        <pc:chgData name="KOUAKOU Davies" userId="c08c6ba1-a1ea-46ae-ac51-965dd17fe49c" providerId="ADAL" clId="{E6E1E5F7-C559-456C-B6CE-AFA82007674C}" dt="2026-08-19T08:28:33.878" v="9" actId="20577"/>
        <pc:sldMkLst>
          <pc:docMk/>
          <pc:sldMk cId="2067485478" sldId="257"/>
        </pc:sldMkLst>
        <pc:spChg chg="mod">
          <ac:chgData name="KOUAKOU Davies" userId="c08c6ba1-a1ea-46ae-ac51-965dd17fe49c" providerId="ADAL" clId="{E6E1E5F7-C559-456C-B6CE-AFA82007674C}" dt="2026-08-19T08:28:33.878" v="9" actId="20577"/>
          <ac:spMkLst>
            <pc:docMk/>
            <pc:sldMk cId="2067485478" sldId="257"/>
            <ac:spMk id="2" creationId="{B5E6943E-6A24-4E43-8BED-A1BC13CC3BBA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Lignes</c:v>
          </c:tx>
          <c:spPr>
            <a:solidFill>
              <a:srgbClr val="9080F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86-4DC4-A0D3-3FC13134530D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3-BC86-4DC4-A0D3-3FC13134530D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</c:spPr>
            <c:extLst>
              <c:ext xmlns:c16="http://schemas.microsoft.com/office/drawing/2014/chart" uri="{C3380CC4-5D6E-409C-BE32-E72D297353CC}">
                <c16:uniqueId val="{00000005-BC86-4DC4-A0D3-3FC13134530D}"/>
              </c:ext>
            </c:extLst>
          </c:dPt>
          <c:dPt>
            <c:idx val="3"/>
            <c:invertIfNegative val="0"/>
            <c:bubble3D val="0"/>
            <c:spPr>
              <a:solidFill>
                <a:srgbClr val="F9A825"/>
              </a:solidFill>
            </c:spPr>
            <c:extLst>
              <c:ext xmlns:c16="http://schemas.microsoft.com/office/drawing/2014/chart" uri="{C3380CC4-5D6E-409C-BE32-E72D297353CC}">
                <c16:uniqueId val="{00000007-BC86-4DC4-A0D3-3FC1313453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24152F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Finance</c:v>
              </c:pt>
              <c:pt idx="1">
                <c:v>Sales</c:v>
              </c:pt>
              <c:pt idx="2">
                <c:v>Web</c:v>
              </c:pt>
              <c:pt idx="3">
                <c:v>Promo</c:v>
              </c:pt>
            </c:strLit>
          </c:cat>
          <c:val>
            <c:numLit>
              <c:formatCode>#\ ##0</c:formatCode>
              <c:ptCount val="4"/>
              <c:pt idx="0">
                <c:v>11323</c:v>
              </c:pt>
              <c:pt idx="1">
                <c:v>9564</c:v>
              </c:pt>
              <c:pt idx="2">
                <c:v>761</c:v>
              </c:pt>
              <c:pt idx="3">
                <c:v>698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BC86-4DC4-A0D3-3FC1313453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fr-F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#\ ##0" sourceLinked="1"/>
        <c:majorTickMark val="none"/>
        <c:minorTickMark val="none"/>
        <c:tickLblPos val="nextTo"/>
        <c:spPr>
          <a:ln w="9525">
            <a:solidFill>
              <a:srgbClr val="B9C3D7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374151"/>
                </a:solidFill>
              </a:defRPr>
            </a:pPr>
            <a:endParaRPr lang="fr-FR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p.powerbi.com/links/3Ahsbg85L1?ctid=55a8600f-4ee6-4bb5-8f14-53589536b6df&amp;pbi_source=linkShare&amp;bookmarkGuid=f1b44580-8ca6-4458-954e-08d8fe1a8a95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F181E6-3F9E-40FA-B9B2-20AB570B43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952750" cy="6858000"/>
          </a:xfrm>
          <a:prstGeom prst="rect">
            <a:avLst/>
          </a:prstGeom>
          <a:solidFill>
            <a:srgbClr val="9080F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AEDCF1-29F5-4F40-BC50-2A4B35E241FA}"/>
              </a:ext>
            </a:extLst>
          </p:cNvPr>
          <p:cNvSpPr>
            <a:spLocks noGrp="1"/>
          </p:cNvSpPr>
          <p:nvPr/>
        </p:nvSpPr>
        <p:spPr>
          <a:xfrm>
            <a:off x="2952750" y="0"/>
            <a:ext cx="171450" cy="6858000"/>
          </a:xfrm>
          <a:prstGeom prst="rect">
            <a:avLst/>
          </a:prstGeom>
          <a:solidFill>
            <a:srgbClr val="5B4BC4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876300"/>
            <a:ext cx="1143000" cy="1143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BE6189-61D6-4532-BDFA-9CBC14BBD562}"/>
              </a:ext>
            </a:extLst>
          </p:cNvPr>
          <p:cNvSpPr>
            <a:spLocks noGrp="1"/>
          </p:cNvSpPr>
          <p:nvPr/>
        </p:nvSpPr>
        <p:spPr>
          <a:xfrm>
            <a:off x="3581400" y="1066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B4BC4"/>
                </a:solidFill>
              </a:defRPr>
            </a:pPr>
            <a:r>
              <a:rPr sz="1350" b="1">
                <a:solidFill>
                  <a:srgbClr val="5B4BC4"/>
                </a:solidFill>
              </a:rPr>
              <a:t>PROJET 9</a:t>
            </a:r>
          </a:p>
        </p:txBody>
      </p:sp>
      <p:sp>
        <p:nvSpPr>
          <p:cNvPr id="5" name="deck-title">
            <a:extLst>
              <a:ext uri="{FF2B5EF4-FFF2-40B4-BE49-F238E27FC236}">
                <a16:creationId xmlns:a16="http://schemas.microsoft.com/office/drawing/2014/main" id="{1BF9191C-6873-46EB-9B7D-7B651FEF5575}"/>
              </a:ext>
            </a:extLst>
          </p:cNvPr>
          <p:cNvSpPr>
            <a:spLocks noGrp="1"/>
          </p:cNvSpPr>
          <p:nvPr/>
        </p:nvSpPr>
        <p:spPr>
          <a:xfrm>
            <a:off x="3581400" y="15621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24152F"/>
                </a:solidFill>
              </a:defRPr>
            </a:pPr>
            <a:r>
              <a:rPr sz="4050" b="1" dirty="0" err="1">
                <a:solidFill>
                  <a:srgbClr val="24152F"/>
                </a:solidFill>
              </a:rPr>
              <a:t>Piloter</a:t>
            </a:r>
            <a:r>
              <a:rPr sz="4050" b="1" dirty="0">
                <a:solidFill>
                  <a:srgbClr val="24152F"/>
                </a:solidFill>
              </a:rPr>
              <a:t> la performance</a:t>
            </a:r>
          </a:p>
          <a:p>
            <a:pPr algn="l">
              <a:defRPr sz="4050" b="1">
                <a:solidFill>
                  <a:srgbClr val="24152F"/>
                </a:solidFill>
              </a:defRPr>
            </a:pPr>
            <a:r>
              <a:rPr sz="4050" b="1" dirty="0">
                <a:solidFill>
                  <a:srgbClr val="24152F"/>
                </a:solidFill>
              </a:rPr>
              <a:t>de Bottleneck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F7D65-FAB9-4829-A547-602B86DA0A54}"/>
              </a:ext>
            </a:extLst>
          </p:cNvPr>
          <p:cNvSpPr>
            <a:spLocks noGrp="1"/>
          </p:cNvSpPr>
          <p:nvPr/>
        </p:nvSpPr>
        <p:spPr>
          <a:xfrm>
            <a:off x="3619500" y="32385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64748B"/>
                </a:solidFill>
              </a:defRPr>
            </a:pPr>
            <a:r>
              <a:rPr sz="1950" b="0" dirty="0">
                <a:solidFill>
                  <a:srgbClr val="64748B"/>
                </a:solidFill>
              </a:rPr>
              <a:t>De la base SQLite aux </a:t>
            </a:r>
            <a:r>
              <a:rPr sz="1950" b="0" dirty="0" err="1">
                <a:solidFill>
                  <a:srgbClr val="64748B"/>
                </a:solidFill>
              </a:rPr>
              <a:t>décisions</a:t>
            </a:r>
            <a:r>
              <a:rPr sz="1950" b="0" dirty="0">
                <a:solidFill>
                  <a:srgbClr val="64748B"/>
                </a:solidFill>
              </a:rPr>
              <a:t> métier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33DDB-D07C-4E47-9C3E-8C8401D85D21}"/>
              </a:ext>
            </a:extLst>
          </p:cNvPr>
          <p:cNvSpPr>
            <a:spLocks noGrp="1"/>
          </p:cNvSpPr>
          <p:nvPr/>
        </p:nvSpPr>
        <p:spPr>
          <a:xfrm>
            <a:off x="3619500" y="3886200"/>
            <a:ext cx="1428750" cy="6667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35ACE-57F3-48E0-95EF-A66F85FCC717}"/>
              </a:ext>
            </a:extLst>
          </p:cNvPr>
          <p:cNvSpPr>
            <a:spLocks noGrp="1"/>
          </p:cNvSpPr>
          <p:nvPr/>
        </p:nvSpPr>
        <p:spPr>
          <a:xfrm>
            <a:off x="3619500" y="44577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74151"/>
                </a:solidFill>
              </a:defRPr>
            </a:pPr>
            <a:r>
              <a:rPr sz="1650" b="1" dirty="0">
                <a:solidFill>
                  <a:srgbClr val="374151"/>
                </a:solidFill>
              </a:rPr>
              <a:t>Davies KOUAKOU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5B4E9-51D2-4BF1-BE47-E95974873D62}"/>
              </a:ext>
            </a:extLst>
          </p:cNvPr>
          <p:cNvSpPr>
            <a:spLocks noGrp="1"/>
          </p:cNvSpPr>
          <p:nvPr/>
        </p:nvSpPr>
        <p:spPr>
          <a:xfrm>
            <a:off x="3619500" y="48291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 dirty="0">
                <a:solidFill>
                  <a:srgbClr val="64748B"/>
                </a:solidFill>
              </a:rPr>
              <a:t>Business Intelligence Analyst  •  </a:t>
            </a:r>
            <a:r>
              <a:rPr sz="1275" b="0" dirty="0" err="1">
                <a:solidFill>
                  <a:srgbClr val="64748B"/>
                </a:solidFill>
              </a:rPr>
              <a:t>Soutenance</a:t>
            </a:r>
            <a:endParaRPr sz="1275" b="0" dirty="0">
              <a:solidFill>
                <a:srgbClr val="64748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343677-19A2-4168-90CC-47575D1E53D2}"/>
              </a:ext>
            </a:extLst>
          </p:cNvPr>
          <p:cNvSpPr>
            <a:spLocks noGrp="1"/>
          </p:cNvSpPr>
          <p:nvPr/>
        </p:nvSpPr>
        <p:spPr>
          <a:xfrm>
            <a:off x="3619500" y="558165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B4BC4"/>
                </a:solidFill>
              </a:defRPr>
            </a:pPr>
            <a:r>
              <a:rPr sz="1350" b="1" dirty="0">
                <a:solidFill>
                  <a:srgbClr val="5B4BC4"/>
                </a:solidFill>
              </a:rPr>
              <a:t>Tableau de bord Power BI et </a:t>
            </a:r>
            <a:r>
              <a:rPr sz="1350" b="1" dirty="0" err="1">
                <a:solidFill>
                  <a:srgbClr val="5B4BC4"/>
                </a:solidFill>
              </a:rPr>
              <a:t>préconisations</a:t>
            </a:r>
            <a:r>
              <a:rPr sz="1350" b="1" dirty="0">
                <a:solidFill>
                  <a:srgbClr val="5B4BC4"/>
                </a:solidFill>
              </a:rPr>
              <a:t> </a:t>
            </a:r>
            <a:r>
              <a:rPr sz="1350" b="1" dirty="0" err="1">
                <a:solidFill>
                  <a:srgbClr val="5B4BC4"/>
                </a:solidFill>
              </a:rPr>
              <a:t>d’exploitation</a:t>
            </a:r>
            <a:endParaRPr sz="1350" b="1" dirty="0">
              <a:solidFill>
                <a:srgbClr val="5B4B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6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36A6D37F-C1B5-4A48-869E-B38BD25657D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DÉCISION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5E6943E-6A24-4E43-8BED-A1BC13CC3BB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 dirty="0">
                <a:solidFill>
                  <a:srgbClr val="24152F"/>
                </a:solidFill>
              </a:rPr>
              <a:t>Une </a:t>
            </a:r>
            <a:r>
              <a:rPr sz="2850" b="1" dirty="0" err="1">
                <a:solidFill>
                  <a:srgbClr val="24152F"/>
                </a:solidFill>
              </a:rPr>
              <a:t>chaîne</a:t>
            </a:r>
            <a:r>
              <a:rPr sz="2850" b="1" dirty="0">
                <a:solidFill>
                  <a:srgbClr val="24152F"/>
                </a:solidFill>
              </a:rPr>
              <a:t> simple</a:t>
            </a:r>
            <a:r>
              <a:rPr lang="fr-FR" sz="2850" b="1" dirty="0">
                <a:solidFill>
                  <a:srgbClr val="24152F"/>
                </a:solidFill>
              </a:rPr>
              <a:t> </a:t>
            </a:r>
            <a:r>
              <a:rPr sz="2850" b="1" dirty="0">
                <a:solidFill>
                  <a:srgbClr val="24152F"/>
                </a:solidFill>
              </a:rPr>
              <a:t>pour </a:t>
            </a:r>
            <a:r>
              <a:rPr sz="2850" b="1" dirty="0" err="1">
                <a:solidFill>
                  <a:srgbClr val="24152F"/>
                </a:solidFill>
              </a:rPr>
              <a:t>fiabiliser</a:t>
            </a:r>
            <a:r>
              <a:rPr sz="2850" b="1" dirty="0">
                <a:solidFill>
                  <a:srgbClr val="24152F"/>
                </a:solidFill>
              </a:rPr>
              <a:t> le pilotage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9E96AF-0DC7-4504-8961-8D2E947DB34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D60490-3A64-4D40-99E8-F40564ADCE7C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Le volume actuel ne justifie ni ETL externe ni plateforme plus complexe.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CB6DF-2A40-4533-893E-FB36CA23CD3F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4152F"/>
                </a:solidFill>
              </a:defRPr>
            </a:pPr>
            <a:r>
              <a:rPr sz="2250" b="1">
                <a:solidFill>
                  <a:srgbClr val="24152F"/>
                </a:solidFill>
              </a:rPr>
              <a:t>SQLite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567A7-9C02-4DF4-9739-6E58C7C59AE0}"/>
              </a:ext>
            </a:extLst>
          </p:cNvPr>
          <p:cNvSpPr>
            <a:spLocks noGrp="1"/>
          </p:cNvSpPr>
          <p:nvPr/>
        </p:nvSpPr>
        <p:spPr>
          <a:xfrm>
            <a:off x="2647950" y="23812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9080F0"/>
                </a:solidFill>
              </a:defRPr>
            </a:pPr>
            <a:r>
              <a:rPr sz="2400" b="1">
                <a:solidFill>
                  <a:srgbClr val="9080F0"/>
                </a:solidFill>
              </a:rPr>
              <a:t>→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35EB7-4B5B-4EB3-AC8E-808463C9B2F1}"/>
              </a:ext>
            </a:extLst>
          </p:cNvPr>
          <p:cNvSpPr>
            <a:spLocks noGrp="1"/>
          </p:cNvSpPr>
          <p:nvPr/>
        </p:nvSpPr>
        <p:spPr>
          <a:xfrm>
            <a:off x="3238500" y="240030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4152F"/>
                </a:solidFill>
              </a:defRPr>
            </a:pPr>
            <a:r>
              <a:rPr sz="2250" b="1">
                <a:solidFill>
                  <a:srgbClr val="24152F"/>
                </a:solidFill>
              </a:rPr>
              <a:t>Power 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9A5F5-A818-4E17-AF8F-35A88EDB0423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9080F0"/>
                </a:solidFill>
              </a:defRPr>
            </a:pPr>
            <a:r>
              <a:rPr sz="2400" b="1">
                <a:solidFill>
                  <a:srgbClr val="9080F0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05508-7B36-4A05-9824-5B035649DED9}"/>
              </a:ext>
            </a:extLst>
          </p:cNvPr>
          <p:cNvSpPr>
            <a:spLocks noGrp="1"/>
          </p:cNvSpPr>
          <p:nvPr/>
        </p:nvSpPr>
        <p:spPr>
          <a:xfrm>
            <a:off x="5905500" y="24003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4152F"/>
                </a:solidFill>
              </a:defRPr>
            </a:pPr>
            <a:r>
              <a:rPr sz="2250" b="1">
                <a:solidFill>
                  <a:srgbClr val="24152F"/>
                </a:solidFill>
              </a:rPr>
              <a:t>Modèle en étoile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A0EC9-7DD0-4D2D-960A-EF14F0D62679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9080F0"/>
                </a:solidFill>
              </a:defRPr>
            </a:pPr>
            <a:r>
              <a:rPr sz="2400" b="1">
                <a:solidFill>
                  <a:srgbClr val="9080F0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AE91F-25AF-4E1C-AB78-4D790A1DC8F2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4152F"/>
                </a:solidFill>
              </a:defRPr>
            </a:pPr>
            <a:r>
              <a:rPr sz="2250" b="1">
                <a:solidFill>
                  <a:srgbClr val="24152F"/>
                </a:solidFill>
              </a:rPr>
              <a:t>Power BI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EE7CE-8FDA-4BEF-A6EE-7768DCE20CBB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9886950" cy="19050"/>
          </a:xfrm>
          <a:prstGeom prst="rect">
            <a:avLst/>
          </a:prstGeom>
          <a:solidFill>
            <a:srgbClr val="E8ECF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4D47DFF-BB91-4624-8C6B-DB2790489BFC}"/>
              </a:ext>
            </a:extLst>
          </p:cNvPr>
          <p:cNvSpPr>
            <a:spLocks noGrp="1"/>
          </p:cNvSpPr>
          <p:nvPr/>
        </p:nvSpPr>
        <p:spPr>
          <a:xfrm>
            <a:off x="104775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81BBA-3133-46A6-AD1E-82C4041C067B}"/>
              </a:ext>
            </a:extLst>
          </p:cNvPr>
          <p:cNvSpPr>
            <a:spLocks noGrp="1"/>
          </p:cNvSpPr>
          <p:nvPr/>
        </p:nvSpPr>
        <p:spPr>
          <a:xfrm>
            <a:off x="1257300" y="34861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152F"/>
                </a:solidFill>
              </a:defRPr>
            </a:pPr>
            <a:r>
              <a:rPr sz="1500" b="1">
                <a:solidFill>
                  <a:srgbClr val="24152F"/>
                </a:solidFill>
              </a:rPr>
              <a:t>Fiable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E2A8C-AE9E-461A-B151-8096D311B569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2933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Conversions, clés et contrôles sont rejouables à chaque chargement.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456D0D-4C02-4203-AE03-3E67BEA8949B}"/>
              </a:ext>
            </a:extLst>
          </p:cNvPr>
          <p:cNvSpPr>
            <a:spLocks noGrp="1"/>
          </p:cNvSpPr>
          <p:nvPr/>
        </p:nvSpPr>
        <p:spPr>
          <a:xfrm>
            <a:off x="453390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AD26B2-D120-486E-BD32-993B6621107B}"/>
              </a:ext>
            </a:extLst>
          </p:cNvPr>
          <p:cNvSpPr>
            <a:spLocks noGrp="1"/>
          </p:cNvSpPr>
          <p:nvPr/>
        </p:nvSpPr>
        <p:spPr>
          <a:xfrm>
            <a:off x="4743450" y="34861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152F"/>
                </a:solidFill>
              </a:defRPr>
            </a:pPr>
            <a:r>
              <a:rPr sz="1500" b="1">
                <a:solidFill>
                  <a:srgbClr val="24152F"/>
                </a:solidFill>
              </a:rPr>
              <a:t>Maintenable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2D7E2F-98FB-4830-85D4-D8955F537CF2}"/>
              </a:ext>
            </a:extLst>
          </p:cNvPr>
          <p:cNvSpPr>
            <a:spLocks noGrp="1"/>
          </p:cNvSpPr>
          <p:nvPr/>
        </p:nvSpPr>
        <p:spPr>
          <a:xfrm>
            <a:off x="4743450" y="3771900"/>
            <a:ext cx="2933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Dimensions et faits restent séparés ; les calculs sont centralisés.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84AC2A-CC2B-4674-A231-02F875DF3B77}"/>
              </a:ext>
            </a:extLst>
          </p:cNvPr>
          <p:cNvSpPr>
            <a:spLocks noGrp="1"/>
          </p:cNvSpPr>
          <p:nvPr/>
        </p:nvSpPr>
        <p:spPr>
          <a:xfrm>
            <a:off x="802005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EBDC5-D2E3-41B8-9E3B-EAB4095D831A}"/>
              </a:ext>
            </a:extLst>
          </p:cNvPr>
          <p:cNvSpPr>
            <a:spLocks noGrp="1"/>
          </p:cNvSpPr>
          <p:nvPr/>
        </p:nvSpPr>
        <p:spPr>
          <a:xfrm>
            <a:off x="8229600" y="348615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152F"/>
                </a:solidFill>
              </a:defRPr>
            </a:pPr>
            <a:r>
              <a:rPr sz="1500" b="1">
                <a:solidFill>
                  <a:srgbClr val="24152F"/>
                </a:solidFill>
              </a:rPr>
              <a:t>Économique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5AF4FD-7EAC-4379-894F-86E83BBC5767}"/>
              </a:ext>
            </a:extLst>
          </p:cNvPr>
          <p:cNvSpPr>
            <a:spLocks noGrp="1"/>
          </p:cNvSpPr>
          <p:nvPr/>
        </p:nvSpPr>
        <p:spPr>
          <a:xfrm>
            <a:off x="8229600" y="3771900"/>
            <a:ext cx="2933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Le mode Import répond au besoin sans coût d’infrastructure supplémentaire.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86C0A6-B9F0-4B8A-B1CF-8BAF4F664ADB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B4BC4"/>
                </a:solidFill>
              </a:defRPr>
            </a:pPr>
            <a:r>
              <a:rPr sz="1275" b="1">
                <a:solidFill>
                  <a:srgbClr val="5B4BC4"/>
                </a:solidFill>
              </a:rPr>
              <a:t>Décision recommandée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B83369-05B3-4231-947F-8D2CD9D15394}"/>
              </a:ext>
            </a:extLst>
          </p:cNvPr>
          <p:cNvSpPr>
            <a:spLocks noGrp="1"/>
          </p:cNvSpPr>
          <p:nvPr/>
        </p:nvSpPr>
        <p:spPr>
          <a:xfrm>
            <a:off x="914400" y="5543550"/>
            <a:ext cx="971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Conserver cette architecture et concentrer l’effort sur la qualité des données et l’usage métier.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2377AA-F795-49FD-B7DA-F45BFA8A258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BOTTLENECK  •  PROJET 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D3316E-46FA-4342-BB9C-550B1FC1BA0A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748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D4E6A548-8F6C-4C3F-A613-CD42CF380E9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DONNÉES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48127DE-D0CE-4E43-A73A-0AA234EE483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>
                <a:solidFill>
                  <a:srgbClr val="24152F"/>
                </a:solidFill>
              </a:rPr>
              <a:t>Quatre tables structurent le pilotage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51E42-D005-4104-8A50-1C7AA6958DB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E0C37BA-5269-47FF-992A-29FA492ADF38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Une base compacte, cohérente et couvrant 13 mois d’activité.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15AA6-738B-4B7A-8783-6517F2D8B38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4152F"/>
                </a:solidFill>
              </a:defRPr>
            </a:pPr>
            <a:r>
              <a:rPr sz="2100" b="1">
                <a:solidFill>
                  <a:srgbClr val="24152F"/>
                </a:solidFill>
              </a:rPr>
              <a:t>Finance et Sales portent l’essentiel du volume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59479-28E6-4E03-8500-CD2EC813D528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905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Finance reste la référence prix ; Sales pilote l’activité commerciale. Web enrichit les produits et Promo isole les opérations.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C2F79-179A-4FBA-AEC1-68652C733811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9080F0"/>
                </a:solidFill>
              </a:defRPr>
            </a:pPr>
            <a:r>
              <a:rPr sz="3000" b="1">
                <a:solidFill>
                  <a:srgbClr val="9080F0"/>
                </a:solidFill>
              </a:rPr>
              <a:t>13 mois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5C98-E45B-491A-B933-F11405BF630A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oct. 2022 → oct. 2023</a:t>
            </a: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9000" y="4495800"/>
            <a:ext cx="781050" cy="781050"/>
          </a:xfrm>
          <a:prstGeom prst="rect">
            <a:avLst/>
          </a:prstGeom>
        </p:spPr>
      </p:pic>
      <p:graphicFrame>
        <p:nvGraphicFramePr>
          <p:cNvPr id="22" name="Chart"/>
          <p:cNvGraphicFramePr/>
          <p:nvPr/>
        </p:nvGraphicFramePr>
        <p:xfrm>
          <a:off x="5048250" y="2000250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8C02CEF-0647-4117-BDC4-A4CD1325E49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BOTTLENECK  •  PROJET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AED763-A525-46E4-BB3D-3C924B696670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73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FC31E903-22ED-4ABB-8B4E-406242A5850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FIABILITÉ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43CE60F-0D15-4E70-BE2C-964BC961385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>
                <a:solidFill>
                  <a:srgbClr val="24152F"/>
                </a:solidFill>
              </a:rPr>
              <a:t>Trois règles évitent les erreurs d’interprétation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54896-CF85-47DE-B940-D43B68948D2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0ECF511-24C2-4EFA-816C-B4673BAEDD1C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La qualité se joue surtout dans la préparation et le périmètre.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59CA1-946E-4647-8ACA-206C36A3FF18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080F0"/>
                </a:solidFill>
              </a:defRPr>
            </a:pPr>
            <a:r>
              <a:rPr sz="2100" b="1">
                <a:solidFill>
                  <a:srgbClr val="9080F0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7844F-8963-4C30-8D0A-2BB417B22CA5}"/>
              </a:ext>
            </a:extLst>
          </p:cNvPr>
          <p:cNvSpPr>
            <a:spLocks noGrp="1"/>
          </p:cNvSpPr>
          <p:nvPr/>
        </p:nvSpPr>
        <p:spPr>
          <a:xfrm>
            <a:off x="1714500" y="2257425"/>
            <a:ext cx="57150" cy="685800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D6F05-68E2-458D-917A-3D07C1F5699C}"/>
              </a:ext>
            </a:extLst>
          </p:cNvPr>
          <p:cNvSpPr>
            <a:spLocks noGrp="1"/>
          </p:cNvSpPr>
          <p:nvPr/>
        </p:nvSpPr>
        <p:spPr>
          <a:xfrm>
            <a:off x="2076450" y="21907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Convertir les décimaux en fr-FR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6E5AB4-80D9-45DB-8018-28EA9B7A2F80}"/>
              </a:ext>
            </a:extLst>
          </p:cNvPr>
          <p:cNvSpPr>
            <a:spLocks noGrp="1"/>
          </p:cNvSpPr>
          <p:nvPr/>
        </p:nvSpPr>
        <p:spPr>
          <a:xfrm>
            <a:off x="2076450" y="260985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Price, Purchase_Price et Price_Offer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035BC-6E13-409C-980C-25FAF3AD5344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6F6B90-9D63-4512-9363-27CD0AEF9764}"/>
              </a:ext>
            </a:extLst>
          </p:cNvPr>
          <p:cNvSpPr>
            <a:spLocks noGrp="1"/>
          </p:cNvSpPr>
          <p:nvPr/>
        </p:nvSpPr>
        <p:spPr>
          <a:xfrm>
            <a:off x="1714500" y="3400425"/>
            <a:ext cx="57150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93736C-CD24-420A-A849-281908C99BD4}"/>
              </a:ext>
            </a:extLst>
          </p:cNvPr>
          <p:cNvSpPr>
            <a:spLocks noGrp="1"/>
          </p:cNvSpPr>
          <p:nvPr/>
        </p:nvSpPr>
        <p:spPr>
          <a:xfrm>
            <a:off x="2076450" y="33337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Interpréter Orders avec prudence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F5608-DAB4-4679-8DE4-78B09F319D70}"/>
              </a:ext>
            </a:extLst>
          </p:cNvPr>
          <p:cNvSpPr>
            <a:spLocks noGrp="1"/>
          </p:cNvSpPr>
          <p:nvPr/>
        </p:nvSpPr>
        <p:spPr>
          <a:xfrm>
            <a:off x="2076450" y="375285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Vide = aucune commande pour les sommes ; distinct de zéro pour les moyennes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95ED8-85A6-4705-A3FB-D2C521BC8D05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3A33EB-4782-4EA9-809C-E8413DAB66B1}"/>
              </a:ext>
            </a:extLst>
          </p:cNvPr>
          <p:cNvSpPr>
            <a:spLocks noGrp="1"/>
          </p:cNvSpPr>
          <p:nvPr/>
        </p:nvSpPr>
        <p:spPr>
          <a:xfrm>
            <a:off x="1714500" y="4543425"/>
            <a:ext cx="57150" cy="685800"/>
          </a:xfrm>
          <a:prstGeom prst="rect">
            <a:avLst/>
          </a:prstGeom>
          <a:solidFill>
            <a:srgbClr val="0891B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F32B48-8730-44CB-9F57-EB0339ADF21D}"/>
              </a:ext>
            </a:extLst>
          </p:cNvPr>
          <p:cNvSpPr>
            <a:spLocks noGrp="1"/>
          </p:cNvSpPr>
          <p:nvPr/>
        </p:nvSpPr>
        <p:spPr>
          <a:xfrm>
            <a:off x="2076450" y="44767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Distinguer catalogue et activité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B67B3E-DB8A-4289-BFDB-743262BAC99C}"/>
              </a:ext>
            </a:extLst>
          </p:cNvPr>
          <p:cNvSpPr>
            <a:spLocks noGrp="1"/>
          </p:cNvSpPr>
          <p:nvPr/>
        </p:nvSpPr>
        <p:spPr>
          <a:xfrm>
            <a:off x="2076450" y="489585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110 SKU Finance sans Web n’ont aucune vente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023456-EB27-40E5-98CA-E852AB887CF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BOTTLENECK  •  PROJET 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2B2D5-FBC1-40D0-8132-B96D9AAFF69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040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">
            <a:extLst>
              <a:ext uri="{FF2B5EF4-FFF2-40B4-BE49-F238E27FC236}">
                <a16:creationId xmlns:a16="http://schemas.microsoft.com/office/drawing/2014/main" id="{CACAC237-C761-437D-949F-A23BA6936FD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USAGE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7231AF0-0B1E-4629-A8EB-06F6FF7512A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 dirty="0">
                <a:solidFill>
                  <a:srgbClr val="24152F"/>
                </a:solidFill>
              </a:rPr>
              <a:t>Le tableau de bord </a:t>
            </a:r>
            <a:r>
              <a:rPr sz="2850" b="1" dirty="0" err="1">
                <a:solidFill>
                  <a:srgbClr val="24152F"/>
                </a:solidFill>
              </a:rPr>
              <a:t>transforme</a:t>
            </a:r>
            <a:r>
              <a:rPr sz="2850" b="1" dirty="0">
                <a:solidFill>
                  <a:srgbClr val="24152F"/>
                </a:solidFill>
              </a:rPr>
              <a:t> un signal en </a:t>
            </a:r>
            <a:r>
              <a:rPr sz="2850" b="1" dirty="0" err="1">
                <a:solidFill>
                  <a:srgbClr val="24152F"/>
                </a:solidFill>
              </a:rPr>
              <a:t>décision</a:t>
            </a:r>
            <a:endParaRPr sz="2850" b="1" dirty="0">
              <a:solidFill>
                <a:srgbClr val="24152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608671-F880-4C83-8B3A-CA119B63BC89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F9BCE94-FDE0-4495-BE96-958B7A425C5A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Le contexte de période et de segment doit être conservé à chaque étape.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33E8E30-9EA2-46B4-856D-74EC898E882C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2B6DD-DF9E-437B-9588-8D41A61D610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DBC0A-575B-4ABB-816E-1D1555470AB7}"/>
              </a:ext>
            </a:extLst>
          </p:cNvPr>
          <p:cNvSpPr>
            <a:spLocks noGrp="1"/>
          </p:cNvSpPr>
          <p:nvPr/>
        </p:nvSpPr>
        <p:spPr>
          <a:xfrm>
            <a:off x="647700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Détecter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3B997-4717-4F81-9FE8-AA568D20B2E5}"/>
              </a:ext>
            </a:extLst>
          </p:cNvPr>
          <p:cNvSpPr>
            <a:spLocks noGrp="1"/>
          </p:cNvSpPr>
          <p:nvPr/>
        </p:nvSpPr>
        <p:spPr>
          <a:xfrm>
            <a:off x="209550" y="3676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Un KPI dérive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CF19BB-C398-4B66-9DE5-CA3FDCF983E2}"/>
              </a:ext>
            </a:extLst>
          </p:cNvPr>
          <p:cNvSpPr>
            <a:spLocks noGrp="1"/>
          </p:cNvSpPr>
          <p:nvPr/>
        </p:nvSpPr>
        <p:spPr>
          <a:xfrm>
            <a:off x="2495550" y="24765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9C3D7"/>
                </a:solidFill>
              </a:defRPr>
            </a:pPr>
            <a:r>
              <a:rPr sz="2250" b="1">
                <a:solidFill>
                  <a:srgbClr val="B9C3D7"/>
                </a:solidFill>
              </a:rPr>
              <a:t>→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2666292-0340-4F45-A242-4FB2513C8915}"/>
              </a:ext>
            </a:extLst>
          </p:cNvPr>
          <p:cNvSpPr>
            <a:spLocks noGrp="1"/>
          </p:cNvSpPr>
          <p:nvPr/>
        </p:nvSpPr>
        <p:spPr>
          <a:xfrm>
            <a:off x="3590925" y="23336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2E34F-49CB-40AD-B1D7-6CE5BBADC1A7}"/>
              </a:ext>
            </a:extLst>
          </p:cNvPr>
          <p:cNvSpPr>
            <a:spLocks noGrp="1"/>
          </p:cNvSpPr>
          <p:nvPr/>
        </p:nvSpPr>
        <p:spPr>
          <a:xfrm>
            <a:off x="3590925" y="24765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4A5F55-BCAB-4AFF-B854-68E2DBFBF87F}"/>
              </a:ext>
            </a:extLst>
          </p:cNvPr>
          <p:cNvSpPr>
            <a:spLocks noGrp="1"/>
          </p:cNvSpPr>
          <p:nvPr/>
        </p:nvSpPr>
        <p:spPr>
          <a:xfrm>
            <a:off x="3362325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Localiser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9A0B6-7C88-4909-A80B-D7F3EC7B996C}"/>
              </a:ext>
            </a:extLst>
          </p:cNvPr>
          <p:cNvSpPr>
            <a:spLocks noGrp="1"/>
          </p:cNvSpPr>
          <p:nvPr/>
        </p:nvSpPr>
        <p:spPr>
          <a:xfrm>
            <a:off x="2924175" y="3676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Segment, produit, mois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909E44-1DF6-43F8-97C2-27F13DA5570C}"/>
              </a:ext>
            </a:extLst>
          </p:cNvPr>
          <p:cNvSpPr>
            <a:spLocks noGrp="1"/>
          </p:cNvSpPr>
          <p:nvPr/>
        </p:nvSpPr>
        <p:spPr>
          <a:xfrm>
            <a:off x="5210175" y="24765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9C3D7"/>
                </a:solidFill>
              </a:defRPr>
            </a:pPr>
            <a:r>
              <a:rPr sz="2250" b="1">
                <a:solidFill>
                  <a:srgbClr val="B9C3D7"/>
                </a:solidFill>
              </a:rPr>
              <a:t>→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639A4E3-DE4D-4D91-A8D0-7E8DBFE5594B}"/>
              </a:ext>
            </a:extLst>
          </p:cNvPr>
          <p:cNvSpPr>
            <a:spLocks noGrp="1"/>
          </p:cNvSpPr>
          <p:nvPr/>
        </p:nvSpPr>
        <p:spPr>
          <a:xfrm>
            <a:off x="6305550" y="23336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33C147-5DC3-4244-8715-5306137D80A7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49D4F0-D8B1-4EF9-B087-FF9333DC0C31}"/>
              </a:ext>
            </a:extLst>
          </p:cNvPr>
          <p:cNvSpPr>
            <a:spLocks noGrp="1"/>
          </p:cNvSpPr>
          <p:nvPr/>
        </p:nvSpPr>
        <p:spPr>
          <a:xfrm>
            <a:off x="6076950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Expliquer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EA9A3-2AEB-49B7-B898-79DBF6EECB71}"/>
              </a:ext>
            </a:extLst>
          </p:cNvPr>
          <p:cNvSpPr>
            <a:spLocks noGrp="1"/>
          </p:cNvSpPr>
          <p:nvPr/>
        </p:nvSpPr>
        <p:spPr>
          <a:xfrm>
            <a:off x="5638800" y="3676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Prix, volume, coût, stock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2333C-4D05-403C-AF2B-E86D3324A0F3}"/>
              </a:ext>
            </a:extLst>
          </p:cNvPr>
          <p:cNvSpPr>
            <a:spLocks noGrp="1"/>
          </p:cNvSpPr>
          <p:nvPr/>
        </p:nvSpPr>
        <p:spPr>
          <a:xfrm>
            <a:off x="7924800" y="24765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9C3D7"/>
                </a:solidFill>
              </a:defRPr>
            </a:pPr>
            <a:r>
              <a:rPr sz="2250" b="1">
                <a:solidFill>
                  <a:srgbClr val="B9C3D7"/>
                </a:solidFill>
              </a:rPr>
              <a:t>→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C835A43-FEEB-4D88-868A-9CACAAAC0669}"/>
              </a:ext>
            </a:extLst>
          </p:cNvPr>
          <p:cNvSpPr>
            <a:spLocks noGrp="1"/>
          </p:cNvSpPr>
          <p:nvPr/>
        </p:nvSpPr>
        <p:spPr>
          <a:xfrm>
            <a:off x="9020175" y="23336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87A03A-6641-42EE-8EF3-378A08A7B5EF}"/>
              </a:ext>
            </a:extLst>
          </p:cNvPr>
          <p:cNvSpPr>
            <a:spLocks noGrp="1"/>
          </p:cNvSpPr>
          <p:nvPr/>
        </p:nvSpPr>
        <p:spPr>
          <a:xfrm>
            <a:off x="9020175" y="247650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C201ED-D194-4382-99A1-25CF309573CC}"/>
              </a:ext>
            </a:extLst>
          </p:cNvPr>
          <p:cNvSpPr>
            <a:spLocks noGrp="1"/>
          </p:cNvSpPr>
          <p:nvPr/>
        </p:nvSpPr>
        <p:spPr>
          <a:xfrm>
            <a:off x="8791575" y="32385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4152F"/>
                </a:solidFill>
              </a:defRPr>
            </a:pPr>
            <a:r>
              <a:rPr sz="1800" b="1">
                <a:solidFill>
                  <a:srgbClr val="24152F"/>
                </a:solidFill>
              </a:rPr>
              <a:t>Décider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E437F3-4B01-449E-8BAC-296BBB38821B}"/>
              </a:ext>
            </a:extLst>
          </p:cNvPr>
          <p:cNvSpPr>
            <a:spLocks noGrp="1"/>
          </p:cNvSpPr>
          <p:nvPr/>
        </p:nvSpPr>
        <p:spPr>
          <a:xfrm>
            <a:off x="8353425" y="3676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Action + indicateur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D5276B2-B2F3-42FC-B87F-FF7C92BF221A}"/>
              </a:ext>
            </a:extLst>
          </p:cNvPr>
          <p:cNvSpPr>
            <a:spLocks noGrp="1"/>
          </p:cNvSpPr>
          <p:nvPr/>
        </p:nvSpPr>
        <p:spPr>
          <a:xfrm>
            <a:off x="1581150" y="4857750"/>
            <a:ext cx="9029700" cy="723900"/>
          </a:xfrm>
          <a:prstGeom prst="roundRect">
            <a:avLst>
              <a:gd name="adj" fmla="val 15789"/>
            </a:avLst>
          </a:prstGeom>
          <a:solidFill>
            <a:srgbClr val="EEEAF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BC3651-0561-416E-96A6-405C543FC84A}"/>
              </a:ext>
            </a:extLst>
          </p:cNvPr>
          <p:cNvSpPr>
            <a:spLocks noGrp="1"/>
          </p:cNvSpPr>
          <p:nvPr/>
        </p:nvSpPr>
        <p:spPr>
          <a:xfrm>
            <a:off x="1866900" y="5048250"/>
            <a:ext cx="8458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B4BC4"/>
                </a:solidFill>
              </a:defRPr>
            </a:pPr>
            <a:r>
              <a:rPr sz="1500" b="1">
                <a:solidFill>
                  <a:srgbClr val="5B4BC4"/>
                </a:solidFill>
              </a:rPr>
              <a:t>Point de départ : la synthèse exécutive  •  Point d’arrivée : une action mesurable au cycle suivant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25C832-4767-4517-867F-A914A692541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BOTTLENECK  •  PROJET 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AFE796-1FB9-40A6-8184-6560A70B4E7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467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hlinkClick r:id="rId2"/>
            <a:extLst>
              <a:ext uri="{FF2B5EF4-FFF2-40B4-BE49-F238E27FC236}">
                <a16:creationId xmlns:a16="http://schemas.microsoft.com/office/drawing/2014/main" id="{4748D52B-D5F0-77B8-E854-DD93F54B7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340" y="1671484"/>
            <a:ext cx="7920651" cy="4516658"/>
          </a:xfrm>
          <a:prstGeom prst="rect">
            <a:avLst/>
          </a:prstGeom>
        </p:spPr>
      </p:pic>
      <p:sp>
        <p:nvSpPr>
          <p:cNvPr id="5" name="eyebrow">
            <a:extLst>
              <a:ext uri="{FF2B5EF4-FFF2-40B4-BE49-F238E27FC236}">
                <a16:creationId xmlns:a16="http://schemas.microsoft.com/office/drawing/2014/main" id="{CCD3833D-9A02-877C-767C-63892379067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USAGE</a:t>
            </a:r>
          </a:p>
        </p:txBody>
      </p:sp>
      <p:sp>
        <p:nvSpPr>
          <p:cNvPr id="7" name="slide-title">
            <a:extLst>
              <a:ext uri="{FF2B5EF4-FFF2-40B4-BE49-F238E27FC236}">
                <a16:creationId xmlns:a16="http://schemas.microsoft.com/office/drawing/2014/main" id="{2FAD3B7B-203E-390E-B8AD-AE0A97E849E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 dirty="0">
                <a:solidFill>
                  <a:srgbClr val="24152F"/>
                </a:solidFill>
              </a:rPr>
              <a:t>Le tableau </a:t>
            </a:r>
            <a:r>
              <a:rPr lang="fr-FR" sz="2850" b="1" dirty="0">
                <a:solidFill>
                  <a:srgbClr val="24152F"/>
                </a:solidFill>
              </a:rPr>
              <a:t>est opérationnel et  publié sur powerbi.com</a:t>
            </a:r>
            <a:endParaRPr sz="2850" b="1" dirty="0">
              <a:solidFill>
                <a:srgbClr val="24152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A99EB1-8888-6EAF-2453-C53B1C2C6AB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46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6843F696-E97C-40F7-AB0C-E6CA672368C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4BC4"/>
                </a:solidFill>
              </a:defRPr>
            </a:pPr>
            <a:r>
              <a:rPr sz="1050" b="1">
                <a:solidFill>
                  <a:srgbClr val="5B4BC4"/>
                </a:solidFill>
              </a:rPr>
              <a:t>PRÉCONISATIONS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532B3AF-2FDF-48A9-8BB2-3F066DD4EFD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4152F"/>
                </a:solidFill>
              </a:defRPr>
            </a:pPr>
            <a:r>
              <a:rPr sz="2850" b="1">
                <a:solidFill>
                  <a:srgbClr val="24152F"/>
                </a:solidFill>
              </a:rPr>
              <a:t>Trois leviers pour améliorer la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E2BAA-2AD7-4CC3-8CEB-30D8583D570A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144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CFBA50F-B0CA-45C1-9BC8-8A04185018C1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Chaque action est associée à un indicateur de suivi.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2D465-611E-4585-9628-55756E5D13AE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080F0"/>
                </a:solidFill>
              </a:defRPr>
            </a:pPr>
            <a:r>
              <a:rPr sz="1350" b="1">
                <a:solidFill>
                  <a:srgbClr val="9080F0"/>
                </a:solidFill>
              </a:rPr>
              <a:t>01</a:t>
            </a:r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86100" y="2000250"/>
            <a:ext cx="685800" cy="685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B0AC77-B7E3-4EDD-AB37-A6622C6FB3D0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4152F"/>
                </a:solidFill>
              </a:defRPr>
            </a:pPr>
            <a:r>
              <a:rPr sz="2025" b="1">
                <a:solidFill>
                  <a:srgbClr val="24152F"/>
                </a:solidFill>
              </a:rPr>
              <a:t>Protéger la marge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DCC46-81CD-4AD9-A046-62957E6C9F6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048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Cibler les références dont le coût augmente et la marge recule. Renégocier, ajuster le prix ou réduire la remise.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2FFE80-6E07-426D-923E-107FFAEDFFBC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685800" cy="47625"/>
          </a:xfrm>
          <a:prstGeom prst="rect">
            <a:avLst/>
          </a:prstGeom>
          <a:solidFill>
            <a:srgbClr val="9080F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12136-EEED-4B12-A9B3-50FBBA2139FE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080F0"/>
                </a:solidFill>
              </a:defRPr>
            </a:pPr>
            <a:r>
              <a:rPr sz="1275" b="1">
                <a:solidFill>
                  <a:srgbClr val="9080F0"/>
                </a:solidFill>
              </a:rPr>
              <a:t>KPI  •  Taux de marge</a:t>
            </a:r>
          </a:p>
          <a:p>
            <a:pPr algn="l">
              <a:defRPr sz="1275" b="1">
                <a:solidFill>
                  <a:srgbClr val="9080F0"/>
                </a:solidFill>
              </a:defRPr>
            </a:pPr>
            <a:r>
              <a:rPr sz="1275" b="1">
                <a:solidFill>
                  <a:srgbClr val="9080F0"/>
                </a:solidFill>
              </a:rPr>
              <a:t>Prix d’achat pondéré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C9DED-4D2D-4815-B855-3AED35ED8159}"/>
              </a:ext>
            </a:extLst>
          </p:cNvPr>
          <p:cNvSpPr>
            <a:spLocks noGrp="1"/>
          </p:cNvSpPr>
          <p:nvPr/>
        </p:nvSpPr>
        <p:spPr>
          <a:xfrm>
            <a:off x="4057650" y="2095500"/>
            <a:ext cx="19050" cy="3619500"/>
          </a:xfrm>
          <a:prstGeom prst="rect">
            <a:avLst/>
          </a:prstGeom>
          <a:solidFill>
            <a:srgbClr val="B9C3D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4402F-ABA6-4B18-B637-CF068E5EC922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pic>
        <p:nvPicPr>
          <p:cNvPr id="39" name="Imag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24650" y="2000250"/>
            <a:ext cx="685800" cy="685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7C1209C-3FC3-4603-86EC-9BB896453D96}"/>
              </a:ext>
            </a:extLst>
          </p:cNvPr>
          <p:cNvSpPr>
            <a:spLocks noGrp="1"/>
          </p:cNvSpPr>
          <p:nvPr/>
        </p:nvSpPr>
        <p:spPr>
          <a:xfrm>
            <a:off x="4324350" y="290512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4152F"/>
                </a:solidFill>
              </a:defRPr>
            </a:pPr>
            <a:r>
              <a:rPr sz="2025" b="1">
                <a:solidFill>
                  <a:srgbClr val="24152F"/>
                </a:solidFill>
              </a:rPr>
              <a:t>Optimiser les stocks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3F641-1EE2-4704-BE5D-50856769C090}"/>
              </a:ext>
            </a:extLst>
          </p:cNvPr>
          <p:cNvSpPr>
            <a:spLocks noGrp="1"/>
          </p:cNvSpPr>
          <p:nvPr/>
        </p:nvSpPr>
        <p:spPr>
          <a:xfrm>
            <a:off x="4324350" y="3638550"/>
            <a:ext cx="3048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Caler les commandes sur les ventes récentes et la couverture cible pour réduire ruptures, surstocks et cash immobilisé.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3190B3-C092-4D5F-A594-2F3F41B45232}"/>
              </a:ext>
            </a:extLst>
          </p:cNvPr>
          <p:cNvSpPr>
            <a:spLocks noGrp="1"/>
          </p:cNvSpPr>
          <p:nvPr/>
        </p:nvSpPr>
        <p:spPr>
          <a:xfrm>
            <a:off x="4324350" y="4991100"/>
            <a:ext cx="6858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9D967B-5CF3-427A-B956-189A2FDFF023}"/>
              </a:ext>
            </a:extLst>
          </p:cNvPr>
          <p:cNvSpPr>
            <a:spLocks noGrp="1"/>
          </p:cNvSpPr>
          <p:nvPr/>
        </p:nvSpPr>
        <p:spPr>
          <a:xfrm>
            <a:off x="4324350" y="52197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KPI  •  Couverture</a:t>
            </a:r>
          </a:p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Ruptures • Stock dormant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2DC97D-D224-4B32-8776-413299D5249A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19050" cy="3619500"/>
          </a:xfrm>
          <a:prstGeom prst="rect">
            <a:avLst/>
          </a:prstGeom>
          <a:solidFill>
            <a:srgbClr val="B9C3D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C8B63-AE78-41C6-AC5F-30BF4ED95F3F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03</a:t>
            </a:r>
          </a:p>
        </p:txBody>
      </p:sp>
      <p:pic>
        <p:nvPicPr>
          <p:cNvPr id="46" name="Image 4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363200" y="2000250"/>
            <a:ext cx="685800" cy="6858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78D51FF-DCAD-4DF0-8A31-0E2EE8277499}"/>
              </a:ext>
            </a:extLst>
          </p:cNvPr>
          <p:cNvSpPr>
            <a:spLocks noGrp="1"/>
          </p:cNvSpPr>
          <p:nvPr/>
        </p:nvSpPr>
        <p:spPr>
          <a:xfrm>
            <a:off x="7962900" y="290512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4152F"/>
                </a:solidFill>
              </a:defRPr>
            </a:pPr>
            <a:r>
              <a:rPr sz="2025" b="1">
                <a:solidFill>
                  <a:srgbClr val="24152F"/>
                </a:solidFill>
              </a:rPr>
              <a:t>Vendre avec plus de valeur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960FD7-3149-466F-A1F5-3A51682EDFC2}"/>
              </a:ext>
            </a:extLst>
          </p:cNvPr>
          <p:cNvSpPr>
            <a:spLocks noGrp="1"/>
          </p:cNvSpPr>
          <p:nvPr/>
        </p:nvSpPr>
        <p:spPr>
          <a:xfrm>
            <a:off x="7962900" y="3638550"/>
            <a:ext cx="3048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Accélérer le sans alcool rentable et revoir les promotions qui créent du volume sans marge suffisante.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A6D7DF-3A4E-4AF2-9E5E-9E590DFEADFC}"/>
              </a:ext>
            </a:extLst>
          </p:cNvPr>
          <p:cNvSpPr>
            <a:spLocks noGrp="1"/>
          </p:cNvSpPr>
          <p:nvPr/>
        </p:nvSpPr>
        <p:spPr>
          <a:xfrm>
            <a:off x="7962900" y="4991100"/>
            <a:ext cx="685800" cy="47625"/>
          </a:xfrm>
          <a:prstGeom prst="rect">
            <a:avLst/>
          </a:prstGeom>
          <a:solidFill>
            <a:srgbClr val="0891B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1574B0-0D0D-4002-BB55-2104D210DC1A}"/>
              </a:ext>
            </a:extLst>
          </p:cNvPr>
          <p:cNvSpPr>
            <a:spLocks noGrp="1"/>
          </p:cNvSpPr>
          <p:nvPr/>
        </p:nvSpPr>
        <p:spPr>
          <a:xfrm>
            <a:off x="7962900" y="521970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891B2"/>
                </a:solidFill>
              </a:defRPr>
            </a:pPr>
            <a:r>
              <a:rPr sz="1275" b="1">
                <a:solidFill>
                  <a:srgbClr val="0891B2"/>
                </a:solidFill>
              </a:rPr>
              <a:t>KPI  •  Marge promo</a:t>
            </a:r>
          </a:p>
          <a:p>
            <a:pPr algn="l">
              <a:defRPr sz="1275" b="1">
                <a:solidFill>
                  <a:srgbClr val="0891B2"/>
                </a:solidFill>
              </a:defRPr>
            </a:pPr>
            <a:r>
              <a:rPr sz="1275" b="1">
                <a:solidFill>
                  <a:srgbClr val="0891B2"/>
                </a:solidFill>
              </a:rPr>
              <a:t>CA et marge sans alcool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CD76C3-D666-44F7-B918-B1580551E63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BOTTLENECK  •  PROJET 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749985-8CCB-4064-9B47-61B3912DB599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29191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5a8600f-4ee6-4bb5-8f14-53589536b6df}" enabled="0" method="" siteId="{55a8600f-4ee6-4bb5-8f14-53589536b6d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DocSecurity>0</DocSecurity>
  <PresentationFormat>Grand écran</PresentationFormat>
  <Paragraphs>93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KOUAKOU Davies</cp:lastModifiedBy>
  <cp:revision>1</cp:revision>
  <dcterms:created xsi:type="dcterms:W3CDTF">2026-08-19T07:53:57Z</dcterms:created>
  <dcterms:modified xsi:type="dcterms:W3CDTF">2026-08-19T08:28:40Z</dcterms:modified>
</cp:coreProperties>
</file>