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78" r:id="rId3"/>
    <p:sldId id="279" r:id="rId4"/>
    <p:sldId id="277" r:id="rId5"/>
    <p:sldId id="259" r:id="rId6"/>
    <p:sldId id="264" r:id="rId7"/>
    <p:sldId id="260" r:id="rId8"/>
    <p:sldId id="266" r:id="rId9"/>
    <p:sldId id="261" r:id="rId10"/>
    <p:sldId id="267" r:id="rId11"/>
    <p:sldId id="268" r:id="rId12"/>
    <p:sldId id="262" r:id="rId13"/>
    <p:sldId id="281" r:id="rId14"/>
    <p:sldId id="275" r:id="rId15"/>
    <p:sldId id="280" r:id="rId16"/>
    <p:sldId id="282" r:id="rId17"/>
  </p:sldIdLst>
  <p:sldSz cx="9144000" cy="5143500" type="screen16x9"/>
  <p:notesSz cx="6858000" cy="9144000"/>
  <p:embeddedFontLst>
    <p:embeddedFont>
      <p:font typeface="Marianne" panose="02000000000000000000" pitchFamily="2" charset="0"/>
      <p:regular r:id="rId19"/>
      <p:bold r:id="rId20"/>
      <p:italic r:id="rId21"/>
      <p:boldItalic r:id="rId22"/>
    </p:embeddedFont>
    <p:embeddedFont>
      <p:font typeface="Marianne ExtraBold" panose="02000000000000000000" pitchFamily="2" charset="0"/>
      <p:bold r:id="rId23"/>
      <p:boldItalic r:id="rId24"/>
    </p:embeddedFont>
    <p:embeddedFont>
      <p:font typeface="Marianne Light" panose="02000000000000000000" pitchFamily="2" charset="0"/>
      <p:regular r:id="rId25"/>
      <p:italic r:id="rId26"/>
    </p:embeddedFont>
    <p:embeddedFont>
      <p:font typeface="Marianne Medium" panose="02000000000000000000" pitchFamily="2" charset="0"/>
      <p:regular r:id="rId27"/>
      <p:italic r:id="rId28"/>
    </p:embeddedFont>
    <p:embeddedFont>
      <p:font typeface="Maven Pro" panose="020B0604020202020204" charset="0"/>
      <p:regular r:id="rId29"/>
      <p:bold r:id="rId30"/>
    </p:embeddedFont>
    <p:embeddedFont>
      <p:font typeface="Nunito"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0808"/>
    <a:srgbClr val="885600"/>
    <a:srgbClr val="1B1B1B"/>
    <a:srgbClr val="D08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BE9E6-0E0D-4A79-B2A4-E03E83E38D42}" v="579" dt="2026-01-31T14:57:50.55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p:cViewPr varScale="1">
        <p:scale>
          <a:sx n="104" d="100"/>
          <a:sy n="104" d="100"/>
        </p:scale>
        <p:origin x="850"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microsoft.com/office/2016/11/relationships/changesInfo" Target="changesInfos/changesInfo1.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AKOU Davies" userId="c08c6ba1-a1ea-46ae-ac51-965dd17fe49c" providerId="ADAL" clId="{E6E1E5F7-C559-456C-B6CE-AFA82007674C}"/>
    <pc:docChg chg="mod">
      <pc:chgData name="KOUAKOU Davies" userId="c08c6ba1-a1ea-46ae-ac51-965dd17fe49c" providerId="ADAL" clId="{E6E1E5F7-C559-456C-B6CE-AFA82007674C}" dt="2026-01-31T16:51:56.910"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67d0a85795_0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67d0a85795_0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FB3C507C-EACC-C375-4ADE-1377E2B71AE4}"/>
            </a:ext>
          </a:extLst>
        </p:cNvPr>
        <p:cNvGrpSpPr/>
        <p:nvPr/>
      </p:nvGrpSpPr>
      <p:grpSpPr>
        <a:xfrm>
          <a:off x="0" y="0"/>
          <a:ext cx="0" cy="0"/>
          <a:chOff x="0" y="0"/>
          <a:chExt cx="0" cy="0"/>
        </a:xfrm>
      </p:grpSpPr>
      <p:sp>
        <p:nvSpPr>
          <p:cNvPr id="292" name="Google Shape;292;g367d0a85795_0_679:notes">
            <a:extLst>
              <a:ext uri="{FF2B5EF4-FFF2-40B4-BE49-F238E27FC236}">
                <a16:creationId xmlns:a16="http://schemas.microsoft.com/office/drawing/2014/main" id="{190D4BA1-2F31-BBA1-D96C-621F78FDA7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67d0a85795_0_679:notes">
            <a:extLst>
              <a:ext uri="{FF2B5EF4-FFF2-40B4-BE49-F238E27FC236}">
                <a16:creationId xmlns:a16="http://schemas.microsoft.com/office/drawing/2014/main" id="{B180ED1D-82FB-7447-B3B7-90F405AA4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3720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67d0a85795_0_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67d0a85795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A70F89F-70A5-E61E-8A8C-775ED5B0D902}"/>
            </a:ext>
          </a:extLst>
        </p:cNvPr>
        <p:cNvGrpSpPr/>
        <p:nvPr/>
      </p:nvGrpSpPr>
      <p:grpSpPr>
        <a:xfrm>
          <a:off x="0" y="0"/>
          <a:ext cx="0" cy="0"/>
          <a:chOff x="0" y="0"/>
          <a:chExt cx="0" cy="0"/>
        </a:xfrm>
      </p:grpSpPr>
      <p:sp>
        <p:nvSpPr>
          <p:cNvPr id="298" name="Google Shape;298;g367d0a85795_0_684:notes">
            <a:extLst>
              <a:ext uri="{FF2B5EF4-FFF2-40B4-BE49-F238E27FC236}">
                <a16:creationId xmlns:a16="http://schemas.microsoft.com/office/drawing/2014/main" id="{E4E1D076-CDA3-311A-5209-057E740717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67d0a85795_0_684:notes">
            <a:extLst>
              <a:ext uri="{FF2B5EF4-FFF2-40B4-BE49-F238E27FC236}">
                <a16:creationId xmlns:a16="http://schemas.microsoft.com/office/drawing/2014/main" id="{889040BA-825A-7CFD-04C8-66F7BA43B3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3151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67d0a85795_0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67d0a85795_0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DCFBC129-6252-F08C-B8B9-F9D280D2D818}"/>
            </a:ext>
          </a:extLst>
        </p:cNvPr>
        <p:cNvGrpSpPr/>
        <p:nvPr/>
      </p:nvGrpSpPr>
      <p:grpSpPr>
        <a:xfrm>
          <a:off x="0" y="0"/>
          <a:ext cx="0" cy="0"/>
          <a:chOff x="0" y="0"/>
          <a:chExt cx="0" cy="0"/>
        </a:xfrm>
      </p:grpSpPr>
      <p:sp>
        <p:nvSpPr>
          <p:cNvPr id="304" name="Google Shape;304;g367d0a85795_0_689:notes">
            <a:extLst>
              <a:ext uri="{FF2B5EF4-FFF2-40B4-BE49-F238E27FC236}">
                <a16:creationId xmlns:a16="http://schemas.microsoft.com/office/drawing/2014/main" id="{5837BD9E-63AB-1C5C-4DB8-F7168EA602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67d0a85795_0_689:notes">
            <a:extLst>
              <a:ext uri="{FF2B5EF4-FFF2-40B4-BE49-F238E27FC236}">
                <a16:creationId xmlns:a16="http://schemas.microsoft.com/office/drawing/2014/main" id="{D8243B31-9916-585B-5B87-D18DDF853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4912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67d0a85795_0_6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67d0a85795_0_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195912"/>
            <a:ext cx="999312" cy="999300"/>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17185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4.xml"/><Relationship Id="rId7"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18.sv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alpha val="72000"/>
          </a:schemeClr>
        </a:solidFill>
        <a:effectLst/>
      </p:bgPr>
    </p:bg>
    <p:spTree>
      <p:nvGrpSpPr>
        <p:cNvPr id="1" name="Shape 276"/>
        <p:cNvGrpSpPr/>
        <p:nvPr/>
      </p:nvGrpSpPr>
      <p:grpSpPr>
        <a:xfrm>
          <a:off x="0" y="0"/>
          <a:ext cx="0" cy="0"/>
          <a:chOff x="0" y="0"/>
          <a:chExt cx="0" cy="0"/>
        </a:xfrm>
      </p:grpSpPr>
      <p:sp>
        <p:nvSpPr>
          <p:cNvPr id="10" name="Titre 9">
            <a:extLst>
              <a:ext uri="{FF2B5EF4-FFF2-40B4-BE49-F238E27FC236}">
                <a16:creationId xmlns:a16="http://schemas.microsoft.com/office/drawing/2014/main" id="{F7D02195-809C-7EE6-580B-E8AF32E3B0CB}"/>
              </a:ext>
            </a:extLst>
          </p:cNvPr>
          <p:cNvSpPr>
            <a:spLocks noGrp="1"/>
          </p:cNvSpPr>
          <p:nvPr>
            <p:ph type="ctrTitle"/>
          </p:nvPr>
        </p:nvSpPr>
        <p:spPr>
          <a:xfrm>
            <a:off x="824000" y="-1872900"/>
            <a:ext cx="4255500" cy="1872900"/>
          </a:xfrm>
        </p:spPr>
        <p:txBody>
          <a:bodyPr spcFirstLastPara="1" wrap="square" lIns="91425" tIns="91425" rIns="91425" bIns="91425" anchor="b" anchorCtr="0">
            <a:normAutofit/>
          </a:bodyPr>
          <a:lstStyle/>
          <a:p>
            <a:r>
              <a:rPr lang="fr-FR" dirty="0"/>
              <a:t>Présentation</a:t>
            </a:r>
          </a:p>
        </p:txBody>
      </p:sp>
      <p:pic>
        <p:nvPicPr>
          <p:cNvPr id="4" name="Image 3" descr="Une image contenant texte, Graphique, graphisme, logo">
            <a:extLst>
              <a:ext uri="{FF2B5EF4-FFF2-40B4-BE49-F238E27FC236}">
                <a16:creationId xmlns:a16="http://schemas.microsoft.com/office/drawing/2014/main" id="{446ABDFD-B094-270A-8B6E-09D3CBB439E2}"/>
              </a:ext>
            </a:extLst>
          </p:cNvPr>
          <p:cNvPicPr>
            <a:picLocks noChangeAspect="1"/>
          </p:cNvPicPr>
          <p:nvPr/>
        </p:nvPicPr>
        <p:blipFill>
          <a:blip r:embed="rId3"/>
          <a:stretch>
            <a:fillRect/>
          </a:stretch>
        </p:blipFill>
        <p:spPr>
          <a:xfrm>
            <a:off x="725804" y="426720"/>
            <a:ext cx="7077075" cy="4716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C44344-E1F6-5C82-11BD-7D7B7E83F64B}"/>
              </a:ext>
            </a:extLst>
          </p:cNvPr>
          <p:cNvSpPr>
            <a:spLocks noGrp="1"/>
          </p:cNvSpPr>
          <p:nvPr>
            <p:ph type="title"/>
          </p:nvPr>
        </p:nvSpPr>
        <p:spPr>
          <a:xfrm>
            <a:off x="1118100" y="267240"/>
            <a:ext cx="7030500" cy="573310"/>
          </a:xfrm>
        </p:spPr>
        <p:txBody>
          <a:bodyPr>
            <a:normAutofit/>
          </a:bodyPr>
          <a:lstStyle/>
          <a:p>
            <a:r>
              <a:rPr lang="fr-FR" sz="2000" kern="1200" spc="-20" dirty="0">
                <a:solidFill>
                  <a:srgbClr val="002060"/>
                </a:solidFill>
                <a:latin typeface="+mj-lt"/>
                <a:ea typeface="+mn-ea"/>
                <a:cs typeface="+mn-cs"/>
              </a:rPr>
              <a:t>Cadre de la mission et questions d’analyse</a:t>
            </a:r>
          </a:p>
        </p:txBody>
      </p:sp>
      <p:grpSp>
        <p:nvGrpSpPr>
          <p:cNvPr id="11" name="Groupe 10" descr="Présentation de l'objectif des Pionniers.">
            <a:extLst>
              <a:ext uri="{FF2B5EF4-FFF2-40B4-BE49-F238E27FC236}">
                <a16:creationId xmlns:a16="http://schemas.microsoft.com/office/drawing/2014/main" id="{048BCE64-DAC8-352B-8595-AE5F69F7CE56}"/>
              </a:ext>
            </a:extLst>
          </p:cNvPr>
          <p:cNvGrpSpPr/>
          <p:nvPr/>
        </p:nvGrpSpPr>
        <p:grpSpPr>
          <a:xfrm>
            <a:off x="624840" y="955736"/>
            <a:ext cx="7400351" cy="1035750"/>
            <a:chOff x="790118" y="5305073"/>
            <a:chExt cx="4220672" cy="756000"/>
          </a:xfrm>
        </p:grpSpPr>
        <p:sp>
          <p:nvSpPr>
            <p:cNvPr id="12" name="Rectangle: Rounded Corners 4">
              <a:extLst>
                <a:ext uri="{FF2B5EF4-FFF2-40B4-BE49-F238E27FC236}">
                  <a16:creationId xmlns:a16="http://schemas.microsoft.com/office/drawing/2014/main" id="{719FA374-E11E-0EF8-FCED-120C0167EC14}"/>
                </a:ext>
              </a:extLst>
            </p:cNvPr>
            <p:cNvSpPr/>
            <p:nvPr/>
          </p:nvSpPr>
          <p:spPr>
            <a:xfrm flipH="1">
              <a:off x="1159968" y="5305073"/>
              <a:ext cx="3850822" cy="756000"/>
            </a:xfrm>
            <a:prstGeom prst="roundRect">
              <a:avLst>
                <a:gd name="adj" fmla="val 17438"/>
              </a:avLst>
            </a:prstGeom>
            <a:solidFill>
              <a:schemeClr val="accent3">
                <a:lumMod val="60000"/>
                <a:lumOff val="40000"/>
              </a:schemeClr>
            </a:solidFill>
            <a:ln w="1905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1" algn="ctr">
                <a:spcAft>
                  <a:spcPts val="300"/>
                </a:spcAft>
                <a:buClrTx/>
                <a:defRPr/>
              </a:pPr>
              <a:r>
                <a:rPr kumimoji="0" lang="fr-FR" sz="1200" b="1" i="0" u="none" strike="noStrike" kern="1200" cap="none" spc="0" normalizeH="0" baseline="0" noProof="0" dirty="0">
                  <a:ln>
                    <a:noFill/>
                  </a:ln>
                  <a:solidFill>
                    <a:srgbClr val="1B1B1B"/>
                  </a:solidFill>
                  <a:effectLst/>
                  <a:uLnTx/>
                  <a:uFillTx/>
                  <a:latin typeface="Marianne Medium" panose="02000000000000000000" pitchFamily="2" charset="0"/>
                  <a:ea typeface="+mn-ea"/>
                  <a:cs typeface="+mn-cs"/>
                </a:rPr>
                <a:t> </a:t>
              </a:r>
              <a:r>
                <a:rPr lang="fr-FR" sz="1200" b="1" kern="1200" dirty="0">
                  <a:solidFill>
                    <a:srgbClr val="1B1B1B"/>
                  </a:solidFill>
                  <a:latin typeface="Marianne Medium" panose="02000000000000000000" pitchFamily="2" charset="0"/>
                </a:rPr>
                <a:t>Le club «  Les Pionniers » ambitionne de monter en division supérieure au cours des cinq prochaines saisons. Pour atteindre cet objectif, il souhaite optimiser son approche de la performance sportive en exploitant les données de la saison 2024-2025 de la NBA.</a:t>
              </a:r>
            </a:p>
          </p:txBody>
        </p:sp>
        <p:sp>
          <p:nvSpPr>
            <p:cNvPr id="13" name="Pentagon 5">
              <a:extLst>
                <a:ext uri="{FF2B5EF4-FFF2-40B4-BE49-F238E27FC236}">
                  <a16:creationId xmlns:a16="http://schemas.microsoft.com/office/drawing/2014/main" id="{E193CECF-6739-1905-75B8-B1681DFE9F41}"/>
                </a:ext>
              </a:extLst>
            </p:cNvPr>
            <p:cNvSpPr/>
            <p:nvPr/>
          </p:nvSpPr>
          <p:spPr>
            <a:xfrm>
              <a:off x="790118" y="5305073"/>
              <a:ext cx="704043" cy="756000"/>
            </a:xfrm>
            <a:prstGeom prst="homePlate">
              <a:avLst>
                <a:gd name="adj" fmla="val 28401"/>
              </a:avLst>
            </a:prstGeom>
            <a:solidFill>
              <a:srgbClr val="FFFFFF"/>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a:ln>
                  <a:noFill/>
                </a:ln>
                <a:solidFill>
                  <a:srgbClr val="D96B00"/>
                </a:solidFill>
                <a:effectLst/>
                <a:uLnTx/>
                <a:uFillTx/>
                <a:latin typeface="Marianne ExtraBold" panose="02000000000000000000" pitchFamily="2" charset="0"/>
                <a:ea typeface="+mn-ea"/>
                <a:cs typeface="+mn-cs"/>
              </a:endParaRPr>
            </a:p>
          </p:txBody>
        </p:sp>
      </p:grpSp>
      <p:pic>
        <p:nvPicPr>
          <p:cNvPr id="25" name="Graphique 24" descr="Médaille avec un remplissage uni">
            <a:extLst>
              <a:ext uri="{FF2B5EF4-FFF2-40B4-BE49-F238E27FC236}">
                <a16:creationId xmlns:a16="http://schemas.microsoft.com/office/drawing/2014/main" id="{BAE8C06D-A1AA-CEF2-C3B7-01F2C247E1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2089" y="1053488"/>
            <a:ext cx="914400" cy="914400"/>
          </a:xfrm>
          <a:prstGeom prst="rect">
            <a:avLst/>
          </a:prstGeom>
        </p:spPr>
      </p:pic>
      <p:sp>
        <p:nvSpPr>
          <p:cNvPr id="10" name="Rectangle: Rounded Corners 4">
            <a:extLst>
              <a:ext uri="{FF2B5EF4-FFF2-40B4-BE49-F238E27FC236}">
                <a16:creationId xmlns:a16="http://schemas.microsoft.com/office/drawing/2014/main" id="{F676C285-8809-5892-855E-8118F8E1C541}"/>
              </a:ext>
            </a:extLst>
          </p:cNvPr>
          <p:cNvSpPr/>
          <p:nvPr/>
        </p:nvSpPr>
        <p:spPr>
          <a:xfrm flipH="1">
            <a:off x="594359" y="2071869"/>
            <a:ext cx="7400351" cy="697628"/>
          </a:xfrm>
          <a:prstGeom prst="roundRect">
            <a:avLst>
              <a:gd name="adj" fmla="val 27452"/>
            </a:avLst>
          </a:prstGeom>
          <a:no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400"/>
              </a:spcAft>
              <a:buClr>
                <a:srgbClr val="D92424"/>
              </a:buClr>
              <a:defRPr/>
            </a:pPr>
            <a:r>
              <a:rPr lang="fr-FR" sz="1300" kern="1200" dirty="0">
                <a:solidFill>
                  <a:srgbClr val="0D1440"/>
                </a:solidFill>
                <a:latin typeface="Marianne Medium" panose="02000000000000000000" pitchFamily="2" charset="0"/>
              </a:rPr>
              <a:t>L’objectif de cette mission est de transformer ces données en décisions concrètes et répondre aux questions d’analyse suivantes : </a:t>
            </a:r>
            <a:r>
              <a:rPr lang="fr-FR" sz="1200" dirty="0"/>
              <a:t>suivantes :</a:t>
            </a:r>
          </a:p>
        </p:txBody>
      </p:sp>
      <p:sp>
        <p:nvSpPr>
          <p:cNvPr id="8" name="Pentagon 4">
            <a:extLst>
              <a:ext uri="{FF2B5EF4-FFF2-40B4-BE49-F238E27FC236}">
                <a16:creationId xmlns:a16="http://schemas.microsoft.com/office/drawing/2014/main" id="{CD3C0103-0099-F77B-9B63-B9203988AE05}"/>
              </a:ext>
            </a:extLst>
          </p:cNvPr>
          <p:cNvSpPr/>
          <p:nvPr/>
        </p:nvSpPr>
        <p:spPr>
          <a:xfrm>
            <a:off x="1671902" y="2867233"/>
            <a:ext cx="773392" cy="518440"/>
          </a:xfrm>
          <a:prstGeom prst="homePlate">
            <a:avLst/>
          </a:prstGeom>
          <a:solidFill>
            <a:srgbClr val="FFFF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D08400"/>
                </a:solidFill>
                <a:effectLst/>
                <a:uLnTx/>
                <a:uFillTx/>
                <a:latin typeface="Marianne ExtraBold" panose="02000000000000000000" pitchFamily="2" charset="0"/>
                <a:ea typeface="+mn-ea"/>
                <a:cs typeface="+mn-cs"/>
              </a:rPr>
              <a:t>01</a:t>
            </a:r>
          </a:p>
        </p:txBody>
      </p:sp>
      <p:sp>
        <p:nvSpPr>
          <p:cNvPr id="6" name="TextBox 9">
            <a:extLst>
              <a:ext uri="{FF2B5EF4-FFF2-40B4-BE49-F238E27FC236}">
                <a16:creationId xmlns:a16="http://schemas.microsoft.com/office/drawing/2014/main" id="{B4385368-2751-1E85-8E71-9D9E04998B2C}"/>
              </a:ext>
            </a:extLst>
          </p:cNvPr>
          <p:cNvSpPr txBox="1"/>
          <p:nvPr/>
        </p:nvSpPr>
        <p:spPr>
          <a:xfrm>
            <a:off x="2567827" y="2930263"/>
            <a:ext cx="4501162" cy="461665"/>
          </a:xfrm>
          <a:prstGeom prst="rect">
            <a:avLst/>
          </a:prstGeom>
          <a:noFill/>
        </p:spPr>
        <p:txBody>
          <a:bodyPr wrap="square" rtlCol="0">
            <a:spAutoFit/>
          </a:bodyPr>
          <a:lstStyle/>
          <a:p>
            <a:pPr>
              <a:spcAft>
                <a:spcPts val="400"/>
              </a:spcAft>
              <a:buClrTx/>
              <a:defRPr/>
            </a:pPr>
            <a:r>
              <a:rPr lang="fr-FR" sz="1200" b="1" kern="1200" dirty="0">
                <a:solidFill>
                  <a:srgbClr val="FFCC52">
                    <a:lumMod val="75000"/>
                  </a:srgbClr>
                </a:solidFill>
                <a:latin typeface="Marianne"/>
                <a:ea typeface="+mn-ea"/>
                <a:cs typeface="+mn-cs"/>
              </a:rPr>
              <a:t>QUELS SONT LES  FACTEURS CLES DE PERFORMANCE DES JOUEURS EN NBA ?</a:t>
            </a:r>
          </a:p>
        </p:txBody>
      </p:sp>
      <p:sp>
        <p:nvSpPr>
          <p:cNvPr id="7" name="Pentagon 5">
            <a:extLst>
              <a:ext uri="{FF2B5EF4-FFF2-40B4-BE49-F238E27FC236}">
                <a16:creationId xmlns:a16="http://schemas.microsoft.com/office/drawing/2014/main" id="{2048AB33-BC6A-7AC8-D33B-E2F8D0EE2BED}"/>
              </a:ext>
            </a:extLst>
          </p:cNvPr>
          <p:cNvSpPr/>
          <p:nvPr/>
        </p:nvSpPr>
        <p:spPr>
          <a:xfrm>
            <a:off x="1688112" y="3549244"/>
            <a:ext cx="773392" cy="518440"/>
          </a:xfrm>
          <a:prstGeom prst="homePlate">
            <a:avLst/>
          </a:prstGeom>
          <a:solidFill>
            <a:srgbClr val="FFFFFF"/>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D96B00"/>
                </a:solidFill>
                <a:effectLst/>
                <a:uLnTx/>
                <a:uFillTx/>
                <a:latin typeface="Marianne ExtraBold" panose="02000000000000000000" pitchFamily="2" charset="0"/>
                <a:ea typeface="+mn-ea"/>
                <a:cs typeface="+mn-cs"/>
              </a:rPr>
              <a:t>02</a:t>
            </a:r>
          </a:p>
        </p:txBody>
      </p:sp>
      <p:sp>
        <p:nvSpPr>
          <p:cNvPr id="4" name="TextBox 10">
            <a:extLst>
              <a:ext uri="{FF2B5EF4-FFF2-40B4-BE49-F238E27FC236}">
                <a16:creationId xmlns:a16="http://schemas.microsoft.com/office/drawing/2014/main" id="{CC7B36F0-64D0-52ED-9B29-AC77E26EB2AC}"/>
              </a:ext>
            </a:extLst>
          </p:cNvPr>
          <p:cNvSpPr txBox="1"/>
          <p:nvPr/>
        </p:nvSpPr>
        <p:spPr>
          <a:xfrm>
            <a:off x="2567827" y="3650019"/>
            <a:ext cx="4501162" cy="276999"/>
          </a:xfrm>
          <a:prstGeom prst="rect">
            <a:avLst/>
          </a:prstGeom>
          <a:noFill/>
        </p:spPr>
        <p:txBody>
          <a:bodyPr wrap="square" rtlCol="0">
            <a:spAutoFit/>
          </a:bodyPr>
          <a:lstStyle/>
          <a:p>
            <a:pPr>
              <a:spcAft>
                <a:spcPts val="400"/>
              </a:spcAft>
              <a:buClrTx/>
              <a:defRPr/>
            </a:pPr>
            <a:r>
              <a:rPr lang="fr-FR" sz="1200" b="1" kern="1200" dirty="0">
                <a:solidFill>
                  <a:srgbClr val="D96B00"/>
                </a:solidFill>
                <a:latin typeface="Marianne"/>
                <a:ea typeface="+mn-ea"/>
                <a:cs typeface="+mn-cs"/>
              </a:rPr>
              <a:t>QUELS SONT LES ENSEIGNEMENTS CLES A RETENIR ?</a:t>
            </a:r>
          </a:p>
        </p:txBody>
      </p:sp>
      <p:sp>
        <p:nvSpPr>
          <p:cNvPr id="9" name="Pentagon 6">
            <a:extLst>
              <a:ext uri="{FF2B5EF4-FFF2-40B4-BE49-F238E27FC236}">
                <a16:creationId xmlns:a16="http://schemas.microsoft.com/office/drawing/2014/main" id="{2FEAADC7-60E0-776C-3D92-D4E95CF2A195}"/>
              </a:ext>
            </a:extLst>
          </p:cNvPr>
          <p:cNvSpPr/>
          <p:nvPr/>
        </p:nvSpPr>
        <p:spPr>
          <a:xfrm>
            <a:off x="1688112" y="4254274"/>
            <a:ext cx="773392" cy="518440"/>
          </a:xfrm>
          <a:prstGeom prst="homePlate">
            <a:avLst/>
          </a:prstGeom>
          <a:solidFill>
            <a:srgbClr val="FFFFFF"/>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D92424"/>
                </a:solidFill>
                <a:effectLst/>
                <a:uLnTx/>
                <a:uFillTx/>
                <a:latin typeface="Marianne ExtraBold" panose="02000000000000000000" pitchFamily="2" charset="0"/>
                <a:ea typeface="+mn-ea"/>
                <a:cs typeface="+mn-cs"/>
              </a:rPr>
              <a:t>03</a:t>
            </a:r>
          </a:p>
        </p:txBody>
      </p:sp>
      <p:sp>
        <p:nvSpPr>
          <p:cNvPr id="5" name="TextBox 11">
            <a:extLst>
              <a:ext uri="{FF2B5EF4-FFF2-40B4-BE49-F238E27FC236}">
                <a16:creationId xmlns:a16="http://schemas.microsoft.com/office/drawing/2014/main" id="{24651DA9-0C86-1CB3-A177-AB1907E02C36}"/>
              </a:ext>
            </a:extLst>
          </p:cNvPr>
          <p:cNvSpPr txBox="1"/>
          <p:nvPr/>
        </p:nvSpPr>
        <p:spPr>
          <a:xfrm>
            <a:off x="2567827" y="4320761"/>
            <a:ext cx="4501162" cy="461665"/>
          </a:xfrm>
          <a:prstGeom prst="rect">
            <a:avLst/>
          </a:prstGeom>
          <a:noFill/>
        </p:spPr>
        <p:txBody>
          <a:bodyPr wrap="square" rtlCol="0" anchor="ctr">
            <a:spAutoFit/>
          </a:bodyPr>
          <a:lstStyle/>
          <a:p>
            <a:pPr>
              <a:spcAft>
                <a:spcPts val="400"/>
              </a:spcAft>
              <a:buClrTx/>
              <a:defRPr/>
            </a:pPr>
            <a:r>
              <a:rPr lang="fr-FR" sz="1200" b="1" kern="1200" dirty="0">
                <a:solidFill>
                  <a:srgbClr val="D92424"/>
                </a:solidFill>
                <a:latin typeface="Marianne"/>
                <a:ea typeface="+mn-ea"/>
                <a:cs typeface="+mn-cs"/>
              </a:rPr>
              <a:t>QUELS LEVIERS SONT TRANSPOSABLES POUR LE CLUB « LES PIONNIERS » ? </a:t>
            </a:r>
          </a:p>
        </p:txBody>
      </p:sp>
    </p:spTree>
    <p:extLst>
      <p:ext uri="{BB962C8B-B14F-4D97-AF65-F5344CB8AC3E}">
        <p14:creationId xmlns:p14="http://schemas.microsoft.com/office/powerpoint/2010/main" val="4061731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re 51">
            <a:extLst>
              <a:ext uri="{FF2B5EF4-FFF2-40B4-BE49-F238E27FC236}">
                <a16:creationId xmlns:a16="http://schemas.microsoft.com/office/drawing/2014/main" id="{E63CE001-5AD7-3FB4-8645-EF2AB2B1882B}"/>
              </a:ext>
            </a:extLst>
          </p:cNvPr>
          <p:cNvSpPr>
            <a:spLocks noGrp="1"/>
          </p:cNvSpPr>
          <p:nvPr>
            <p:ph type="title"/>
          </p:nvPr>
        </p:nvSpPr>
        <p:spPr>
          <a:xfrm>
            <a:off x="1303800" y="-999300"/>
            <a:ext cx="7030500" cy="999300"/>
          </a:xfrm>
        </p:spPr>
        <p:txBody>
          <a:bodyPr spcFirstLastPara="1" wrap="square" lIns="91425" tIns="91425" rIns="91425" bIns="91425" anchor="b" anchorCtr="0">
            <a:normAutofit/>
          </a:bodyPr>
          <a:lstStyle/>
          <a:p>
            <a:r>
              <a:rPr lang="fr-FR" kern="1200" spc="-20" dirty="0">
                <a:solidFill>
                  <a:srgbClr val="002060"/>
                </a:solidFill>
              </a:rPr>
              <a:t>Structure générale de la base NBA</a:t>
            </a:r>
          </a:p>
        </p:txBody>
      </p:sp>
      <p:sp>
        <p:nvSpPr>
          <p:cNvPr id="50" name="Google Shape;283;p14">
            <a:extLst>
              <a:ext uri="{FF2B5EF4-FFF2-40B4-BE49-F238E27FC236}">
                <a16:creationId xmlns:a16="http://schemas.microsoft.com/office/drawing/2014/main" id="{BF9EF958-2CBD-8089-4BBC-8B58A9D40976}"/>
              </a:ext>
            </a:extLst>
          </p:cNvPr>
          <p:cNvSpPr txBox="1">
            <a:spLocks/>
          </p:cNvSpPr>
          <p:nvPr/>
        </p:nvSpPr>
        <p:spPr>
          <a:xfrm>
            <a:off x="1119600" y="252000"/>
            <a:ext cx="7030500" cy="5749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9pPr>
          </a:lstStyle>
          <a:p>
            <a:r>
              <a:rPr lang="fr-FR" sz="2000" kern="1200" spc="-20" dirty="0">
                <a:solidFill>
                  <a:srgbClr val="002060"/>
                </a:solidFill>
                <a:latin typeface="+mj-lt"/>
                <a:ea typeface="+mn-ea"/>
                <a:cs typeface="+mn-cs"/>
              </a:rPr>
              <a:t>Structure générale de la base NBA</a:t>
            </a:r>
          </a:p>
        </p:txBody>
      </p:sp>
      <p:sp>
        <p:nvSpPr>
          <p:cNvPr id="5" name="ZoneTexte 4">
            <a:extLst>
              <a:ext uri="{FF2B5EF4-FFF2-40B4-BE49-F238E27FC236}">
                <a16:creationId xmlns:a16="http://schemas.microsoft.com/office/drawing/2014/main" id="{1D19929D-2850-1507-CE88-049370D59BA1}"/>
              </a:ext>
            </a:extLst>
          </p:cNvPr>
          <p:cNvSpPr txBox="1"/>
          <p:nvPr/>
        </p:nvSpPr>
        <p:spPr>
          <a:xfrm>
            <a:off x="2517612" y="1431940"/>
            <a:ext cx="4378242" cy="2708434"/>
          </a:xfrm>
          <a:prstGeom prst="rect">
            <a:avLst/>
          </a:prstGeom>
          <a:noFill/>
        </p:spPr>
        <p:txBody>
          <a:bodyPr wrap="square">
            <a:spAutoFit/>
          </a:bodyPr>
          <a:lstStyle/>
          <a:p>
            <a:pPr marL="171450" indent="-171450">
              <a:spcAft>
                <a:spcPts val="900"/>
              </a:spcAft>
              <a:buClr>
                <a:srgbClr val="D96B00"/>
              </a:buClr>
              <a:buFont typeface="Symbol" panose="05050102010706020507" pitchFamily="18" charset="2"/>
              <a:buChar char="Þ"/>
              <a:defRPr/>
            </a:pPr>
            <a:r>
              <a:rPr lang="fr-FR" b="1" kern="1200" dirty="0">
                <a:solidFill>
                  <a:srgbClr val="293378"/>
                </a:solidFill>
                <a:latin typeface="Marianne Light"/>
                <a:ea typeface="+mn-ea"/>
                <a:cs typeface="+mn-cs"/>
              </a:rPr>
              <a:t> Le jeu de données couvre les résultats sportifs des 569 joueurs de la ligue NBA durant la saison complète 2024-2025.</a:t>
            </a:r>
          </a:p>
          <a:p>
            <a:pPr marL="171450" indent="-171450">
              <a:spcAft>
                <a:spcPts val="900"/>
              </a:spcAft>
              <a:buClr>
                <a:srgbClr val="D96B00"/>
              </a:buClr>
              <a:buFont typeface="Symbol" panose="05050102010706020507" pitchFamily="18" charset="2"/>
              <a:buChar char="Þ"/>
              <a:defRPr/>
            </a:pPr>
            <a:endParaRPr lang="fr-FR" b="1" kern="1200" dirty="0">
              <a:solidFill>
                <a:srgbClr val="293378"/>
              </a:solidFill>
              <a:latin typeface="Marianne Light"/>
              <a:ea typeface="+mn-ea"/>
              <a:cs typeface="+mn-cs"/>
            </a:endParaRPr>
          </a:p>
          <a:p>
            <a:pPr marL="171450" indent="-171450">
              <a:spcAft>
                <a:spcPts val="900"/>
              </a:spcAft>
              <a:buClr>
                <a:srgbClr val="D96B00"/>
              </a:buClr>
              <a:buFont typeface="Symbol" panose="05050102010706020507" pitchFamily="18" charset="2"/>
              <a:buChar char="Þ"/>
              <a:defRPr/>
            </a:pPr>
            <a:r>
              <a:rPr lang="fr-FR" b="1" kern="1200" dirty="0">
                <a:solidFill>
                  <a:srgbClr val="293378"/>
                </a:solidFill>
                <a:latin typeface="Marianne Light"/>
                <a:ea typeface="+mn-ea"/>
                <a:cs typeface="+mn-cs"/>
              </a:rPr>
              <a:t> Il reprend les 49 indicateurs statistiques traditionnelles et avancées permettant d’analyser le profil des joueurs.</a:t>
            </a:r>
          </a:p>
          <a:p>
            <a:pPr marL="171450" indent="-171450">
              <a:spcAft>
                <a:spcPts val="900"/>
              </a:spcAft>
              <a:buClr>
                <a:srgbClr val="D96B00"/>
              </a:buClr>
              <a:buFont typeface="Symbol" panose="05050102010706020507" pitchFamily="18" charset="2"/>
              <a:buChar char="Þ"/>
              <a:defRPr/>
            </a:pPr>
            <a:endParaRPr kumimoji="0" lang="fr-FR" b="0" i="0" u="none" strike="noStrike" kern="1200" cap="none" spc="0" normalizeH="0" baseline="0" noProof="0" dirty="0">
              <a:ln>
                <a:noFill/>
              </a:ln>
              <a:solidFill>
                <a:srgbClr val="293378"/>
              </a:solidFill>
              <a:effectLst/>
              <a:uLnTx/>
              <a:uFillTx/>
              <a:latin typeface="Marianne Light"/>
              <a:ea typeface="+mn-ea"/>
              <a:cs typeface="+mn-cs"/>
            </a:endParaRPr>
          </a:p>
          <a:p>
            <a:pPr marL="171450" indent="-171450">
              <a:spcAft>
                <a:spcPts val="900"/>
              </a:spcAft>
              <a:buClr>
                <a:srgbClr val="D96B00"/>
              </a:buClr>
              <a:buFont typeface="Symbol" panose="05050102010706020507" pitchFamily="18" charset="2"/>
              <a:buChar char="Þ"/>
              <a:defRPr/>
            </a:pPr>
            <a:r>
              <a:rPr lang="fr-FR" b="1" kern="1200" dirty="0">
                <a:solidFill>
                  <a:srgbClr val="293378"/>
                </a:solidFill>
                <a:latin typeface="Marianne Light"/>
                <a:ea typeface="+mn-ea"/>
                <a:cs typeface="+mn-cs"/>
              </a:rPr>
              <a:t> Il garantit une vision exhaustive et représentative de la saison régulière. </a:t>
            </a:r>
            <a:endParaRPr kumimoji="0" lang="fr-FR" b="0" i="0" u="none" strike="noStrike" kern="1200" cap="none" spc="0" normalizeH="0" baseline="0" noProof="0" dirty="0">
              <a:ln>
                <a:noFill/>
              </a:ln>
              <a:solidFill>
                <a:srgbClr val="293378"/>
              </a:solidFill>
              <a:effectLst/>
              <a:uLnTx/>
              <a:uFillTx/>
              <a:latin typeface="Marianne Light"/>
              <a:ea typeface="+mn-ea"/>
              <a:cs typeface="+mn-cs"/>
            </a:endParaRPr>
          </a:p>
        </p:txBody>
      </p:sp>
      <p:sp>
        <p:nvSpPr>
          <p:cNvPr id="4" name="Rectangle: Rounded Corners 4" descr="Présentation du jeu de données">
            <a:extLst>
              <a:ext uri="{FF2B5EF4-FFF2-40B4-BE49-F238E27FC236}">
                <a16:creationId xmlns:a16="http://schemas.microsoft.com/office/drawing/2014/main" id="{72BD0D94-FB58-7FF5-7D16-3697134A0069}"/>
              </a:ext>
              <a:ext uri="{C183D7F6-B498-43B3-948B-1728B52AA6E4}">
                <adec:decorative xmlns:adec="http://schemas.microsoft.com/office/drawing/2017/decorative" val="0"/>
              </a:ext>
            </a:extLst>
          </p:cNvPr>
          <p:cNvSpPr/>
          <p:nvPr/>
        </p:nvSpPr>
        <p:spPr>
          <a:xfrm flipH="1">
            <a:off x="1620000" y="1080000"/>
            <a:ext cx="5265627" cy="3409953"/>
          </a:xfrm>
          <a:prstGeom prst="roundRect">
            <a:avLst>
              <a:gd name="adj" fmla="val 5844"/>
            </a:avLst>
          </a:prstGeom>
          <a:noFill/>
          <a:ln w="19050">
            <a:solidFill>
              <a:schemeClr val="accent4">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400"/>
              </a:spcAft>
              <a:buClr>
                <a:srgbClr val="D92424"/>
              </a:buClr>
              <a:buSzTx/>
              <a:buFontTx/>
              <a:buNone/>
              <a:tabLst/>
              <a:defRPr/>
            </a:pPr>
            <a:endParaRPr kumimoji="0" lang="fr-FR" sz="1050" b="0" i="0" u="none" strike="noStrike" kern="1200" cap="none" spc="0" normalizeH="0" baseline="0" noProof="0">
              <a:ln>
                <a:noFill/>
              </a:ln>
              <a:solidFill>
                <a:srgbClr val="0D1440"/>
              </a:solidFill>
              <a:effectLst/>
              <a:uLnTx/>
              <a:uFillTx/>
              <a:latin typeface="Marianne"/>
              <a:ea typeface="+mn-ea"/>
              <a:cs typeface="+mn-cs"/>
            </a:endParaRPr>
          </a:p>
        </p:txBody>
      </p:sp>
      <p:grpSp>
        <p:nvGrpSpPr>
          <p:cNvPr id="9" name="Groupe 8" descr="logo effectif">
            <a:extLst>
              <a:ext uri="{FF2B5EF4-FFF2-40B4-BE49-F238E27FC236}">
                <a16:creationId xmlns:a16="http://schemas.microsoft.com/office/drawing/2014/main" id="{F781BBCA-4C7D-0D69-D1E4-EB3E3E5E462C}"/>
              </a:ext>
            </a:extLst>
          </p:cNvPr>
          <p:cNvGrpSpPr/>
          <p:nvPr/>
        </p:nvGrpSpPr>
        <p:grpSpPr>
          <a:xfrm>
            <a:off x="2105221" y="1466964"/>
            <a:ext cx="425162" cy="303657"/>
            <a:chOff x="8225395" y="3469550"/>
            <a:chExt cx="471108" cy="336472"/>
          </a:xfrm>
        </p:grpSpPr>
        <p:sp>
          <p:nvSpPr>
            <p:cNvPr id="42" name="Free-form: Shape 2342">
              <a:extLst>
                <a:ext uri="{FF2B5EF4-FFF2-40B4-BE49-F238E27FC236}">
                  <a16:creationId xmlns:a16="http://schemas.microsoft.com/office/drawing/2014/main" id="{785E7ADA-6686-2C80-6606-B312D41E015D}"/>
                </a:ext>
              </a:extLst>
            </p:cNvPr>
            <p:cNvSpPr/>
            <p:nvPr/>
          </p:nvSpPr>
          <p:spPr>
            <a:xfrm>
              <a:off x="8420385" y="3469550"/>
              <a:ext cx="82577" cy="82722"/>
            </a:xfrm>
            <a:custGeom>
              <a:avLst/>
              <a:gdLst>
                <a:gd name="connsiteX0" fmla="*/ 95960 w 182954"/>
                <a:gd name="connsiteY0" fmla="*/ 0 h 183276"/>
                <a:gd name="connsiteX1" fmla="*/ 172013 w 182954"/>
                <a:gd name="connsiteY1" fmla="*/ 48805 h 183276"/>
                <a:gd name="connsiteX2" fmla="*/ 182883 w 182954"/>
                <a:gd name="connsiteY2" fmla="*/ 95480 h 183276"/>
                <a:gd name="connsiteX3" fmla="*/ 41059 w 182954"/>
                <a:gd name="connsiteY3" fmla="*/ 168081 h 183276"/>
                <a:gd name="connsiteX4" fmla="*/ 15793 w 182954"/>
                <a:gd name="connsiteY4" fmla="*/ 40065 h 183276"/>
                <a:gd name="connsiteX5" fmla="*/ 86522 w 182954"/>
                <a:gd name="connsiteY5" fmla="*/ 0 h 183276"/>
                <a:gd name="connsiteX6" fmla="*/ 95960 w 182954"/>
                <a:gd name="connsiteY6" fmla="*/ 0 h 183276"/>
                <a:gd name="connsiteX7" fmla="*/ 157287 w 182954"/>
                <a:gd name="connsiteY7" fmla="*/ 91807 h 183276"/>
                <a:gd name="connsiteX8" fmla="*/ 91443 w 182954"/>
                <a:gd name="connsiteY8" fmla="*/ 25963 h 183276"/>
                <a:gd name="connsiteX9" fmla="*/ 25598 w 182954"/>
                <a:gd name="connsiteY9" fmla="*/ 91807 h 183276"/>
                <a:gd name="connsiteX10" fmla="*/ 91443 w 182954"/>
                <a:gd name="connsiteY10" fmla="*/ 157652 h 183276"/>
                <a:gd name="connsiteX11" fmla="*/ 157287 w 182954"/>
                <a:gd name="connsiteY11" fmla="*/ 91807 h 183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954" h="183276">
                  <a:moveTo>
                    <a:pt x="95960" y="0"/>
                  </a:moveTo>
                  <a:cubicBezTo>
                    <a:pt x="131680" y="4040"/>
                    <a:pt x="157030" y="20308"/>
                    <a:pt x="172013" y="48805"/>
                  </a:cubicBezTo>
                  <a:cubicBezTo>
                    <a:pt x="179897" y="63812"/>
                    <a:pt x="183518" y="79370"/>
                    <a:pt x="182883" y="95480"/>
                  </a:cubicBezTo>
                  <a:cubicBezTo>
                    <a:pt x="180092" y="167163"/>
                    <a:pt x="99816" y="206934"/>
                    <a:pt x="41059" y="168081"/>
                  </a:cubicBezTo>
                  <a:cubicBezTo>
                    <a:pt x="-1907" y="139694"/>
                    <a:pt x="-12557" y="83141"/>
                    <a:pt x="15793" y="40065"/>
                  </a:cubicBezTo>
                  <a:cubicBezTo>
                    <a:pt x="31463" y="16244"/>
                    <a:pt x="55039" y="2889"/>
                    <a:pt x="86522" y="0"/>
                  </a:cubicBezTo>
                  <a:lnTo>
                    <a:pt x="95960" y="0"/>
                  </a:lnTo>
                  <a:close/>
                  <a:moveTo>
                    <a:pt x="157287" y="91807"/>
                  </a:moveTo>
                  <a:cubicBezTo>
                    <a:pt x="157287" y="55442"/>
                    <a:pt x="127806" y="25963"/>
                    <a:pt x="91443" y="25963"/>
                  </a:cubicBezTo>
                  <a:cubicBezTo>
                    <a:pt x="55080" y="25963"/>
                    <a:pt x="25598" y="55442"/>
                    <a:pt x="25598" y="91807"/>
                  </a:cubicBezTo>
                  <a:cubicBezTo>
                    <a:pt x="25598" y="128172"/>
                    <a:pt x="55080" y="157652"/>
                    <a:pt x="91443" y="157652"/>
                  </a:cubicBezTo>
                  <a:cubicBezTo>
                    <a:pt x="127806" y="157652"/>
                    <a:pt x="157287" y="128172"/>
                    <a:pt x="157287" y="91807"/>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43" name="Free-form: Shape 2343">
              <a:extLst>
                <a:ext uri="{FF2B5EF4-FFF2-40B4-BE49-F238E27FC236}">
                  <a16:creationId xmlns:a16="http://schemas.microsoft.com/office/drawing/2014/main" id="{87BC1216-2C3F-6464-3BD8-FC2B9EACB761}"/>
                </a:ext>
              </a:extLst>
            </p:cNvPr>
            <p:cNvSpPr/>
            <p:nvPr/>
          </p:nvSpPr>
          <p:spPr>
            <a:xfrm>
              <a:off x="8347019" y="3496219"/>
              <a:ext cx="180957" cy="309803"/>
            </a:xfrm>
            <a:custGeom>
              <a:avLst/>
              <a:gdLst>
                <a:gd name="connsiteX0" fmla="*/ 300886 w 400922"/>
                <a:gd name="connsiteY0" fmla="*/ 686390 h 686389"/>
                <a:gd name="connsiteX1" fmla="*/ 292440 w 400922"/>
                <a:gd name="connsiteY1" fmla="*/ 686390 h 686389"/>
                <a:gd name="connsiteX2" fmla="*/ 264971 w 400922"/>
                <a:gd name="connsiteY2" fmla="*/ 678164 h 686389"/>
                <a:gd name="connsiteX3" fmla="*/ 255534 w 400922"/>
                <a:gd name="connsiteY3" fmla="*/ 671847 h 686389"/>
                <a:gd name="connsiteX4" fmla="*/ 252412 w 400922"/>
                <a:gd name="connsiteY4" fmla="*/ 672141 h 686389"/>
                <a:gd name="connsiteX5" fmla="*/ 216497 w 400922"/>
                <a:gd name="connsiteY5" fmla="*/ 686390 h 686389"/>
                <a:gd name="connsiteX6" fmla="*/ 208455 w 400922"/>
                <a:gd name="connsiteY6" fmla="*/ 686390 h 686389"/>
                <a:gd name="connsiteX7" fmla="*/ 155757 w 400922"/>
                <a:gd name="connsiteY7" fmla="*/ 648418 h 686389"/>
                <a:gd name="connsiteX8" fmla="*/ 150028 w 400922"/>
                <a:gd name="connsiteY8" fmla="*/ 596859 h 686389"/>
                <a:gd name="connsiteX9" fmla="*/ 150065 w 400922"/>
                <a:gd name="connsiteY9" fmla="*/ 265067 h 686389"/>
                <a:gd name="connsiteX10" fmla="*/ 148706 w 400922"/>
                <a:gd name="connsiteY10" fmla="*/ 262387 h 686389"/>
                <a:gd name="connsiteX11" fmla="*/ 73608 w 400922"/>
                <a:gd name="connsiteY11" fmla="*/ 192246 h 686389"/>
                <a:gd name="connsiteX12" fmla="*/ 8975 w 400922"/>
                <a:gd name="connsiteY12" fmla="*/ 84243 h 686389"/>
                <a:gd name="connsiteX13" fmla="*/ 235 w 400922"/>
                <a:gd name="connsiteY13" fmla="*/ 54828 h 686389"/>
                <a:gd name="connsiteX14" fmla="*/ 12978 w 400922"/>
                <a:gd name="connsiteY14" fmla="*/ 16710 h 686389"/>
                <a:gd name="connsiteX15" fmla="*/ 30091 w 400922"/>
                <a:gd name="connsiteY15" fmla="*/ 5546 h 686389"/>
                <a:gd name="connsiteX16" fmla="*/ 49407 w 400922"/>
                <a:gd name="connsiteY16" fmla="*/ 111 h 686389"/>
                <a:gd name="connsiteX17" fmla="*/ 93879 w 400922"/>
                <a:gd name="connsiteY17" fmla="*/ 19391 h 686389"/>
                <a:gd name="connsiteX18" fmla="*/ 115803 w 400922"/>
                <a:gd name="connsiteY18" fmla="*/ 51707 h 686389"/>
                <a:gd name="connsiteX19" fmla="*/ 179517 w 400922"/>
                <a:gd name="connsiteY19" fmla="*/ 122949 h 686389"/>
                <a:gd name="connsiteX20" fmla="*/ 225017 w 400922"/>
                <a:gd name="connsiteY20" fmla="*/ 149133 h 686389"/>
                <a:gd name="connsiteX21" fmla="*/ 238568 w 400922"/>
                <a:gd name="connsiteY21" fmla="*/ 158130 h 686389"/>
                <a:gd name="connsiteX22" fmla="*/ 258398 w 400922"/>
                <a:gd name="connsiteY22" fmla="*/ 178364 h 686389"/>
                <a:gd name="connsiteX23" fmla="*/ 260932 w 400922"/>
                <a:gd name="connsiteY23" fmla="*/ 178328 h 686389"/>
                <a:gd name="connsiteX24" fmla="*/ 280248 w 400922"/>
                <a:gd name="connsiteY24" fmla="*/ 157285 h 686389"/>
                <a:gd name="connsiteX25" fmla="*/ 294313 w 400922"/>
                <a:gd name="connsiteY25" fmla="*/ 149243 h 686389"/>
                <a:gd name="connsiteX26" fmla="*/ 338638 w 400922"/>
                <a:gd name="connsiteY26" fmla="*/ 157359 h 686389"/>
                <a:gd name="connsiteX27" fmla="*/ 393796 w 400922"/>
                <a:gd name="connsiteY27" fmla="*/ 216005 h 686389"/>
                <a:gd name="connsiteX28" fmla="*/ 400773 w 400922"/>
                <a:gd name="connsiteY28" fmla="*/ 263268 h 686389"/>
                <a:gd name="connsiteX29" fmla="*/ 400846 w 400922"/>
                <a:gd name="connsiteY29" fmla="*/ 375787 h 686389"/>
                <a:gd name="connsiteX30" fmla="*/ 396623 w 400922"/>
                <a:gd name="connsiteY30" fmla="*/ 414126 h 686389"/>
                <a:gd name="connsiteX31" fmla="*/ 369558 w 400922"/>
                <a:gd name="connsiteY31" fmla="*/ 444496 h 686389"/>
                <a:gd name="connsiteX32" fmla="*/ 360047 w 400922"/>
                <a:gd name="connsiteY32" fmla="*/ 448278 h 686389"/>
                <a:gd name="connsiteX33" fmla="*/ 358505 w 400922"/>
                <a:gd name="connsiteY33" fmla="*/ 451216 h 686389"/>
                <a:gd name="connsiteX34" fmla="*/ 358799 w 400922"/>
                <a:gd name="connsiteY34" fmla="*/ 591424 h 686389"/>
                <a:gd name="connsiteX35" fmla="*/ 353070 w 400922"/>
                <a:gd name="connsiteY35" fmla="*/ 648418 h 686389"/>
                <a:gd name="connsiteX36" fmla="*/ 300886 w 400922"/>
                <a:gd name="connsiteY36" fmla="*/ 686390 h 686389"/>
                <a:gd name="connsiteX37" fmla="*/ 250356 w 400922"/>
                <a:gd name="connsiteY37" fmla="*/ 639531 h 686389"/>
                <a:gd name="connsiteX38" fmla="*/ 261740 w 400922"/>
                <a:gd name="connsiteY38" fmla="*/ 641367 h 686389"/>
                <a:gd name="connsiteX39" fmla="*/ 272206 w 400922"/>
                <a:gd name="connsiteY39" fmla="*/ 652017 h 686389"/>
                <a:gd name="connsiteX40" fmla="*/ 311095 w 400922"/>
                <a:gd name="connsiteY40" fmla="*/ 657232 h 686389"/>
                <a:gd name="connsiteX41" fmla="*/ 329383 w 400922"/>
                <a:gd name="connsiteY41" fmla="*/ 638907 h 686389"/>
                <a:gd name="connsiteX42" fmla="*/ 332725 w 400922"/>
                <a:gd name="connsiteY42" fmla="*/ 614853 h 686389"/>
                <a:gd name="connsiteX43" fmla="*/ 332725 w 400922"/>
                <a:gd name="connsiteY43" fmla="*/ 442182 h 686389"/>
                <a:gd name="connsiteX44" fmla="*/ 347598 w 400922"/>
                <a:gd name="connsiteY44" fmla="*/ 424739 h 686389"/>
                <a:gd name="connsiteX45" fmla="*/ 372056 w 400922"/>
                <a:gd name="connsiteY45" fmla="*/ 406377 h 686389"/>
                <a:gd name="connsiteX46" fmla="*/ 375287 w 400922"/>
                <a:gd name="connsiteY46" fmla="*/ 378541 h 686389"/>
                <a:gd name="connsiteX47" fmla="*/ 375140 w 400922"/>
                <a:gd name="connsiteY47" fmla="*/ 266867 h 686389"/>
                <a:gd name="connsiteX48" fmla="*/ 332872 w 400922"/>
                <a:gd name="connsiteY48" fmla="*/ 182661 h 686389"/>
                <a:gd name="connsiteX49" fmla="*/ 300776 w 400922"/>
                <a:gd name="connsiteY49" fmla="*/ 175537 h 686389"/>
                <a:gd name="connsiteX50" fmla="*/ 296480 w 400922"/>
                <a:gd name="connsiteY50" fmla="*/ 177373 h 686389"/>
                <a:gd name="connsiteX51" fmla="*/ 270002 w 400922"/>
                <a:gd name="connsiteY51" fmla="*/ 206861 h 686389"/>
                <a:gd name="connsiteX52" fmla="*/ 251307 w 400922"/>
                <a:gd name="connsiteY52" fmla="*/ 207825 h 686389"/>
                <a:gd name="connsiteX53" fmla="*/ 250649 w 400922"/>
                <a:gd name="connsiteY53" fmla="*/ 207192 h 686389"/>
                <a:gd name="connsiteX54" fmla="*/ 222263 w 400922"/>
                <a:gd name="connsiteY54" fmla="*/ 178291 h 686389"/>
                <a:gd name="connsiteX55" fmla="*/ 212972 w 400922"/>
                <a:gd name="connsiteY55" fmla="*/ 172232 h 686389"/>
                <a:gd name="connsiteX56" fmla="*/ 168757 w 400922"/>
                <a:gd name="connsiteY56" fmla="*/ 146819 h 686389"/>
                <a:gd name="connsiteX57" fmla="*/ 92080 w 400922"/>
                <a:gd name="connsiteY57" fmla="*/ 62614 h 686389"/>
                <a:gd name="connsiteX58" fmla="*/ 75371 w 400922"/>
                <a:gd name="connsiteY58" fmla="*/ 37422 h 686389"/>
                <a:gd name="connsiteX59" fmla="*/ 41989 w 400922"/>
                <a:gd name="connsiteY59" fmla="*/ 28278 h 686389"/>
                <a:gd name="connsiteX60" fmla="*/ 29026 w 400922"/>
                <a:gd name="connsiteY60" fmla="*/ 65551 h 686389"/>
                <a:gd name="connsiteX61" fmla="*/ 50619 w 400922"/>
                <a:gd name="connsiteY61" fmla="*/ 111529 h 686389"/>
                <a:gd name="connsiteX62" fmla="*/ 170740 w 400922"/>
                <a:gd name="connsiteY62" fmla="*/ 246412 h 686389"/>
                <a:gd name="connsiteX63" fmla="*/ 175845 w 400922"/>
                <a:gd name="connsiteY63" fmla="*/ 258567 h 686389"/>
                <a:gd name="connsiteX64" fmla="*/ 175845 w 400922"/>
                <a:gd name="connsiteY64" fmla="*/ 601854 h 686389"/>
                <a:gd name="connsiteX65" fmla="*/ 176616 w 400922"/>
                <a:gd name="connsiteY65" fmla="*/ 629873 h 686389"/>
                <a:gd name="connsiteX66" fmla="*/ 192554 w 400922"/>
                <a:gd name="connsiteY66" fmla="*/ 653927 h 686389"/>
                <a:gd name="connsiteX67" fmla="*/ 235483 w 400922"/>
                <a:gd name="connsiteY67" fmla="*/ 652825 h 686389"/>
                <a:gd name="connsiteX68" fmla="*/ 242534 w 400922"/>
                <a:gd name="connsiteY68" fmla="*/ 645848 h 686389"/>
                <a:gd name="connsiteX69" fmla="*/ 250356 w 400922"/>
                <a:gd name="connsiteY69" fmla="*/ 639531 h 68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0922" h="686389">
                  <a:moveTo>
                    <a:pt x="300886" y="686390"/>
                  </a:moveTo>
                  <a:lnTo>
                    <a:pt x="292440" y="686390"/>
                  </a:lnTo>
                  <a:cubicBezTo>
                    <a:pt x="278313" y="684700"/>
                    <a:pt x="269158" y="681957"/>
                    <a:pt x="264971" y="678164"/>
                  </a:cubicBezTo>
                  <a:cubicBezTo>
                    <a:pt x="262254" y="675692"/>
                    <a:pt x="259107" y="673584"/>
                    <a:pt x="255534" y="671847"/>
                  </a:cubicBezTo>
                  <a:cubicBezTo>
                    <a:pt x="254432" y="671308"/>
                    <a:pt x="253393" y="671407"/>
                    <a:pt x="252412" y="672141"/>
                  </a:cubicBezTo>
                  <a:cubicBezTo>
                    <a:pt x="241788" y="680220"/>
                    <a:pt x="229816" y="684969"/>
                    <a:pt x="216497" y="686390"/>
                  </a:cubicBezTo>
                  <a:lnTo>
                    <a:pt x="208455" y="686390"/>
                  </a:lnTo>
                  <a:cubicBezTo>
                    <a:pt x="181915" y="682031"/>
                    <a:pt x="164350" y="669376"/>
                    <a:pt x="155757" y="648418"/>
                  </a:cubicBezTo>
                  <a:cubicBezTo>
                    <a:pt x="151938" y="639065"/>
                    <a:pt x="150028" y="621879"/>
                    <a:pt x="150028" y="596859"/>
                  </a:cubicBezTo>
                  <a:cubicBezTo>
                    <a:pt x="150150" y="486250"/>
                    <a:pt x="150164" y="375651"/>
                    <a:pt x="150065" y="265067"/>
                  </a:cubicBezTo>
                  <a:cubicBezTo>
                    <a:pt x="150061" y="264003"/>
                    <a:pt x="149558" y="263008"/>
                    <a:pt x="148706" y="262387"/>
                  </a:cubicBezTo>
                  <a:cubicBezTo>
                    <a:pt x="120698" y="242360"/>
                    <a:pt x="95666" y="218980"/>
                    <a:pt x="73608" y="192246"/>
                  </a:cubicBezTo>
                  <a:cubicBezTo>
                    <a:pt x="48073" y="161300"/>
                    <a:pt x="26529" y="125300"/>
                    <a:pt x="8975" y="84243"/>
                  </a:cubicBezTo>
                  <a:cubicBezTo>
                    <a:pt x="3761" y="72100"/>
                    <a:pt x="848" y="62295"/>
                    <a:pt x="235" y="54828"/>
                  </a:cubicBezTo>
                  <a:cubicBezTo>
                    <a:pt x="-1087" y="38866"/>
                    <a:pt x="3161" y="26160"/>
                    <a:pt x="12978" y="16710"/>
                  </a:cubicBezTo>
                  <a:cubicBezTo>
                    <a:pt x="16602" y="13233"/>
                    <a:pt x="22306" y="9512"/>
                    <a:pt x="30091" y="5546"/>
                  </a:cubicBezTo>
                  <a:cubicBezTo>
                    <a:pt x="36383" y="2339"/>
                    <a:pt x="42822" y="527"/>
                    <a:pt x="49407" y="111"/>
                  </a:cubicBezTo>
                  <a:cubicBezTo>
                    <a:pt x="66569" y="-942"/>
                    <a:pt x="81393" y="5485"/>
                    <a:pt x="93879" y="19391"/>
                  </a:cubicBezTo>
                  <a:cubicBezTo>
                    <a:pt x="97526" y="23430"/>
                    <a:pt x="104833" y="34202"/>
                    <a:pt x="115803" y="51707"/>
                  </a:cubicBezTo>
                  <a:cubicBezTo>
                    <a:pt x="132376" y="78221"/>
                    <a:pt x="153616" y="101969"/>
                    <a:pt x="179517" y="122949"/>
                  </a:cubicBezTo>
                  <a:cubicBezTo>
                    <a:pt x="192858" y="133771"/>
                    <a:pt x="208025" y="142498"/>
                    <a:pt x="225017" y="149133"/>
                  </a:cubicBezTo>
                  <a:cubicBezTo>
                    <a:pt x="230011" y="151067"/>
                    <a:pt x="234528" y="154066"/>
                    <a:pt x="238568" y="158130"/>
                  </a:cubicBezTo>
                  <a:cubicBezTo>
                    <a:pt x="241799" y="161411"/>
                    <a:pt x="248409" y="168155"/>
                    <a:pt x="258398" y="178364"/>
                  </a:cubicBezTo>
                  <a:cubicBezTo>
                    <a:pt x="259254" y="179246"/>
                    <a:pt x="260098" y="179234"/>
                    <a:pt x="260932" y="178328"/>
                  </a:cubicBezTo>
                  <a:cubicBezTo>
                    <a:pt x="261692" y="177544"/>
                    <a:pt x="268130" y="170530"/>
                    <a:pt x="280248" y="157285"/>
                  </a:cubicBezTo>
                  <a:cubicBezTo>
                    <a:pt x="285242" y="151850"/>
                    <a:pt x="289932" y="149170"/>
                    <a:pt x="294313" y="149243"/>
                  </a:cubicBezTo>
                  <a:cubicBezTo>
                    <a:pt x="310203" y="149561"/>
                    <a:pt x="324977" y="152266"/>
                    <a:pt x="338638" y="157359"/>
                  </a:cubicBezTo>
                  <a:cubicBezTo>
                    <a:pt x="366352" y="167666"/>
                    <a:pt x="384736" y="187215"/>
                    <a:pt x="393796" y="216005"/>
                  </a:cubicBezTo>
                  <a:cubicBezTo>
                    <a:pt x="398375" y="230572"/>
                    <a:pt x="400699" y="246326"/>
                    <a:pt x="400773" y="263268"/>
                  </a:cubicBezTo>
                  <a:cubicBezTo>
                    <a:pt x="400946" y="316395"/>
                    <a:pt x="400968" y="353900"/>
                    <a:pt x="400846" y="375787"/>
                  </a:cubicBezTo>
                  <a:cubicBezTo>
                    <a:pt x="400747" y="394049"/>
                    <a:pt x="399341" y="406829"/>
                    <a:pt x="396623" y="414126"/>
                  </a:cubicBezTo>
                  <a:cubicBezTo>
                    <a:pt x="391728" y="427151"/>
                    <a:pt x="382705" y="437272"/>
                    <a:pt x="369558" y="444496"/>
                  </a:cubicBezTo>
                  <a:cubicBezTo>
                    <a:pt x="367318" y="445708"/>
                    <a:pt x="362801" y="446332"/>
                    <a:pt x="360047" y="448278"/>
                  </a:cubicBezTo>
                  <a:cubicBezTo>
                    <a:pt x="359019" y="448987"/>
                    <a:pt x="358505" y="449967"/>
                    <a:pt x="358505" y="451216"/>
                  </a:cubicBezTo>
                  <a:cubicBezTo>
                    <a:pt x="358310" y="503241"/>
                    <a:pt x="358406" y="549975"/>
                    <a:pt x="358799" y="591424"/>
                  </a:cubicBezTo>
                  <a:cubicBezTo>
                    <a:pt x="359067" y="619286"/>
                    <a:pt x="357157" y="638283"/>
                    <a:pt x="353070" y="648418"/>
                  </a:cubicBezTo>
                  <a:cubicBezTo>
                    <a:pt x="344745" y="669031"/>
                    <a:pt x="327353" y="681689"/>
                    <a:pt x="300886" y="686390"/>
                  </a:cubicBezTo>
                  <a:close/>
                  <a:moveTo>
                    <a:pt x="250356" y="639531"/>
                  </a:moveTo>
                  <a:cubicBezTo>
                    <a:pt x="256037" y="638698"/>
                    <a:pt x="259830" y="639311"/>
                    <a:pt x="261740" y="641367"/>
                  </a:cubicBezTo>
                  <a:cubicBezTo>
                    <a:pt x="267028" y="647170"/>
                    <a:pt x="270517" y="650721"/>
                    <a:pt x="272206" y="652017"/>
                  </a:cubicBezTo>
                  <a:cubicBezTo>
                    <a:pt x="284299" y="661319"/>
                    <a:pt x="297262" y="663060"/>
                    <a:pt x="311095" y="657232"/>
                  </a:cubicBezTo>
                  <a:cubicBezTo>
                    <a:pt x="319468" y="653681"/>
                    <a:pt x="325564" y="647574"/>
                    <a:pt x="329383" y="638907"/>
                  </a:cubicBezTo>
                  <a:cubicBezTo>
                    <a:pt x="331587" y="633865"/>
                    <a:pt x="332700" y="625845"/>
                    <a:pt x="332725" y="614853"/>
                  </a:cubicBezTo>
                  <a:cubicBezTo>
                    <a:pt x="332751" y="557224"/>
                    <a:pt x="332751" y="499665"/>
                    <a:pt x="332725" y="442182"/>
                  </a:cubicBezTo>
                  <a:cubicBezTo>
                    <a:pt x="332725" y="430578"/>
                    <a:pt x="336140" y="426758"/>
                    <a:pt x="347598" y="424739"/>
                  </a:cubicBezTo>
                  <a:cubicBezTo>
                    <a:pt x="359764" y="422583"/>
                    <a:pt x="367917" y="416465"/>
                    <a:pt x="372056" y="406377"/>
                  </a:cubicBezTo>
                  <a:cubicBezTo>
                    <a:pt x="374185" y="401236"/>
                    <a:pt x="375261" y="391956"/>
                    <a:pt x="375287" y="378541"/>
                  </a:cubicBezTo>
                  <a:cubicBezTo>
                    <a:pt x="375361" y="340177"/>
                    <a:pt x="375313" y="302953"/>
                    <a:pt x="375140" y="266867"/>
                  </a:cubicBezTo>
                  <a:cubicBezTo>
                    <a:pt x="374957" y="232090"/>
                    <a:pt x="367832" y="197350"/>
                    <a:pt x="332872" y="182661"/>
                  </a:cubicBezTo>
                  <a:cubicBezTo>
                    <a:pt x="322123" y="178156"/>
                    <a:pt x="311426" y="175782"/>
                    <a:pt x="300776" y="175537"/>
                  </a:cubicBezTo>
                  <a:cubicBezTo>
                    <a:pt x="299146" y="175491"/>
                    <a:pt x="297574" y="176162"/>
                    <a:pt x="296480" y="177373"/>
                  </a:cubicBezTo>
                  <a:lnTo>
                    <a:pt x="270002" y="206861"/>
                  </a:lnTo>
                  <a:cubicBezTo>
                    <a:pt x="265122" y="212291"/>
                    <a:pt x="256749" y="212722"/>
                    <a:pt x="251307" y="207825"/>
                  </a:cubicBezTo>
                  <a:cubicBezTo>
                    <a:pt x="251079" y="207622"/>
                    <a:pt x="250862" y="207410"/>
                    <a:pt x="250649" y="207192"/>
                  </a:cubicBezTo>
                  <a:cubicBezTo>
                    <a:pt x="234223" y="190201"/>
                    <a:pt x="224760" y="180568"/>
                    <a:pt x="222263" y="178291"/>
                  </a:cubicBezTo>
                  <a:cubicBezTo>
                    <a:pt x="219251" y="175525"/>
                    <a:pt x="216155" y="173505"/>
                    <a:pt x="212972" y="172232"/>
                  </a:cubicBezTo>
                  <a:cubicBezTo>
                    <a:pt x="197401" y="165891"/>
                    <a:pt x="182664" y="157420"/>
                    <a:pt x="168757" y="146819"/>
                  </a:cubicBezTo>
                  <a:cubicBezTo>
                    <a:pt x="137348" y="122876"/>
                    <a:pt x="111789" y="94808"/>
                    <a:pt x="92080" y="62614"/>
                  </a:cubicBezTo>
                  <a:cubicBezTo>
                    <a:pt x="84441" y="50128"/>
                    <a:pt x="78871" y="41730"/>
                    <a:pt x="75371" y="37422"/>
                  </a:cubicBezTo>
                  <a:cubicBezTo>
                    <a:pt x="65994" y="25866"/>
                    <a:pt x="54867" y="22818"/>
                    <a:pt x="41989" y="28278"/>
                  </a:cubicBezTo>
                  <a:cubicBezTo>
                    <a:pt x="25782" y="35157"/>
                    <a:pt x="21461" y="47582"/>
                    <a:pt x="29026" y="65551"/>
                  </a:cubicBezTo>
                  <a:cubicBezTo>
                    <a:pt x="36052" y="82273"/>
                    <a:pt x="43250" y="97598"/>
                    <a:pt x="50619" y="111529"/>
                  </a:cubicBezTo>
                  <a:cubicBezTo>
                    <a:pt x="79802" y="166564"/>
                    <a:pt x="119842" y="211525"/>
                    <a:pt x="170740" y="246412"/>
                  </a:cubicBezTo>
                  <a:cubicBezTo>
                    <a:pt x="174144" y="248738"/>
                    <a:pt x="175845" y="252790"/>
                    <a:pt x="175845" y="258567"/>
                  </a:cubicBezTo>
                  <a:cubicBezTo>
                    <a:pt x="175797" y="329982"/>
                    <a:pt x="175797" y="444411"/>
                    <a:pt x="175845" y="601854"/>
                  </a:cubicBezTo>
                  <a:cubicBezTo>
                    <a:pt x="175845" y="617597"/>
                    <a:pt x="176102" y="626935"/>
                    <a:pt x="176616" y="629873"/>
                  </a:cubicBezTo>
                  <a:cubicBezTo>
                    <a:pt x="178232" y="639542"/>
                    <a:pt x="183545" y="647563"/>
                    <a:pt x="192554" y="653927"/>
                  </a:cubicBezTo>
                  <a:cubicBezTo>
                    <a:pt x="205627" y="663155"/>
                    <a:pt x="219938" y="662788"/>
                    <a:pt x="235483" y="652825"/>
                  </a:cubicBezTo>
                  <a:cubicBezTo>
                    <a:pt x="237686" y="651430"/>
                    <a:pt x="240036" y="649105"/>
                    <a:pt x="242534" y="645848"/>
                  </a:cubicBezTo>
                  <a:cubicBezTo>
                    <a:pt x="245545" y="641955"/>
                    <a:pt x="248152" y="639851"/>
                    <a:pt x="250356" y="639531"/>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44" name="Free-form: Shape 2344">
              <a:extLst>
                <a:ext uri="{FF2B5EF4-FFF2-40B4-BE49-F238E27FC236}">
                  <a16:creationId xmlns:a16="http://schemas.microsoft.com/office/drawing/2014/main" id="{C27B36C8-DF43-D488-90C9-129FA95AD388}"/>
                </a:ext>
              </a:extLst>
            </p:cNvPr>
            <p:cNvSpPr/>
            <p:nvPr/>
          </p:nvSpPr>
          <p:spPr>
            <a:xfrm>
              <a:off x="8287579" y="3501424"/>
              <a:ext cx="63762" cy="72339"/>
            </a:xfrm>
            <a:custGeom>
              <a:avLst/>
              <a:gdLst>
                <a:gd name="connsiteX0" fmla="*/ 27781 w 141268"/>
                <a:gd name="connsiteY0" fmla="*/ 94451 h 160272"/>
                <a:gd name="connsiteX1" fmla="*/ 49484 w 141268"/>
                <a:gd name="connsiteY1" fmla="*/ 124894 h 160272"/>
                <a:gd name="connsiteX2" fmla="*/ 120800 w 141268"/>
                <a:gd name="connsiteY2" fmla="*/ 115566 h 160272"/>
                <a:gd name="connsiteX3" fmla="*/ 123518 w 141268"/>
                <a:gd name="connsiteY3" fmla="*/ 115346 h 160272"/>
                <a:gd name="connsiteX4" fmla="*/ 140520 w 141268"/>
                <a:gd name="connsiteY4" fmla="*/ 127832 h 160272"/>
                <a:gd name="connsiteX5" fmla="*/ 140911 w 141268"/>
                <a:gd name="connsiteY5" fmla="*/ 130399 h 160272"/>
                <a:gd name="connsiteX6" fmla="*/ 140851 w 141268"/>
                <a:gd name="connsiteY6" fmla="*/ 130476 h 160272"/>
                <a:gd name="connsiteX7" fmla="*/ 3176 w 141268"/>
                <a:gd name="connsiteY7" fmla="*/ 101355 h 160272"/>
                <a:gd name="connsiteX8" fmla="*/ 105670 w 141268"/>
                <a:gd name="connsiteY8" fmla="*/ 4920 h 160272"/>
                <a:gd name="connsiteX9" fmla="*/ 106805 w 141268"/>
                <a:gd name="connsiteY9" fmla="*/ 7256 h 160272"/>
                <a:gd name="connsiteX10" fmla="*/ 106772 w 141268"/>
                <a:gd name="connsiteY10" fmla="*/ 7344 h 160272"/>
                <a:gd name="connsiteX11" fmla="*/ 98730 w 141268"/>
                <a:gd name="connsiteY11" fmla="*/ 26844 h 160272"/>
                <a:gd name="connsiteX12" fmla="*/ 96269 w 141268"/>
                <a:gd name="connsiteY12" fmla="*/ 28092 h 160272"/>
                <a:gd name="connsiteX13" fmla="*/ 30535 w 141268"/>
                <a:gd name="connsiteY13" fmla="*/ 57177 h 160272"/>
                <a:gd name="connsiteX14" fmla="*/ 27781 w 141268"/>
                <a:gd name="connsiteY14" fmla="*/ 94451 h 16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1268" h="160272">
                  <a:moveTo>
                    <a:pt x="27781" y="94451"/>
                  </a:moveTo>
                  <a:cubicBezTo>
                    <a:pt x="31526" y="107744"/>
                    <a:pt x="38761" y="117892"/>
                    <a:pt x="49484" y="124894"/>
                  </a:cubicBezTo>
                  <a:cubicBezTo>
                    <a:pt x="74309" y="141052"/>
                    <a:pt x="98081" y="137943"/>
                    <a:pt x="120800" y="115566"/>
                  </a:cubicBezTo>
                  <a:cubicBezTo>
                    <a:pt x="121633" y="114734"/>
                    <a:pt x="122538" y="114661"/>
                    <a:pt x="123518" y="115346"/>
                  </a:cubicBezTo>
                  <a:lnTo>
                    <a:pt x="140520" y="127832"/>
                  </a:lnTo>
                  <a:cubicBezTo>
                    <a:pt x="141337" y="128433"/>
                    <a:pt x="141512" y="129583"/>
                    <a:pt x="140911" y="130399"/>
                  </a:cubicBezTo>
                  <a:cubicBezTo>
                    <a:pt x="140891" y="130425"/>
                    <a:pt x="140871" y="130451"/>
                    <a:pt x="140851" y="130476"/>
                  </a:cubicBezTo>
                  <a:cubicBezTo>
                    <a:pt x="99831" y="181190"/>
                    <a:pt x="20840" y="164335"/>
                    <a:pt x="3176" y="101355"/>
                  </a:cubicBezTo>
                  <a:cubicBezTo>
                    <a:pt x="-14451" y="38375"/>
                    <a:pt x="44269" y="-17114"/>
                    <a:pt x="105670" y="4920"/>
                  </a:cubicBezTo>
                  <a:cubicBezTo>
                    <a:pt x="106629" y="5252"/>
                    <a:pt x="107137" y="6298"/>
                    <a:pt x="106805" y="7256"/>
                  </a:cubicBezTo>
                  <a:cubicBezTo>
                    <a:pt x="106795" y="7286"/>
                    <a:pt x="106784" y="7315"/>
                    <a:pt x="106772" y="7344"/>
                  </a:cubicBezTo>
                  <a:lnTo>
                    <a:pt x="98730" y="26844"/>
                  </a:lnTo>
                  <a:cubicBezTo>
                    <a:pt x="98240" y="27945"/>
                    <a:pt x="97420" y="28362"/>
                    <a:pt x="96269" y="28092"/>
                  </a:cubicBezTo>
                  <a:cubicBezTo>
                    <a:pt x="65250" y="20772"/>
                    <a:pt x="43339" y="30467"/>
                    <a:pt x="30535" y="57177"/>
                  </a:cubicBezTo>
                  <a:cubicBezTo>
                    <a:pt x="24978" y="68733"/>
                    <a:pt x="24060" y="81157"/>
                    <a:pt x="27781" y="94451"/>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45" name="Free-form: Shape 2345">
              <a:extLst>
                <a:ext uri="{FF2B5EF4-FFF2-40B4-BE49-F238E27FC236}">
                  <a16:creationId xmlns:a16="http://schemas.microsoft.com/office/drawing/2014/main" id="{BDD0F984-80B2-862C-F8C7-764395D43B7C}"/>
                </a:ext>
              </a:extLst>
            </p:cNvPr>
            <p:cNvSpPr/>
            <p:nvPr/>
          </p:nvSpPr>
          <p:spPr>
            <a:xfrm>
              <a:off x="8561207" y="3501142"/>
              <a:ext cx="74388" cy="72731"/>
            </a:xfrm>
            <a:custGeom>
              <a:avLst/>
              <a:gdLst>
                <a:gd name="connsiteX0" fmla="*/ 164813 w 164812"/>
                <a:gd name="connsiteY0" fmla="*/ 80570 h 161140"/>
                <a:gd name="connsiteX1" fmla="*/ 82406 w 164812"/>
                <a:gd name="connsiteY1" fmla="*/ 161140 h 161140"/>
                <a:gd name="connsiteX2" fmla="*/ 0 w 164812"/>
                <a:gd name="connsiteY2" fmla="*/ 80570 h 161140"/>
                <a:gd name="connsiteX3" fmla="*/ 82406 w 164812"/>
                <a:gd name="connsiteY3" fmla="*/ 0 h 161140"/>
                <a:gd name="connsiteX4" fmla="*/ 164813 w 164812"/>
                <a:gd name="connsiteY4" fmla="*/ 80570 h 161140"/>
                <a:gd name="connsiteX5" fmla="*/ 139180 w 164812"/>
                <a:gd name="connsiteY5" fmla="*/ 80669 h 161140"/>
                <a:gd name="connsiteX6" fmla="*/ 82502 w 164812"/>
                <a:gd name="connsiteY6" fmla="*/ 25706 h 161140"/>
                <a:gd name="connsiteX7" fmla="*/ 25633 w 164812"/>
                <a:gd name="connsiteY7" fmla="*/ 80471 h 161140"/>
                <a:gd name="connsiteX8" fmla="*/ 82311 w 164812"/>
                <a:gd name="connsiteY8" fmla="*/ 135434 h 161140"/>
                <a:gd name="connsiteX9" fmla="*/ 139180 w 164812"/>
                <a:gd name="connsiteY9" fmla="*/ 80669 h 16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812" h="161140">
                  <a:moveTo>
                    <a:pt x="164813" y="80570"/>
                  </a:moveTo>
                  <a:cubicBezTo>
                    <a:pt x="164813" y="125068"/>
                    <a:pt x="127917" y="161140"/>
                    <a:pt x="82406" y="161140"/>
                  </a:cubicBezTo>
                  <a:cubicBezTo>
                    <a:pt x="36896" y="161140"/>
                    <a:pt x="0" y="125068"/>
                    <a:pt x="0" y="80570"/>
                  </a:cubicBezTo>
                  <a:cubicBezTo>
                    <a:pt x="0" y="36073"/>
                    <a:pt x="36896" y="0"/>
                    <a:pt x="82406" y="0"/>
                  </a:cubicBezTo>
                  <a:cubicBezTo>
                    <a:pt x="127917" y="0"/>
                    <a:pt x="164813" y="36073"/>
                    <a:pt x="164813" y="80570"/>
                  </a:cubicBezTo>
                  <a:close/>
                  <a:moveTo>
                    <a:pt x="139180" y="80669"/>
                  </a:moveTo>
                  <a:cubicBezTo>
                    <a:pt x="139232" y="50369"/>
                    <a:pt x="113856" y="25761"/>
                    <a:pt x="82502" y="25706"/>
                  </a:cubicBezTo>
                  <a:cubicBezTo>
                    <a:pt x="51148" y="25651"/>
                    <a:pt x="25684" y="50170"/>
                    <a:pt x="25633" y="80471"/>
                  </a:cubicBezTo>
                  <a:cubicBezTo>
                    <a:pt x="25581" y="110771"/>
                    <a:pt x="50957" y="135379"/>
                    <a:pt x="82311" y="135434"/>
                  </a:cubicBezTo>
                  <a:cubicBezTo>
                    <a:pt x="113665" y="135489"/>
                    <a:pt x="139129" y="110970"/>
                    <a:pt x="139180" y="80669"/>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46" name="Free-form: Shape 2346">
              <a:extLst>
                <a:ext uri="{FF2B5EF4-FFF2-40B4-BE49-F238E27FC236}">
                  <a16:creationId xmlns:a16="http://schemas.microsoft.com/office/drawing/2014/main" id="{7CAE227E-CD0B-708D-E3FA-A763C418CEF2}"/>
                </a:ext>
              </a:extLst>
            </p:cNvPr>
            <p:cNvSpPr/>
            <p:nvPr/>
          </p:nvSpPr>
          <p:spPr>
            <a:xfrm>
              <a:off x="8225395" y="3526101"/>
              <a:ext cx="154846" cy="268239"/>
            </a:xfrm>
            <a:custGeom>
              <a:avLst/>
              <a:gdLst>
                <a:gd name="connsiteX0" fmla="*/ 221446 w 343072"/>
                <a:gd name="connsiteY0" fmla="*/ 151049 h 594301"/>
                <a:gd name="connsiteX1" fmla="*/ 236649 w 343072"/>
                <a:gd name="connsiteY1" fmla="*/ 134927 h 594301"/>
                <a:gd name="connsiteX2" fmla="*/ 254460 w 343072"/>
                <a:gd name="connsiteY2" fmla="*/ 127289 h 594301"/>
                <a:gd name="connsiteX3" fmla="*/ 294525 w 343072"/>
                <a:gd name="connsiteY3" fmla="*/ 137021 h 594301"/>
                <a:gd name="connsiteX4" fmla="*/ 338813 w 343072"/>
                <a:gd name="connsiteY4" fmla="*/ 191885 h 594301"/>
                <a:gd name="connsiteX5" fmla="*/ 343073 w 343072"/>
                <a:gd name="connsiteY5" fmla="*/ 234777 h 594301"/>
                <a:gd name="connsiteX6" fmla="*/ 342962 w 343072"/>
                <a:gd name="connsiteY6" fmla="*/ 322031 h 594301"/>
                <a:gd name="connsiteX7" fmla="*/ 338592 w 343072"/>
                <a:gd name="connsiteY7" fmla="*/ 360076 h 594301"/>
                <a:gd name="connsiteX8" fmla="*/ 309618 w 343072"/>
                <a:gd name="connsiteY8" fmla="*/ 388756 h 594301"/>
                <a:gd name="connsiteX9" fmla="*/ 307782 w 343072"/>
                <a:gd name="connsiteY9" fmla="*/ 391621 h 594301"/>
                <a:gd name="connsiteX10" fmla="*/ 307121 w 343072"/>
                <a:gd name="connsiteY10" fmla="*/ 537521 h 594301"/>
                <a:gd name="connsiteX11" fmla="*/ 289163 w 343072"/>
                <a:gd name="connsiteY11" fmla="*/ 578724 h 594301"/>
                <a:gd name="connsiteX12" fmla="*/ 218178 w 343072"/>
                <a:gd name="connsiteY12" fmla="*/ 583278 h 594301"/>
                <a:gd name="connsiteX13" fmla="*/ 213955 w 343072"/>
                <a:gd name="connsiteY13" fmla="*/ 583388 h 594301"/>
                <a:gd name="connsiteX14" fmla="*/ 129565 w 343072"/>
                <a:gd name="connsiteY14" fmla="*/ 557094 h 594301"/>
                <a:gd name="connsiteX15" fmla="*/ 125783 w 343072"/>
                <a:gd name="connsiteY15" fmla="*/ 519931 h 594301"/>
                <a:gd name="connsiteX16" fmla="*/ 126040 w 343072"/>
                <a:gd name="connsiteY16" fmla="*/ 232170 h 594301"/>
                <a:gd name="connsiteX17" fmla="*/ 124461 w 343072"/>
                <a:gd name="connsiteY17" fmla="*/ 229048 h 594301"/>
                <a:gd name="connsiteX18" fmla="*/ 10509 w 343072"/>
                <a:gd name="connsiteY18" fmla="*/ 82046 h 594301"/>
                <a:gd name="connsiteX19" fmla="*/ 5662 w 343072"/>
                <a:gd name="connsiteY19" fmla="*/ 71176 h 594301"/>
                <a:gd name="connsiteX20" fmla="*/ 15540 w 343072"/>
                <a:gd name="connsiteY20" fmla="*/ 11501 h 594301"/>
                <a:gd name="connsiteX21" fmla="*/ 53365 w 343072"/>
                <a:gd name="connsiteY21" fmla="*/ 448 h 594301"/>
                <a:gd name="connsiteX22" fmla="*/ 91153 w 343072"/>
                <a:gd name="connsiteY22" fmla="*/ 26999 h 594301"/>
                <a:gd name="connsiteX23" fmla="*/ 159641 w 343072"/>
                <a:gd name="connsiteY23" fmla="*/ 108413 h 594301"/>
                <a:gd name="connsiteX24" fmla="*/ 190746 w 343072"/>
                <a:gd name="connsiteY24" fmla="*/ 126371 h 594301"/>
                <a:gd name="connsiteX25" fmla="*/ 205949 w 343072"/>
                <a:gd name="connsiteY25" fmla="*/ 136947 h 594301"/>
                <a:gd name="connsiteX26" fmla="*/ 219243 w 343072"/>
                <a:gd name="connsiteY26" fmla="*/ 150241 h 594301"/>
                <a:gd name="connsiteX27" fmla="*/ 221446 w 343072"/>
                <a:gd name="connsiteY27" fmla="*/ 151049 h 594301"/>
                <a:gd name="connsiteX28" fmla="*/ 146898 w 343072"/>
                <a:gd name="connsiteY28" fmla="*/ 213808 h 594301"/>
                <a:gd name="connsiteX29" fmla="*/ 151746 w 343072"/>
                <a:gd name="connsiteY29" fmla="*/ 226331 h 594301"/>
                <a:gd name="connsiteX30" fmla="*/ 151525 w 343072"/>
                <a:gd name="connsiteY30" fmla="*/ 533886 h 594301"/>
                <a:gd name="connsiteX31" fmla="*/ 165407 w 343072"/>
                <a:gd name="connsiteY31" fmla="*/ 563227 h 594301"/>
                <a:gd name="connsiteX32" fmla="*/ 180904 w 343072"/>
                <a:gd name="connsiteY32" fmla="*/ 568295 h 594301"/>
                <a:gd name="connsiteX33" fmla="*/ 205729 w 343072"/>
                <a:gd name="connsiteY33" fmla="*/ 556360 h 594301"/>
                <a:gd name="connsiteX34" fmla="*/ 213955 w 343072"/>
                <a:gd name="connsiteY34" fmla="*/ 551402 h 594301"/>
                <a:gd name="connsiteX35" fmla="*/ 224274 w 343072"/>
                <a:gd name="connsiteY35" fmla="*/ 553165 h 594301"/>
                <a:gd name="connsiteX36" fmla="*/ 236723 w 343072"/>
                <a:gd name="connsiteY36" fmla="*/ 564733 h 594301"/>
                <a:gd name="connsiteX37" fmla="*/ 281819 w 343072"/>
                <a:gd name="connsiteY37" fmla="*/ 536640 h 594301"/>
                <a:gd name="connsiteX38" fmla="*/ 282516 w 343072"/>
                <a:gd name="connsiteY38" fmla="*/ 378584 h 594301"/>
                <a:gd name="connsiteX39" fmla="*/ 306276 w 343072"/>
                <a:gd name="connsiteY39" fmla="*/ 361508 h 594301"/>
                <a:gd name="connsiteX40" fmla="*/ 317146 w 343072"/>
                <a:gd name="connsiteY40" fmla="*/ 340172 h 594301"/>
                <a:gd name="connsiteX41" fmla="*/ 317550 w 343072"/>
                <a:gd name="connsiteY41" fmla="*/ 230921 h 594301"/>
                <a:gd name="connsiteX42" fmla="*/ 313584 w 343072"/>
                <a:gd name="connsiteY42" fmla="*/ 195594 h 594301"/>
                <a:gd name="connsiteX43" fmla="*/ 256370 w 343072"/>
                <a:gd name="connsiteY43" fmla="*/ 153729 h 594301"/>
                <a:gd name="connsiteX44" fmla="*/ 253211 w 343072"/>
                <a:gd name="connsiteY44" fmla="*/ 155051 h 594301"/>
                <a:gd name="connsiteX45" fmla="*/ 231728 w 343072"/>
                <a:gd name="connsiteY45" fmla="*/ 178958 h 594301"/>
                <a:gd name="connsiteX46" fmla="*/ 212384 w 343072"/>
                <a:gd name="connsiteY46" fmla="*/ 179972 h 594301"/>
                <a:gd name="connsiteX47" fmla="*/ 211678 w 343072"/>
                <a:gd name="connsiteY47" fmla="*/ 179289 h 594301"/>
                <a:gd name="connsiteX48" fmla="*/ 185127 w 343072"/>
                <a:gd name="connsiteY48" fmla="*/ 153326 h 594301"/>
                <a:gd name="connsiteX49" fmla="*/ 168712 w 343072"/>
                <a:gd name="connsiteY49" fmla="*/ 144145 h 594301"/>
                <a:gd name="connsiteX50" fmla="*/ 120935 w 343072"/>
                <a:gd name="connsiteY50" fmla="*/ 108413 h 594301"/>
                <a:gd name="connsiteX51" fmla="*/ 88692 w 343072"/>
                <a:gd name="connsiteY51" fmla="*/ 70625 h 594301"/>
                <a:gd name="connsiteX52" fmla="*/ 71139 w 343072"/>
                <a:gd name="connsiteY52" fmla="*/ 43377 h 594301"/>
                <a:gd name="connsiteX53" fmla="*/ 58763 w 343072"/>
                <a:gd name="connsiteY53" fmla="*/ 28798 h 594301"/>
                <a:gd name="connsiteX54" fmla="*/ 36986 w 343072"/>
                <a:gd name="connsiteY54" fmla="*/ 28137 h 594301"/>
                <a:gd name="connsiteX55" fmla="*/ 27035 w 343072"/>
                <a:gd name="connsiteY55" fmla="*/ 53843 h 594301"/>
                <a:gd name="connsiteX56" fmla="*/ 146898 w 343072"/>
                <a:gd name="connsiteY56" fmla="*/ 213808 h 5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3072" h="594301">
                  <a:moveTo>
                    <a:pt x="221446" y="151049"/>
                  </a:moveTo>
                  <a:cubicBezTo>
                    <a:pt x="225632" y="147719"/>
                    <a:pt x="230700" y="142345"/>
                    <a:pt x="236649" y="134927"/>
                  </a:cubicBezTo>
                  <a:cubicBezTo>
                    <a:pt x="241301" y="129150"/>
                    <a:pt x="247238" y="126603"/>
                    <a:pt x="254460" y="127289"/>
                  </a:cubicBezTo>
                  <a:cubicBezTo>
                    <a:pt x="270471" y="128807"/>
                    <a:pt x="283826" y="132051"/>
                    <a:pt x="294525" y="137021"/>
                  </a:cubicBezTo>
                  <a:cubicBezTo>
                    <a:pt x="317318" y="147646"/>
                    <a:pt x="332080" y="165934"/>
                    <a:pt x="338813" y="191885"/>
                  </a:cubicBezTo>
                  <a:cubicBezTo>
                    <a:pt x="341652" y="202803"/>
                    <a:pt x="343073" y="217101"/>
                    <a:pt x="343073" y="234777"/>
                  </a:cubicBezTo>
                  <a:cubicBezTo>
                    <a:pt x="343048" y="283791"/>
                    <a:pt x="343011" y="312876"/>
                    <a:pt x="342962" y="322031"/>
                  </a:cubicBezTo>
                  <a:cubicBezTo>
                    <a:pt x="342864" y="340392"/>
                    <a:pt x="341408" y="353073"/>
                    <a:pt x="338592" y="360076"/>
                  </a:cubicBezTo>
                  <a:cubicBezTo>
                    <a:pt x="333573" y="372587"/>
                    <a:pt x="323915" y="382146"/>
                    <a:pt x="309618" y="388756"/>
                  </a:cubicBezTo>
                  <a:cubicBezTo>
                    <a:pt x="308478" y="389270"/>
                    <a:pt x="307756" y="390398"/>
                    <a:pt x="307782" y="391621"/>
                  </a:cubicBezTo>
                  <a:cubicBezTo>
                    <a:pt x="307855" y="448442"/>
                    <a:pt x="307635" y="497078"/>
                    <a:pt x="307121" y="537521"/>
                  </a:cubicBezTo>
                  <a:cubicBezTo>
                    <a:pt x="306900" y="554608"/>
                    <a:pt x="300915" y="568343"/>
                    <a:pt x="289163" y="578724"/>
                  </a:cubicBezTo>
                  <a:cubicBezTo>
                    <a:pt x="267546" y="597846"/>
                    <a:pt x="243884" y="599363"/>
                    <a:pt x="218178" y="583278"/>
                  </a:cubicBezTo>
                  <a:cubicBezTo>
                    <a:pt x="216872" y="582448"/>
                    <a:pt x="215199" y="582492"/>
                    <a:pt x="213955" y="583388"/>
                  </a:cubicBezTo>
                  <a:cubicBezTo>
                    <a:pt x="184025" y="605605"/>
                    <a:pt x="141684" y="591247"/>
                    <a:pt x="129565" y="557094"/>
                  </a:cubicBezTo>
                  <a:cubicBezTo>
                    <a:pt x="127019" y="549922"/>
                    <a:pt x="125758" y="537532"/>
                    <a:pt x="125783" y="519931"/>
                  </a:cubicBezTo>
                  <a:cubicBezTo>
                    <a:pt x="125856" y="423911"/>
                    <a:pt x="125942" y="327991"/>
                    <a:pt x="126040" y="232170"/>
                  </a:cubicBezTo>
                  <a:cubicBezTo>
                    <a:pt x="126015" y="230872"/>
                    <a:pt x="125489" y="229832"/>
                    <a:pt x="124461" y="229048"/>
                  </a:cubicBezTo>
                  <a:cubicBezTo>
                    <a:pt x="73685" y="190734"/>
                    <a:pt x="35701" y="141733"/>
                    <a:pt x="10509" y="82046"/>
                  </a:cubicBezTo>
                  <a:cubicBezTo>
                    <a:pt x="10411" y="81875"/>
                    <a:pt x="8795" y="78252"/>
                    <a:pt x="5662" y="71176"/>
                  </a:cubicBezTo>
                  <a:cubicBezTo>
                    <a:pt x="-3592" y="50354"/>
                    <a:pt x="-2307" y="25823"/>
                    <a:pt x="15540" y="11501"/>
                  </a:cubicBezTo>
                  <a:cubicBezTo>
                    <a:pt x="26973" y="2321"/>
                    <a:pt x="39582" y="-1364"/>
                    <a:pt x="53365" y="448"/>
                  </a:cubicBezTo>
                  <a:cubicBezTo>
                    <a:pt x="69450" y="2578"/>
                    <a:pt x="82046" y="11428"/>
                    <a:pt x="91153" y="26999"/>
                  </a:cubicBezTo>
                  <a:cubicBezTo>
                    <a:pt x="110983" y="61004"/>
                    <a:pt x="133813" y="88142"/>
                    <a:pt x="159641" y="108413"/>
                  </a:cubicBezTo>
                  <a:cubicBezTo>
                    <a:pt x="167769" y="114779"/>
                    <a:pt x="178138" y="120764"/>
                    <a:pt x="190746" y="126371"/>
                  </a:cubicBezTo>
                  <a:cubicBezTo>
                    <a:pt x="196303" y="128819"/>
                    <a:pt x="201371" y="132345"/>
                    <a:pt x="205949" y="136947"/>
                  </a:cubicBezTo>
                  <a:cubicBezTo>
                    <a:pt x="214762" y="145761"/>
                    <a:pt x="219194" y="150192"/>
                    <a:pt x="219243" y="150241"/>
                  </a:cubicBezTo>
                  <a:cubicBezTo>
                    <a:pt x="220222" y="151171"/>
                    <a:pt x="220957" y="151440"/>
                    <a:pt x="221446" y="151049"/>
                  </a:cubicBezTo>
                  <a:close/>
                  <a:moveTo>
                    <a:pt x="146898" y="213808"/>
                  </a:moveTo>
                  <a:cubicBezTo>
                    <a:pt x="151195" y="216930"/>
                    <a:pt x="151746" y="220859"/>
                    <a:pt x="151746" y="226331"/>
                  </a:cubicBezTo>
                  <a:cubicBezTo>
                    <a:pt x="151624" y="390923"/>
                    <a:pt x="151550" y="493443"/>
                    <a:pt x="151525" y="533886"/>
                  </a:cubicBezTo>
                  <a:cubicBezTo>
                    <a:pt x="151501" y="547205"/>
                    <a:pt x="156128" y="556984"/>
                    <a:pt x="165407" y="563227"/>
                  </a:cubicBezTo>
                  <a:cubicBezTo>
                    <a:pt x="170205" y="566433"/>
                    <a:pt x="175371" y="568122"/>
                    <a:pt x="180904" y="568295"/>
                  </a:cubicBezTo>
                  <a:cubicBezTo>
                    <a:pt x="192325" y="568625"/>
                    <a:pt x="198053" y="564145"/>
                    <a:pt x="205729" y="556360"/>
                  </a:cubicBezTo>
                  <a:cubicBezTo>
                    <a:pt x="208740" y="553323"/>
                    <a:pt x="211482" y="551670"/>
                    <a:pt x="213955" y="551402"/>
                  </a:cubicBezTo>
                  <a:cubicBezTo>
                    <a:pt x="219218" y="550863"/>
                    <a:pt x="222658" y="551450"/>
                    <a:pt x="224274" y="553165"/>
                  </a:cubicBezTo>
                  <a:cubicBezTo>
                    <a:pt x="230492" y="559801"/>
                    <a:pt x="234642" y="563657"/>
                    <a:pt x="236723" y="564733"/>
                  </a:cubicBezTo>
                  <a:cubicBezTo>
                    <a:pt x="258059" y="575566"/>
                    <a:pt x="281855" y="560363"/>
                    <a:pt x="281819" y="536640"/>
                  </a:cubicBezTo>
                  <a:cubicBezTo>
                    <a:pt x="281745" y="475654"/>
                    <a:pt x="281978" y="422971"/>
                    <a:pt x="282516" y="378584"/>
                  </a:cubicBezTo>
                  <a:cubicBezTo>
                    <a:pt x="282700" y="364593"/>
                    <a:pt x="298050" y="367677"/>
                    <a:pt x="306276" y="361508"/>
                  </a:cubicBezTo>
                  <a:cubicBezTo>
                    <a:pt x="313278" y="356246"/>
                    <a:pt x="316901" y="349132"/>
                    <a:pt x="317146" y="340172"/>
                  </a:cubicBezTo>
                  <a:cubicBezTo>
                    <a:pt x="317587" y="324087"/>
                    <a:pt x="317722" y="287669"/>
                    <a:pt x="317550" y="230921"/>
                  </a:cubicBezTo>
                  <a:cubicBezTo>
                    <a:pt x="317501" y="214592"/>
                    <a:pt x="316179" y="202816"/>
                    <a:pt x="313584" y="195594"/>
                  </a:cubicBezTo>
                  <a:cubicBezTo>
                    <a:pt x="304134" y="169128"/>
                    <a:pt x="285062" y="155174"/>
                    <a:pt x="256370" y="153729"/>
                  </a:cubicBezTo>
                  <a:cubicBezTo>
                    <a:pt x="255121" y="153656"/>
                    <a:pt x="254068" y="154097"/>
                    <a:pt x="253211" y="155051"/>
                  </a:cubicBezTo>
                  <a:lnTo>
                    <a:pt x="231728" y="178958"/>
                  </a:lnTo>
                  <a:cubicBezTo>
                    <a:pt x="226666" y="184580"/>
                    <a:pt x="218005" y="185034"/>
                    <a:pt x="212384" y="179972"/>
                  </a:cubicBezTo>
                  <a:cubicBezTo>
                    <a:pt x="212140" y="179752"/>
                    <a:pt x="211905" y="179525"/>
                    <a:pt x="211678" y="179289"/>
                  </a:cubicBezTo>
                  <a:cubicBezTo>
                    <a:pt x="197429" y="164453"/>
                    <a:pt x="188579" y="155798"/>
                    <a:pt x="185127" y="153326"/>
                  </a:cubicBezTo>
                  <a:cubicBezTo>
                    <a:pt x="182654" y="151514"/>
                    <a:pt x="177183" y="148453"/>
                    <a:pt x="168712" y="144145"/>
                  </a:cubicBezTo>
                  <a:cubicBezTo>
                    <a:pt x="151379" y="135282"/>
                    <a:pt x="135453" y="123372"/>
                    <a:pt x="120935" y="108413"/>
                  </a:cubicBezTo>
                  <a:cubicBezTo>
                    <a:pt x="106711" y="93773"/>
                    <a:pt x="95964" y="81177"/>
                    <a:pt x="88692" y="70625"/>
                  </a:cubicBezTo>
                  <a:cubicBezTo>
                    <a:pt x="84653" y="64774"/>
                    <a:pt x="78802" y="55691"/>
                    <a:pt x="71139" y="43377"/>
                  </a:cubicBezTo>
                  <a:cubicBezTo>
                    <a:pt x="66389" y="35739"/>
                    <a:pt x="62264" y="30879"/>
                    <a:pt x="58763" y="28798"/>
                  </a:cubicBezTo>
                  <a:cubicBezTo>
                    <a:pt x="51737" y="24563"/>
                    <a:pt x="44478" y="24342"/>
                    <a:pt x="36986" y="28137"/>
                  </a:cubicBezTo>
                  <a:cubicBezTo>
                    <a:pt x="26214" y="33621"/>
                    <a:pt x="22897" y="42190"/>
                    <a:pt x="27035" y="53843"/>
                  </a:cubicBezTo>
                  <a:cubicBezTo>
                    <a:pt x="50097" y="119088"/>
                    <a:pt x="90051" y="172409"/>
                    <a:pt x="146898" y="213808"/>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47" name="Free-form: Shape 2347">
              <a:extLst>
                <a:ext uri="{FF2B5EF4-FFF2-40B4-BE49-F238E27FC236}">
                  <a16:creationId xmlns:a16="http://schemas.microsoft.com/office/drawing/2014/main" id="{0496684A-40EE-2C3B-2C01-7986971EC833}"/>
                </a:ext>
              </a:extLst>
            </p:cNvPr>
            <p:cNvSpPr/>
            <p:nvPr/>
          </p:nvSpPr>
          <p:spPr>
            <a:xfrm>
              <a:off x="8541295" y="3526057"/>
              <a:ext cx="155208" cy="268380"/>
            </a:xfrm>
            <a:custGeom>
              <a:avLst/>
              <a:gdLst>
                <a:gd name="connsiteX0" fmla="*/ 124173 w 343873"/>
                <a:gd name="connsiteY0" fmla="*/ 150082 h 594614"/>
                <a:gd name="connsiteX1" fmla="*/ 137503 w 343873"/>
                <a:gd name="connsiteY1" fmla="*/ 136788 h 594614"/>
                <a:gd name="connsiteX2" fmla="*/ 152743 w 343873"/>
                <a:gd name="connsiteY2" fmla="*/ 126249 h 594614"/>
                <a:gd name="connsiteX3" fmla="*/ 183921 w 343873"/>
                <a:gd name="connsiteY3" fmla="*/ 108328 h 594614"/>
                <a:gd name="connsiteX4" fmla="*/ 252630 w 343873"/>
                <a:gd name="connsiteY4" fmla="*/ 26950 h 594614"/>
                <a:gd name="connsiteX5" fmla="*/ 290528 w 343873"/>
                <a:gd name="connsiteY5" fmla="*/ 436 h 594614"/>
                <a:gd name="connsiteX6" fmla="*/ 328389 w 343873"/>
                <a:gd name="connsiteY6" fmla="*/ 11563 h 594614"/>
                <a:gd name="connsiteX7" fmla="*/ 338158 w 343873"/>
                <a:gd name="connsiteY7" fmla="*/ 71311 h 594614"/>
                <a:gd name="connsiteX8" fmla="*/ 333274 w 343873"/>
                <a:gd name="connsiteY8" fmla="*/ 82181 h 594614"/>
                <a:gd name="connsiteX9" fmla="*/ 218918 w 343873"/>
                <a:gd name="connsiteY9" fmla="*/ 229146 h 594614"/>
                <a:gd name="connsiteX10" fmla="*/ 217339 w 343873"/>
                <a:gd name="connsiteY10" fmla="*/ 232268 h 594614"/>
                <a:gd name="connsiteX11" fmla="*/ 217082 w 343873"/>
                <a:gd name="connsiteY11" fmla="*/ 520396 h 594614"/>
                <a:gd name="connsiteX12" fmla="*/ 213226 w 343873"/>
                <a:gd name="connsiteY12" fmla="*/ 557597 h 594614"/>
                <a:gd name="connsiteX13" fmla="*/ 128690 w 343873"/>
                <a:gd name="connsiteY13" fmla="*/ 583780 h 594614"/>
                <a:gd name="connsiteX14" fmla="*/ 124467 w 343873"/>
                <a:gd name="connsiteY14" fmla="*/ 583633 h 594614"/>
                <a:gd name="connsiteX15" fmla="*/ 53408 w 343873"/>
                <a:gd name="connsiteY15" fmla="*/ 578969 h 594614"/>
                <a:gd name="connsiteX16" fmla="*/ 35487 w 343873"/>
                <a:gd name="connsiteY16" fmla="*/ 537656 h 594614"/>
                <a:gd name="connsiteX17" fmla="*/ 35120 w 343873"/>
                <a:gd name="connsiteY17" fmla="*/ 391609 h 594614"/>
                <a:gd name="connsiteX18" fmla="*/ 33284 w 343873"/>
                <a:gd name="connsiteY18" fmla="*/ 388744 h 594614"/>
                <a:gd name="connsiteX19" fmla="*/ 4309 w 343873"/>
                <a:gd name="connsiteY19" fmla="*/ 359954 h 594614"/>
                <a:gd name="connsiteX20" fmla="*/ 13 w 343873"/>
                <a:gd name="connsiteY20" fmla="*/ 321872 h 594614"/>
                <a:gd name="connsiteX21" fmla="*/ 49 w 343873"/>
                <a:gd name="connsiteY21" fmla="*/ 234508 h 594614"/>
                <a:gd name="connsiteX22" fmla="*/ 4383 w 343873"/>
                <a:gd name="connsiteY22" fmla="*/ 191579 h 594614"/>
                <a:gd name="connsiteX23" fmla="*/ 48854 w 343873"/>
                <a:gd name="connsiteY23" fmla="*/ 136715 h 594614"/>
                <a:gd name="connsiteX24" fmla="*/ 88956 w 343873"/>
                <a:gd name="connsiteY24" fmla="*/ 127057 h 594614"/>
                <a:gd name="connsiteX25" fmla="*/ 106766 w 343873"/>
                <a:gd name="connsiteY25" fmla="*/ 134732 h 594614"/>
                <a:gd name="connsiteX26" fmla="*/ 121970 w 343873"/>
                <a:gd name="connsiteY26" fmla="*/ 150890 h 594614"/>
                <a:gd name="connsiteX27" fmla="*/ 124173 w 343873"/>
                <a:gd name="connsiteY27" fmla="*/ 150082 h 594614"/>
                <a:gd name="connsiteX28" fmla="*/ 196444 w 343873"/>
                <a:gd name="connsiteY28" fmla="*/ 213870 h 594614"/>
                <a:gd name="connsiteX29" fmla="*/ 316675 w 343873"/>
                <a:gd name="connsiteY29" fmla="*/ 53941 h 594614"/>
                <a:gd name="connsiteX30" fmla="*/ 306760 w 343873"/>
                <a:gd name="connsiteY30" fmla="*/ 28162 h 594614"/>
                <a:gd name="connsiteX31" fmla="*/ 284946 w 343873"/>
                <a:gd name="connsiteY31" fmla="*/ 28823 h 594614"/>
                <a:gd name="connsiteX32" fmla="*/ 272534 w 343873"/>
                <a:gd name="connsiteY32" fmla="*/ 43402 h 594614"/>
                <a:gd name="connsiteX33" fmla="*/ 254943 w 343873"/>
                <a:gd name="connsiteY33" fmla="*/ 70650 h 594614"/>
                <a:gd name="connsiteX34" fmla="*/ 222591 w 343873"/>
                <a:gd name="connsiteY34" fmla="*/ 108401 h 594614"/>
                <a:gd name="connsiteX35" fmla="*/ 174740 w 343873"/>
                <a:gd name="connsiteY35" fmla="*/ 144096 h 594614"/>
                <a:gd name="connsiteX36" fmla="*/ 158289 w 343873"/>
                <a:gd name="connsiteY36" fmla="*/ 153277 h 594614"/>
                <a:gd name="connsiteX37" fmla="*/ 131664 w 343873"/>
                <a:gd name="connsiteY37" fmla="*/ 179203 h 594614"/>
                <a:gd name="connsiteX38" fmla="*/ 112297 w 343873"/>
                <a:gd name="connsiteY38" fmla="*/ 179579 h 594614"/>
                <a:gd name="connsiteX39" fmla="*/ 111614 w 343873"/>
                <a:gd name="connsiteY39" fmla="*/ 178873 h 594614"/>
                <a:gd name="connsiteX40" fmla="*/ 90131 w 343873"/>
                <a:gd name="connsiteY40" fmla="*/ 154893 h 594614"/>
                <a:gd name="connsiteX41" fmla="*/ 86973 w 343873"/>
                <a:gd name="connsiteY41" fmla="*/ 153571 h 594614"/>
                <a:gd name="connsiteX42" fmla="*/ 29648 w 343873"/>
                <a:gd name="connsiteY42" fmla="*/ 195398 h 594614"/>
                <a:gd name="connsiteX43" fmla="*/ 25608 w 343873"/>
                <a:gd name="connsiteY43" fmla="*/ 230762 h 594614"/>
                <a:gd name="connsiteX44" fmla="*/ 25865 w 343873"/>
                <a:gd name="connsiteY44" fmla="*/ 340087 h 594614"/>
                <a:gd name="connsiteX45" fmla="*/ 36699 w 343873"/>
                <a:gd name="connsiteY45" fmla="*/ 361459 h 594614"/>
                <a:gd name="connsiteX46" fmla="*/ 60459 w 343873"/>
                <a:gd name="connsiteY46" fmla="*/ 378609 h 594614"/>
                <a:gd name="connsiteX47" fmla="*/ 60936 w 343873"/>
                <a:gd name="connsiteY47" fmla="*/ 536811 h 594614"/>
                <a:gd name="connsiteX48" fmla="*/ 106032 w 343873"/>
                <a:gd name="connsiteY48" fmla="*/ 565015 h 594614"/>
                <a:gd name="connsiteX49" fmla="*/ 118518 w 343873"/>
                <a:gd name="connsiteY49" fmla="*/ 553447 h 594614"/>
                <a:gd name="connsiteX50" fmla="*/ 128837 w 343873"/>
                <a:gd name="connsiteY50" fmla="*/ 551684 h 594614"/>
                <a:gd name="connsiteX51" fmla="*/ 137063 w 343873"/>
                <a:gd name="connsiteY51" fmla="*/ 556679 h 594614"/>
                <a:gd name="connsiteX52" fmla="*/ 161924 w 343873"/>
                <a:gd name="connsiteY52" fmla="*/ 568650 h 594614"/>
                <a:gd name="connsiteX53" fmla="*/ 177421 w 343873"/>
                <a:gd name="connsiteY53" fmla="*/ 563582 h 594614"/>
                <a:gd name="connsiteX54" fmla="*/ 191376 w 343873"/>
                <a:gd name="connsiteY54" fmla="*/ 534241 h 594614"/>
                <a:gd name="connsiteX55" fmla="*/ 191596 w 343873"/>
                <a:gd name="connsiteY55" fmla="*/ 226392 h 594614"/>
                <a:gd name="connsiteX56" fmla="*/ 196444 w 343873"/>
                <a:gd name="connsiteY56" fmla="*/ 213870 h 5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3873" h="594614">
                  <a:moveTo>
                    <a:pt x="124173" y="150082"/>
                  </a:moveTo>
                  <a:cubicBezTo>
                    <a:pt x="124221" y="150033"/>
                    <a:pt x="128664" y="145602"/>
                    <a:pt x="137503" y="136788"/>
                  </a:cubicBezTo>
                  <a:cubicBezTo>
                    <a:pt x="142105" y="132210"/>
                    <a:pt x="147187" y="128697"/>
                    <a:pt x="152743" y="126249"/>
                  </a:cubicBezTo>
                  <a:cubicBezTo>
                    <a:pt x="165376" y="120667"/>
                    <a:pt x="175769" y="114693"/>
                    <a:pt x="183921" y="108328"/>
                  </a:cubicBezTo>
                  <a:cubicBezTo>
                    <a:pt x="209822" y="88081"/>
                    <a:pt x="232726" y="60955"/>
                    <a:pt x="252630" y="26950"/>
                  </a:cubicBezTo>
                  <a:cubicBezTo>
                    <a:pt x="261785" y="11355"/>
                    <a:pt x="274418" y="2517"/>
                    <a:pt x="290528" y="436"/>
                  </a:cubicBezTo>
                  <a:cubicBezTo>
                    <a:pt x="304336" y="-1351"/>
                    <a:pt x="316958" y="2358"/>
                    <a:pt x="328389" y="11563"/>
                  </a:cubicBezTo>
                  <a:cubicBezTo>
                    <a:pt x="346237" y="25922"/>
                    <a:pt x="347449" y="50489"/>
                    <a:pt x="338158" y="71311"/>
                  </a:cubicBezTo>
                  <a:cubicBezTo>
                    <a:pt x="335000" y="78387"/>
                    <a:pt x="333373" y="82010"/>
                    <a:pt x="333274" y="82181"/>
                  </a:cubicBezTo>
                  <a:cubicBezTo>
                    <a:pt x="307960" y="141893"/>
                    <a:pt x="269842" y="190881"/>
                    <a:pt x="218918" y="229146"/>
                  </a:cubicBezTo>
                  <a:cubicBezTo>
                    <a:pt x="217890" y="229930"/>
                    <a:pt x="217365" y="230971"/>
                    <a:pt x="217339" y="232268"/>
                  </a:cubicBezTo>
                  <a:cubicBezTo>
                    <a:pt x="217266" y="328214"/>
                    <a:pt x="217181" y="424256"/>
                    <a:pt x="217082" y="520396"/>
                  </a:cubicBezTo>
                  <a:cubicBezTo>
                    <a:pt x="217082" y="538023"/>
                    <a:pt x="215797" y="550425"/>
                    <a:pt x="213226" y="557597"/>
                  </a:cubicBezTo>
                  <a:cubicBezTo>
                    <a:pt x="201034" y="591749"/>
                    <a:pt x="158619" y="606071"/>
                    <a:pt x="128690" y="583780"/>
                  </a:cubicBezTo>
                  <a:cubicBezTo>
                    <a:pt x="127452" y="582873"/>
                    <a:pt x="125781" y="582814"/>
                    <a:pt x="124467" y="583633"/>
                  </a:cubicBezTo>
                  <a:cubicBezTo>
                    <a:pt x="98713" y="599692"/>
                    <a:pt x="75027" y="598139"/>
                    <a:pt x="53408" y="578969"/>
                  </a:cubicBezTo>
                  <a:cubicBezTo>
                    <a:pt x="41656" y="568540"/>
                    <a:pt x="35682" y="554769"/>
                    <a:pt x="35487" y="537656"/>
                  </a:cubicBezTo>
                  <a:cubicBezTo>
                    <a:pt x="35046" y="497162"/>
                    <a:pt x="34925" y="448482"/>
                    <a:pt x="35120" y="391609"/>
                  </a:cubicBezTo>
                  <a:cubicBezTo>
                    <a:pt x="35145" y="390386"/>
                    <a:pt x="34422" y="389259"/>
                    <a:pt x="33284" y="388744"/>
                  </a:cubicBezTo>
                  <a:cubicBezTo>
                    <a:pt x="18962" y="382087"/>
                    <a:pt x="9303" y="372487"/>
                    <a:pt x="4309" y="359954"/>
                  </a:cubicBezTo>
                  <a:cubicBezTo>
                    <a:pt x="1518" y="352951"/>
                    <a:pt x="86" y="340259"/>
                    <a:pt x="13" y="321872"/>
                  </a:cubicBezTo>
                  <a:cubicBezTo>
                    <a:pt x="-13" y="312691"/>
                    <a:pt x="1" y="283570"/>
                    <a:pt x="49" y="234508"/>
                  </a:cubicBezTo>
                  <a:cubicBezTo>
                    <a:pt x="75" y="216808"/>
                    <a:pt x="1518" y="202498"/>
                    <a:pt x="4383" y="191579"/>
                  </a:cubicBezTo>
                  <a:cubicBezTo>
                    <a:pt x="11187" y="165604"/>
                    <a:pt x="26012" y="147316"/>
                    <a:pt x="48854" y="136715"/>
                  </a:cubicBezTo>
                  <a:cubicBezTo>
                    <a:pt x="59551" y="131769"/>
                    <a:pt x="72919" y="128550"/>
                    <a:pt x="88956" y="127057"/>
                  </a:cubicBezTo>
                  <a:cubicBezTo>
                    <a:pt x="96201" y="126371"/>
                    <a:pt x="102139" y="128930"/>
                    <a:pt x="106766" y="134732"/>
                  </a:cubicBezTo>
                  <a:cubicBezTo>
                    <a:pt x="112715" y="142174"/>
                    <a:pt x="117783" y="147560"/>
                    <a:pt x="121970" y="150890"/>
                  </a:cubicBezTo>
                  <a:cubicBezTo>
                    <a:pt x="122458" y="151282"/>
                    <a:pt x="123192" y="151012"/>
                    <a:pt x="124173" y="150082"/>
                  </a:cubicBezTo>
                  <a:close/>
                  <a:moveTo>
                    <a:pt x="196444" y="213870"/>
                  </a:moveTo>
                  <a:cubicBezTo>
                    <a:pt x="253412" y="172520"/>
                    <a:pt x="293492" y="119210"/>
                    <a:pt x="316675" y="53941"/>
                  </a:cubicBezTo>
                  <a:cubicBezTo>
                    <a:pt x="320836" y="42263"/>
                    <a:pt x="317530" y="33670"/>
                    <a:pt x="306760" y="28162"/>
                  </a:cubicBezTo>
                  <a:cubicBezTo>
                    <a:pt x="299268" y="24367"/>
                    <a:pt x="291997" y="24587"/>
                    <a:pt x="284946" y="28823"/>
                  </a:cubicBezTo>
                  <a:cubicBezTo>
                    <a:pt x="281446" y="30879"/>
                    <a:pt x="277308" y="35739"/>
                    <a:pt x="272534" y="43402"/>
                  </a:cubicBezTo>
                  <a:cubicBezTo>
                    <a:pt x="264848" y="55716"/>
                    <a:pt x="258983" y="64799"/>
                    <a:pt x="254943" y="70650"/>
                  </a:cubicBezTo>
                  <a:cubicBezTo>
                    <a:pt x="247647" y="81202"/>
                    <a:pt x="236865" y="93786"/>
                    <a:pt x="222591" y="108401"/>
                  </a:cubicBezTo>
                  <a:cubicBezTo>
                    <a:pt x="208048" y="123360"/>
                    <a:pt x="192099" y="135258"/>
                    <a:pt x="174740" y="144096"/>
                  </a:cubicBezTo>
                  <a:cubicBezTo>
                    <a:pt x="166246" y="148405"/>
                    <a:pt x="160760" y="151465"/>
                    <a:pt x="158289" y="153277"/>
                  </a:cubicBezTo>
                  <a:cubicBezTo>
                    <a:pt x="154837" y="155749"/>
                    <a:pt x="145961" y="164392"/>
                    <a:pt x="131664" y="179203"/>
                  </a:cubicBezTo>
                  <a:cubicBezTo>
                    <a:pt x="126420" y="184655"/>
                    <a:pt x="117750" y="184823"/>
                    <a:pt x="112297" y="179579"/>
                  </a:cubicBezTo>
                  <a:cubicBezTo>
                    <a:pt x="112062" y="179352"/>
                    <a:pt x="111834" y="179116"/>
                    <a:pt x="111614" y="178873"/>
                  </a:cubicBezTo>
                  <a:lnTo>
                    <a:pt x="90131" y="154893"/>
                  </a:lnTo>
                  <a:cubicBezTo>
                    <a:pt x="89275" y="153938"/>
                    <a:pt x="88221" y="153497"/>
                    <a:pt x="86973" y="153571"/>
                  </a:cubicBezTo>
                  <a:cubicBezTo>
                    <a:pt x="58255" y="154966"/>
                    <a:pt x="39148" y="168909"/>
                    <a:pt x="29648" y="195398"/>
                  </a:cubicBezTo>
                  <a:cubicBezTo>
                    <a:pt x="27030" y="202620"/>
                    <a:pt x="25682" y="214408"/>
                    <a:pt x="25608" y="230762"/>
                  </a:cubicBezTo>
                  <a:cubicBezTo>
                    <a:pt x="25362" y="287562"/>
                    <a:pt x="25451" y="324002"/>
                    <a:pt x="25865" y="340087"/>
                  </a:cubicBezTo>
                  <a:cubicBezTo>
                    <a:pt x="26112" y="349073"/>
                    <a:pt x="29721" y="356197"/>
                    <a:pt x="36699" y="361459"/>
                  </a:cubicBezTo>
                  <a:cubicBezTo>
                    <a:pt x="44925" y="367665"/>
                    <a:pt x="60312" y="364581"/>
                    <a:pt x="60459" y="378609"/>
                  </a:cubicBezTo>
                  <a:cubicBezTo>
                    <a:pt x="60947" y="423044"/>
                    <a:pt x="61109" y="475778"/>
                    <a:pt x="60936" y="536811"/>
                  </a:cubicBezTo>
                  <a:cubicBezTo>
                    <a:pt x="60862" y="560571"/>
                    <a:pt x="84659" y="575811"/>
                    <a:pt x="106032" y="565015"/>
                  </a:cubicBezTo>
                  <a:cubicBezTo>
                    <a:pt x="108114" y="563939"/>
                    <a:pt x="112275" y="560083"/>
                    <a:pt x="118518" y="553447"/>
                  </a:cubicBezTo>
                  <a:cubicBezTo>
                    <a:pt x="120133" y="551732"/>
                    <a:pt x="123574" y="551144"/>
                    <a:pt x="128837" y="551684"/>
                  </a:cubicBezTo>
                  <a:cubicBezTo>
                    <a:pt x="131308" y="551952"/>
                    <a:pt x="134051" y="553620"/>
                    <a:pt x="137063" y="556679"/>
                  </a:cubicBezTo>
                  <a:cubicBezTo>
                    <a:pt x="144738" y="564464"/>
                    <a:pt x="150467" y="568944"/>
                    <a:pt x="161924" y="568650"/>
                  </a:cubicBezTo>
                  <a:cubicBezTo>
                    <a:pt x="167458" y="568478"/>
                    <a:pt x="172622" y="566788"/>
                    <a:pt x="177421" y="563582"/>
                  </a:cubicBezTo>
                  <a:cubicBezTo>
                    <a:pt x="186723" y="557365"/>
                    <a:pt x="191376" y="547582"/>
                    <a:pt x="191376" y="534241"/>
                  </a:cubicBezTo>
                  <a:cubicBezTo>
                    <a:pt x="191402" y="493746"/>
                    <a:pt x="191475" y="391131"/>
                    <a:pt x="191596" y="226392"/>
                  </a:cubicBezTo>
                  <a:cubicBezTo>
                    <a:pt x="191596" y="220921"/>
                    <a:pt x="192147" y="216991"/>
                    <a:pt x="196444" y="213870"/>
                  </a:cubicBezTo>
                  <a:close/>
                </a:path>
              </a:pathLst>
            </a:custGeom>
            <a:solidFill>
              <a:schemeClr val="accent4"/>
            </a:solidFill>
            <a:ln w="36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1440"/>
                </a:solidFill>
                <a:effectLst/>
                <a:uLnTx/>
                <a:uFillTx/>
                <a:latin typeface="Marianne Light"/>
                <a:ea typeface="+mn-ea"/>
                <a:cs typeface="+mn-cs"/>
              </a:endParaRPr>
            </a:p>
          </p:txBody>
        </p:sp>
      </p:grpSp>
      <p:grpSp>
        <p:nvGrpSpPr>
          <p:cNvPr id="11" name="Analytics22" descr="{&quot;Key&quot;:&quot;POWER_USER_SHAPE_ICON&quot;,&quot;Value&quot;:&quot;POWER_USER_SHAPE_ICON_STYLE_1&quot;}">
            <a:extLst>
              <a:ext uri="{FF2B5EF4-FFF2-40B4-BE49-F238E27FC236}">
                <a16:creationId xmlns:a16="http://schemas.microsoft.com/office/drawing/2014/main" id="{D1E14F40-B966-D06B-2564-33E99E9D98A4}"/>
              </a:ext>
            </a:extLst>
          </p:cNvPr>
          <p:cNvGrpSpPr>
            <a:grpSpLocks noChangeAspect="1"/>
          </p:cNvGrpSpPr>
          <p:nvPr/>
        </p:nvGrpSpPr>
        <p:grpSpPr>
          <a:xfrm>
            <a:off x="2092449" y="2507714"/>
            <a:ext cx="425163" cy="342754"/>
            <a:chOff x="3743325" y="6099123"/>
            <a:chExt cx="670511" cy="540545"/>
          </a:xfrm>
          <a:solidFill>
            <a:schemeClr val="accent4"/>
          </a:solidFill>
        </p:grpSpPr>
        <p:sp>
          <p:nvSpPr>
            <p:cNvPr id="21" name="Free-form: Shape 1846">
              <a:extLst>
                <a:ext uri="{FF2B5EF4-FFF2-40B4-BE49-F238E27FC236}">
                  <a16:creationId xmlns:a16="http://schemas.microsoft.com/office/drawing/2014/main" id="{028282CB-63BD-2EBD-CCC7-6F75D78B388C}"/>
                </a:ext>
              </a:extLst>
            </p:cNvPr>
            <p:cNvSpPr/>
            <p:nvPr/>
          </p:nvSpPr>
          <p:spPr>
            <a:xfrm>
              <a:off x="3876341" y="6099123"/>
              <a:ext cx="19002" cy="138500"/>
            </a:xfrm>
            <a:custGeom>
              <a:avLst/>
              <a:gdLst>
                <a:gd name="connsiteX0" fmla="*/ 17917 w 19002"/>
                <a:gd name="connsiteY0" fmla="*/ 0 h 138500"/>
                <a:gd name="connsiteX1" fmla="*/ 19002 w 19002"/>
                <a:gd name="connsiteY1" fmla="*/ 0 h 138500"/>
                <a:gd name="connsiteX2" fmla="*/ 19002 w 19002"/>
                <a:gd name="connsiteY2" fmla="*/ 138500 h 138500"/>
                <a:gd name="connsiteX3" fmla="*/ 17917 w 19002"/>
                <a:gd name="connsiteY3" fmla="*/ 138500 h 138500"/>
                <a:gd name="connsiteX4" fmla="*/ 1086 w 19002"/>
                <a:gd name="connsiteY4" fmla="*/ 138500 h 138500"/>
                <a:gd name="connsiteX5" fmla="*/ 0 w 19002"/>
                <a:gd name="connsiteY5" fmla="*/ 138500 h 138500"/>
                <a:gd name="connsiteX6" fmla="*/ 0 w 19002"/>
                <a:gd name="connsiteY6" fmla="*/ 0 h 138500"/>
                <a:gd name="connsiteX7" fmla="*/ 1086 w 19002"/>
                <a:gd name="connsiteY7" fmla="*/ 0 h 13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2" h="138500">
                  <a:moveTo>
                    <a:pt x="17917" y="0"/>
                  </a:moveTo>
                  <a:cubicBezTo>
                    <a:pt x="18516" y="0"/>
                    <a:pt x="19002" y="0"/>
                    <a:pt x="19002" y="0"/>
                  </a:cubicBezTo>
                  <a:lnTo>
                    <a:pt x="19002" y="138500"/>
                  </a:lnTo>
                  <a:cubicBezTo>
                    <a:pt x="19002" y="138500"/>
                    <a:pt x="18516" y="138500"/>
                    <a:pt x="17917" y="138500"/>
                  </a:cubicBezTo>
                  <a:lnTo>
                    <a:pt x="1086" y="138500"/>
                  </a:lnTo>
                  <a:cubicBezTo>
                    <a:pt x="486" y="138500"/>
                    <a:pt x="0" y="138500"/>
                    <a:pt x="0" y="138500"/>
                  </a:cubicBezTo>
                  <a:lnTo>
                    <a:pt x="0" y="0"/>
                  </a:lnTo>
                  <a:cubicBezTo>
                    <a:pt x="0" y="0"/>
                    <a:pt x="486" y="0"/>
                    <a:pt x="1086" y="0"/>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2" name="Free-form: Shape 1847">
              <a:extLst>
                <a:ext uri="{FF2B5EF4-FFF2-40B4-BE49-F238E27FC236}">
                  <a16:creationId xmlns:a16="http://schemas.microsoft.com/office/drawing/2014/main" id="{ED759B66-C267-158C-1DF1-5B985408A9F1}"/>
                </a:ext>
              </a:extLst>
            </p:cNvPr>
            <p:cNvSpPr/>
            <p:nvPr/>
          </p:nvSpPr>
          <p:spPr>
            <a:xfrm>
              <a:off x="3933348" y="6131725"/>
              <a:ext cx="19002" cy="105924"/>
            </a:xfrm>
            <a:custGeom>
              <a:avLst/>
              <a:gdLst>
                <a:gd name="connsiteX0" fmla="*/ 17944 w 19002"/>
                <a:gd name="connsiteY0" fmla="*/ 0 h 105924"/>
                <a:gd name="connsiteX1" fmla="*/ 19002 w 19002"/>
                <a:gd name="connsiteY1" fmla="*/ 0 h 105924"/>
                <a:gd name="connsiteX2" fmla="*/ 19002 w 19002"/>
                <a:gd name="connsiteY2" fmla="*/ 105925 h 105924"/>
                <a:gd name="connsiteX3" fmla="*/ 17944 w 19002"/>
                <a:gd name="connsiteY3" fmla="*/ 105925 h 105924"/>
                <a:gd name="connsiteX4" fmla="*/ 1059 w 19002"/>
                <a:gd name="connsiteY4" fmla="*/ 105925 h 105924"/>
                <a:gd name="connsiteX5" fmla="*/ 0 w 19002"/>
                <a:gd name="connsiteY5" fmla="*/ 105925 h 105924"/>
                <a:gd name="connsiteX6" fmla="*/ 0 w 19002"/>
                <a:gd name="connsiteY6" fmla="*/ 0 h 105924"/>
                <a:gd name="connsiteX7" fmla="*/ 1059 w 19002"/>
                <a:gd name="connsiteY7" fmla="*/ 0 h 105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2" h="105924">
                  <a:moveTo>
                    <a:pt x="17944" y="0"/>
                  </a:moveTo>
                  <a:cubicBezTo>
                    <a:pt x="18528" y="0"/>
                    <a:pt x="19002" y="0"/>
                    <a:pt x="19002" y="0"/>
                  </a:cubicBezTo>
                  <a:lnTo>
                    <a:pt x="19002" y="105925"/>
                  </a:lnTo>
                  <a:cubicBezTo>
                    <a:pt x="19002" y="105925"/>
                    <a:pt x="18528" y="105925"/>
                    <a:pt x="17944" y="105925"/>
                  </a:cubicBezTo>
                  <a:lnTo>
                    <a:pt x="1059" y="105925"/>
                  </a:lnTo>
                  <a:cubicBezTo>
                    <a:pt x="474" y="105925"/>
                    <a:pt x="0" y="105925"/>
                    <a:pt x="0" y="105925"/>
                  </a:cubicBezTo>
                  <a:lnTo>
                    <a:pt x="0" y="0"/>
                  </a:lnTo>
                  <a:cubicBezTo>
                    <a:pt x="0" y="0"/>
                    <a:pt x="474" y="0"/>
                    <a:pt x="1059" y="0"/>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3" name="Free-form: Shape 1848">
              <a:extLst>
                <a:ext uri="{FF2B5EF4-FFF2-40B4-BE49-F238E27FC236}">
                  <a16:creationId xmlns:a16="http://schemas.microsoft.com/office/drawing/2014/main" id="{786C753C-1410-A93B-529C-55EB2FEEBBEE}"/>
                </a:ext>
              </a:extLst>
            </p:cNvPr>
            <p:cNvSpPr/>
            <p:nvPr/>
          </p:nvSpPr>
          <p:spPr>
            <a:xfrm>
              <a:off x="3985252" y="6133435"/>
              <a:ext cx="205659" cy="205659"/>
            </a:xfrm>
            <a:custGeom>
              <a:avLst/>
              <a:gdLst>
                <a:gd name="connsiteX0" fmla="*/ 205660 w 205659"/>
                <a:gd name="connsiteY0" fmla="*/ 102830 h 205659"/>
                <a:gd name="connsiteX1" fmla="*/ 102830 w 205659"/>
                <a:gd name="connsiteY1" fmla="*/ 205660 h 205659"/>
                <a:gd name="connsiteX2" fmla="*/ 0 w 205659"/>
                <a:gd name="connsiteY2" fmla="*/ 102830 h 205659"/>
                <a:gd name="connsiteX3" fmla="*/ 102830 w 205659"/>
                <a:gd name="connsiteY3" fmla="*/ 0 h 205659"/>
                <a:gd name="connsiteX4" fmla="*/ 205660 w 205659"/>
                <a:gd name="connsiteY4" fmla="*/ 102830 h 205659"/>
                <a:gd name="connsiteX5" fmla="*/ 186712 w 205659"/>
                <a:gd name="connsiteY5" fmla="*/ 102830 h 205659"/>
                <a:gd name="connsiteX6" fmla="*/ 102830 w 205659"/>
                <a:gd name="connsiteY6" fmla="*/ 18948 h 205659"/>
                <a:gd name="connsiteX7" fmla="*/ 18948 w 205659"/>
                <a:gd name="connsiteY7" fmla="*/ 102830 h 205659"/>
                <a:gd name="connsiteX8" fmla="*/ 102830 w 205659"/>
                <a:gd name="connsiteY8" fmla="*/ 186712 h 205659"/>
                <a:gd name="connsiteX9" fmla="*/ 186712 w 205659"/>
                <a:gd name="connsiteY9" fmla="*/ 102830 h 20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659" h="205659">
                  <a:moveTo>
                    <a:pt x="205660" y="102830"/>
                  </a:moveTo>
                  <a:cubicBezTo>
                    <a:pt x="205660" y="159621"/>
                    <a:pt x="159621" y="205660"/>
                    <a:pt x="102830" y="205660"/>
                  </a:cubicBezTo>
                  <a:cubicBezTo>
                    <a:pt x="46039" y="205660"/>
                    <a:pt x="0" y="159621"/>
                    <a:pt x="0" y="102830"/>
                  </a:cubicBezTo>
                  <a:cubicBezTo>
                    <a:pt x="0" y="46039"/>
                    <a:pt x="46039" y="0"/>
                    <a:pt x="102830" y="0"/>
                  </a:cubicBezTo>
                  <a:cubicBezTo>
                    <a:pt x="159621" y="0"/>
                    <a:pt x="205660" y="46039"/>
                    <a:pt x="205660" y="102830"/>
                  </a:cubicBezTo>
                  <a:close/>
                  <a:moveTo>
                    <a:pt x="186712" y="102830"/>
                  </a:moveTo>
                  <a:cubicBezTo>
                    <a:pt x="186712" y="56503"/>
                    <a:pt x="149157" y="18948"/>
                    <a:pt x="102830" y="18948"/>
                  </a:cubicBezTo>
                  <a:cubicBezTo>
                    <a:pt x="56503" y="18948"/>
                    <a:pt x="18948" y="56503"/>
                    <a:pt x="18948" y="102830"/>
                  </a:cubicBezTo>
                  <a:cubicBezTo>
                    <a:pt x="18948" y="149157"/>
                    <a:pt x="56503" y="186712"/>
                    <a:pt x="102830" y="186712"/>
                  </a:cubicBezTo>
                  <a:cubicBezTo>
                    <a:pt x="149157" y="186712"/>
                    <a:pt x="186712" y="149157"/>
                    <a:pt x="186712" y="102830"/>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4" name="Free-form: Shape 1849">
              <a:extLst>
                <a:ext uri="{FF2B5EF4-FFF2-40B4-BE49-F238E27FC236}">
                  <a16:creationId xmlns:a16="http://schemas.microsoft.com/office/drawing/2014/main" id="{5448738E-F4BB-3CB4-1501-4EB0E0E9DE13}"/>
                </a:ext>
              </a:extLst>
            </p:cNvPr>
            <p:cNvSpPr/>
            <p:nvPr/>
          </p:nvSpPr>
          <p:spPr>
            <a:xfrm>
              <a:off x="3822049" y="6150700"/>
              <a:ext cx="19002" cy="86922"/>
            </a:xfrm>
            <a:custGeom>
              <a:avLst/>
              <a:gdLst>
                <a:gd name="connsiteX0" fmla="*/ 17917 w 19002"/>
                <a:gd name="connsiteY0" fmla="*/ 0 h 86922"/>
                <a:gd name="connsiteX1" fmla="*/ 19002 w 19002"/>
                <a:gd name="connsiteY1" fmla="*/ 0 h 86922"/>
                <a:gd name="connsiteX2" fmla="*/ 19002 w 19002"/>
                <a:gd name="connsiteY2" fmla="*/ 86922 h 86922"/>
                <a:gd name="connsiteX3" fmla="*/ 17917 w 19002"/>
                <a:gd name="connsiteY3" fmla="*/ 86922 h 86922"/>
                <a:gd name="connsiteX4" fmla="*/ 1086 w 19002"/>
                <a:gd name="connsiteY4" fmla="*/ 86922 h 86922"/>
                <a:gd name="connsiteX5" fmla="*/ 0 w 19002"/>
                <a:gd name="connsiteY5" fmla="*/ 86922 h 86922"/>
                <a:gd name="connsiteX6" fmla="*/ 0 w 19002"/>
                <a:gd name="connsiteY6" fmla="*/ 0 h 86922"/>
                <a:gd name="connsiteX7" fmla="*/ 1086 w 19002"/>
                <a:gd name="connsiteY7" fmla="*/ 0 h 86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2" h="86922">
                  <a:moveTo>
                    <a:pt x="17917" y="0"/>
                  </a:moveTo>
                  <a:cubicBezTo>
                    <a:pt x="18516" y="0"/>
                    <a:pt x="19002" y="0"/>
                    <a:pt x="19002" y="0"/>
                  </a:cubicBezTo>
                  <a:lnTo>
                    <a:pt x="19002" y="86922"/>
                  </a:lnTo>
                  <a:cubicBezTo>
                    <a:pt x="19002" y="86922"/>
                    <a:pt x="18516" y="86922"/>
                    <a:pt x="17917" y="86922"/>
                  </a:cubicBezTo>
                  <a:lnTo>
                    <a:pt x="1086" y="86922"/>
                  </a:lnTo>
                  <a:cubicBezTo>
                    <a:pt x="486" y="86922"/>
                    <a:pt x="0" y="86922"/>
                    <a:pt x="0" y="86922"/>
                  </a:cubicBezTo>
                  <a:lnTo>
                    <a:pt x="0" y="0"/>
                  </a:lnTo>
                  <a:cubicBezTo>
                    <a:pt x="0" y="0"/>
                    <a:pt x="486" y="0"/>
                    <a:pt x="1086" y="0"/>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5" name="Free-form: Shape 1850">
              <a:extLst>
                <a:ext uri="{FF2B5EF4-FFF2-40B4-BE49-F238E27FC236}">
                  <a16:creationId xmlns:a16="http://schemas.microsoft.com/office/drawing/2014/main" id="{9190373C-E0CE-271A-3F8A-E4A58784986B}"/>
                </a:ext>
              </a:extLst>
            </p:cNvPr>
            <p:cNvSpPr/>
            <p:nvPr/>
          </p:nvSpPr>
          <p:spPr>
            <a:xfrm>
              <a:off x="4212703" y="6160471"/>
              <a:ext cx="201133" cy="202269"/>
            </a:xfrm>
            <a:custGeom>
              <a:avLst/>
              <a:gdLst>
                <a:gd name="connsiteX0" fmla="*/ 201133 w 201133"/>
                <a:gd name="connsiteY0" fmla="*/ 96561 h 202269"/>
                <a:gd name="connsiteX1" fmla="*/ 201133 w 201133"/>
                <a:gd name="connsiteY1" fmla="*/ 116839 h 202269"/>
                <a:gd name="connsiteX2" fmla="*/ 194971 w 201133"/>
                <a:gd name="connsiteY2" fmla="*/ 137823 h 202269"/>
                <a:gd name="connsiteX3" fmla="*/ 174394 w 201133"/>
                <a:gd name="connsiteY3" fmla="*/ 170453 h 202269"/>
                <a:gd name="connsiteX4" fmla="*/ 110275 w 201133"/>
                <a:gd name="connsiteY4" fmla="*/ 201753 h 202269"/>
                <a:gd name="connsiteX5" fmla="*/ 40971 w 201133"/>
                <a:gd name="connsiteY5" fmla="*/ 183103 h 202269"/>
                <a:gd name="connsiteX6" fmla="*/ 32637 w 201133"/>
                <a:gd name="connsiteY6" fmla="*/ 175991 h 202269"/>
                <a:gd name="connsiteX7" fmla="*/ 21670 w 201133"/>
                <a:gd name="connsiteY7" fmla="*/ 164616 h 202269"/>
                <a:gd name="connsiteX8" fmla="*/ 15209 w 201133"/>
                <a:gd name="connsiteY8" fmla="*/ 154599 h 202269"/>
                <a:gd name="connsiteX9" fmla="*/ 9508 w 201133"/>
                <a:gd name="connsiteY9" fmla="*/ 144365 h 202269"/>
                <a:gd name="connsiteX10" fmla="*/ 9372 w 201133"/>
                <a:gd name="connsiteY10" fmla="*/ 58312 h 202269"/>
                <a:gd name="connsiteX11" fmla="*/ 32800 w 201133"/>
                <a:gd name="connsiteY11" fmla="*/ 26198 h 202269"/>
                <a:gd name="connsiteX12" fmla="*/ 90214 w 201133"/>
                <a:gd name="connsiteY12" fmla="*/ 409 h 202269"/>
                <a:gd name="connsiteX13" fmla="*/ 142959 w 201133"/>
                <a:gd name="connsiteY13" fmla="*/ 9856 h 202269"/>
                <a:gd name="connsiteX14" fmla="*/ 193370 w 201133"/>
                <a:gd name="connsiteY14" fmla="*/ 61814 h 202269"/>
                <a:gd name="connsiteX15" fmla="*/ 201133 w 201133"/>
                <a:gd name="connsiteY15" fmla="*/ 96561 h 202269"/>
                <a:gd name="connsiteX16" fmla="*/ 25796 w 201133"/>
                <a:gd name="connsiteY16" fmla="*/ 67433 h 202269"/>
                <a:gd name="connsiteX17" fmla="*/ 32012 w 201133"/>
                <a:gd name="connsiteY17" fmla="*/ 145587 h 202269"/>
                <a:gd name="connsiteX18" fmla="*/ 34092 w 201133"/>
                <a:gd name="connsiteY18" fmla="*/ 146066 h 202269"/>
                <a:gd name="connsiteX19" fmla="*/ 34293 w 201133"/>
                <a:gd name="connsiteY19" fmla="*/ 145913 h 202269"/>
                <a:gd name="connsiteX20" fmla="*/ 89454 w 201133"/>
                <a:gd name="connsiteY20" fmla="*/ 96588 h 202269"/>
                <a:gd name="connsiteX21" fmla="*/ 89970 w 201133"/>
                <a:gd name="connsiteY21" fmla="*/ 95936 h 202269"/>
                <a:gd name="connsiteX22" fmla="*/ 90160 w 201133"/>
                <a:gd name="connsiteY22" fmla="*/ 95041 h 202269"/>
                <a:gd name="connsiteX23" fmla="*/ 89644 w 201133"/>
                <a:gd name="connsiteY23" fmla="*/ 21040 h 202269"/>
                <a:gd name="connsiteX24" fmla="*/ 88121 w 201133"/>
                <a:gd name="connsiteY24" fmla="*/ 19554 h 202269"/>
                <a:gd name="connsiteX25" fmla="*/ 87879 w 201133"/>
                <a:gd name="connsiteY25" fmla="*/ 19574 h 202269"/>
                <a:gd name="connsiteX26" fmla="*/ 25796 w 201133"/>
                <a:gd name="connsiteY26" fmla="*/ 67433 h 202269"/>
                <a:gd name="connsiteX27" fmla="*/ 109461 w 201133"/>
                <a:gd name="connsiteY27" fmla="*/ 92082 h 202269"/>
                <a:gd name="connsiteX28" fmla="*/ 109759 w 201133"/>
                <a:gd name="connsiteY28" fmla="*/ 92190 h 202269"/>
                <a:gd name="connsiteX29" fmla="*/ 180204 w 201133"/>
                <a:gd name="connsiteY29" fmla="*/ 101094 h 202269"/>
                <a:gd name="connsiteX30" fmla="*/ 181588 w 201133"/>
                <a:gd name="connsiteY30" fmla="*/ 99873 h 202269"/>
                <a:gd name="connsiteX31" fmla="*/ 160957 w 201133"/>
                <a:gd name="connsiteY31" fmla="*/ 46259 h 202269"/>
                <a:gd name="connsiteX32" fmla="*/ 110085 w 201133"/>
                <a:gd name="connsiteY32" fmla="*/ 19547 h 202269"/>
                <a:gd name="connsiteX33" fmla="*/ 108700 w 201133"/>
                <a:gd name="connsiteY33" fmla="*/ 20796 h 202269"/>
                <a:gd name="connsiteX34" fmla="*/ 109406 w 201133"/>
                <a:gd name="connsiteY34" fmla="*/ 91783 h 202269"/>
                <a:gd name="connsiteX35" fmla="*/ 109461 w 201133"/>
                <a:gd name="connsiteY35" fmla="*/ 92082 h 202269"/>
                <a:gd name="connsiteX36" fmla="*/ 124065 w 201133"/>
                <a:gd name="connsiteY36" fmla="*/ 179927 h 202269"/>
                <a:gd name="connsiteX37" fmla="*/ 179932 w 201133"/>
                <a:gd name="connsiteY37" fmla="*/ 123979 h 202269"/>
                <a:gd name="connsiteX38" fmla="*/ 178902 w 201133"/>
                <a:gd name="connsiteY38" fmla="*/ 122066 h 202269"/>
                <a:gd name="connsiteX39" fmla="*/ 178711 w 201133"/>
                <a:gd name="connsiteY39" fmla="*/ 122024 h 202269"/>
                <a:gd name="connsiteX40" fmla="*/ 104737 w 201133"/>
                <a:gd name="connsiteY40" fmla="*/ 111980 h 202269"/>
                <a:gd name="connsiteX41" fmla="*/ 103814 w 201133"/>
                <a:gd name="connsiteY41" fmla="*/ 112061 h 202269"/>
                <a:gd name="connsiteX42" fmla="*/ 103081 w 201133"/>
                <a:gd name="connsiteY42" fmla="*/ 112469 h 202269"/>
                <a:gd name="connsiteX43" fmla="*/ 46644 w 201133"/>
                <a:gd name="connsiteY43" fmla="*/ 161332 h 202269"/>
                <a:gd name="connsiteX44" fmla="*/ 46526 w 201133"/>
                <a:gd name="connsiteY44" fmla="*/ 163495 h 202269"/>
                <a:gd name="connsiteX45" fmla="*/ 46671 w 201133"/>
                <a:gd name="connsiteY45" fmla="*/ 163639 h 202269"/>
                <a:gd name="connsiteX46" fmla="*/ 124065 w 201133"/>
                <a:gd name="connsiteY46" fmla="*/ 179927 h 202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01133" h="202269">
                  <a:moveTo>
                    <a:pt x="201133" y="96561"/>
                  </a:moveTo>
                  <a:lnTo>
                    <a:pt x="201133" y="116839"/>
                  </a:lnTo>
                  <a:cubicBezTo>
                    <a:pt x="198772" y="123816"/>
                    <a:pt x="197387" y="131688"/>
                    <a:pt x="194971" y="137823"/>
                  </a:cubicBezTo>
                  <a:cubicBezTo>
                    <a:pt x="190157" y="150075"/>
                    <a:pt x="183298" y="160952"/>
                    <a:pt x="174394" y="170453"/>
                  </a:cubicBezTo>
                  <a:cubicBezTo>
                    <a:pt x="157129" y="188840"/>
                    <a:pt x="135756" y="199273"/>
                    <a:pt x="110275" y="201753"/>
                  </a:cubicBezTo>
                  <a:cubicBezTo>
                    <a:pt x="85246" y="204196"/>
                    <a:pt x="62145" y="197979"/>
                    <a:pt x="40971" y="183103"/>
                  </a:cubicBezTo>
                  <a:cubicBezTo>
                    <a:pt x="38582" y="181438"/>
                    <a:pt x="35804" y="179067"/>
                    <a:pt x="32637" y="175991"/>
                  </a:cubicBezTo>
                  <a:cubicBezTo>
                    <a:pt x="28456" y="171946"/>
                    <a:pt x="24058" y="169096"/>
                    <a:pt x="21670" y="164616"/>
                  </a:cubicBezTo>
                  <a:cubicBezTo>
                    <a:pt x="21561" y="164417"/>
                    <a:pt x="19407" y="161078"/>
                    <a:pt x="15209" y="154599"/>
                  </a:cubicBezTo>
                  <a:cubicBezTo>
                    <a:pt x="12766" y="150817"/>
                    <a:pt x="10865" y="147406"/>
                    <a:pt x="9508" y="144365"/>
                  </a:cubicBezTo>
                  <a:cubicBezTo>
                    <a:pt x="-3124" y="115934"/>
                    <a:pt x="-3169" y="87250"/>
                    <a:pt x="9372" y="58312"/>
                  </a:cubicBezTo>
                  <a:cubicBezTo>
                    <a:pt x="14222" y="47127"/>
                    <a:pt x="22032" y="36423"/>
                    <a:pt x="32800" y="26198"/>
                  </a:cubicBezTo>
                  <a:cubicBezTo>
                    <a:pt x="48870" y="10942"/>
                    <a:pt x="68008" y="2345"/>
                    <a:pt x="90214" y="409"/>
                  </a:cubicBezTo>
                  <a:cubicBezTo>
                    <a:pt x="108456" y="-1202"/>
                    <a:pt x="126038" y="1947"/>
                    <a:pt x="142959" y="9856"/>
                  </a:cubicBezTo>
                  <a:cubicBezTo>
                    <a:pt x="166160" y="20732"/>
                    <a:pt x="182963" y="38052"/>
                    <a:pt x="193370" y="61814"/>
                  </a:cubicBezTo>
                  <a:cubicBezTo>
                    <a:pt x="197405" y="71007"/>
                    <a:pt x="199993" y="82590"/>
                    <a:pt x="201133" y="96561"/>
                  </a:cubicBezTo>
                  <a:close/>
                  <a:moveTo>
                    <a:pt x="25796" y="67433"/>
                  </a:moveTo>
                  <a:cubicBezTo>
                    <a:pt x="14666" y="92543"/>
                    <a:pt x="16946" y="122078"/>
                    <a:pt x="32012" y="145587"/>
                  </a:cubicBezTo>
                  <a:cubicBezTo>
                    <a:pt x="32465" y="146294"/>
                    <a:pt x="33396" y="146509"/>
                    <a:pt x="34092" y="146066"/>
                  </a:cubicBezTo>
                  <a:cubicBezTo>
                    <a:pt x="34163" y="146021"/>
                    <a:pt x="34230" y="145970"/>
                    <a:pt x="34293" y="145913"/>
                  </a:cubicBezTo>
                  <a:cubicBezTo>
                    <a:pt x="43920" y="137443"/>
                    <a:pt x="62308" y="121001"/>
                    <a:pt x="89454" y="96588"/>
                  </a:cubicBezTo>
                  <a:cubicBezTo>
                    <a:pt x="89689" y="96389"/>
                    <a:pt x="89861" y="96172"/>
                    <a:pt x="89970" y="95936"/>
                  </a:cubicBezTo>
                  <a:cubicBezTo>
                    <a:pt x="90096" y="95647"/>
                    <a:pt x="90160" y="95348"/>
                    <a:pt x="90160" y="95041"/>
                  </a:cubicBezTo>
                  <a:cubicBezTo>
                    <a:pt x="90015" y="58538"/>
                    <a:pt x="89843" y="33871"/>
                    <a:pt x="89644" y="21040"/>
                  </a:cubicBezTo>
                  <a:cubicBezTo>
                    <a:pt x="89642" y="20215"/>
                    <a:pt x="88961" y="19550"/>
                    <a:pt x="88121" y="19554"/>
                  </a:cubicBezTo>
                  <a:cubicBezTo>
                    <a:pt x="88040" y="19554"/>
                    <a:pt x="87959" y="19561"/>
                    <a:pt x="87879" y="19574"/>
                  </a:cubicBezTo>
                  <a:cubicBezTo>
                    <a:pt x="60353" y="24189"/>
                    <a:pt x="36926" y="42323"/>
                    <a:pt x="25796" y="67433"/>
                  </a:cubicBezTo>
                  <a:close/>
                  <a:moveTo>
                    <a:pt x="109461" y="92082"/>
                  </a:moveTo>
                  <a:cubicBezTo>
                    <a:pt x="109515" y="92136"/>
                    <a:pt x="109614" y="92172"/>
                    <a:pt x="109759" y="92190"/>
                  </a:cubicBezTo>
                  <a:cubicBezTo>
                    <a:pt x="138516" y="95973"/>
                    <a:pt x="161998" y="98941"/>
                    <a:pt x="180204" y="101094"/>
                  </a:cubicBezTo>
                  <a:cubicBezTo>
                    <a:pt x="181127" y="101203"/>
                    <a:pt x="181588" y="100796"/>
                    <a:pt x="181588" y="99873"/>
                  </a:cubicBezTo>
                  <a:cubicBezTo>
                    <a:pt x="181615" y="79920"/>
                    <a:pt x="174313" y="61271"/>
                    <a:pt x="160957" y="46259"/>
                  </a:cubicBezTo>
                  <a:cubicBezTo>
                    <a:pt x="147574" y="31247"/>
                    <a:pt x="129902" y="21827"/>
                    <a:pt x="110085" y="19547"/>
                  </a:cubicBezTo>
                  <a:cubicBezTo>
                    <a:pt x="109162" y="19438"/>
                    <a:pt x="108700" y="19855"/>
                    <a:pt x="108700" y="20796"/>
                  </a:cubicBezTo>
                  <a:cubicBezTo>
                    <a:pt x="108737" y="39128"/>
                    <a:pt x="108972" y="62791"/>
                    <a:pt x="109406" y="91783"/>
                  </a:cubicBezTo>
                  <a:cubicBezTo>
                    <a:pt x="109406" y="91946"/>
                    <a:pt x="109424" y="92045"/>
                    <a:pt x="109461" y="92082"/>
                  </a:cubicBezTo>
                  <a:close/>
                  <a:moveTo>
                    <a:pt x="124065" y="179927"/>
                  </a:moveTo>
                  <a:cubicBezTo>
                    <a:pt x="150614" y="172027"/>
                    <a:pt x="171788" y="150908"/>
                    <a:pt x="179932" y="123979"/>
                  </a:cubicBezTo>
                  <a:cubicBezTo>
                    <a:pt x="180169" y="123158"/>
                    <a:pt x="179708" y="122302"/>
                    <a:pt x="178902" y="122066"/>
                  </a:cubicBezTo>
                  <a:cubicBezTo>
                    <a:pt x="178839" y="122048"/>
                    <a:pt x="178775" y="122034"/>
                    <a:pt x="178711" y="122024"/>
                  </a:cubicBezTo>
                  <a:cubicBezTo>
                    <a:pt x="165898" y="120178"/>
                    <a:pt x="141240" y="116830"/>
                    <a:pt x="104737" y="111980"/>
                  </a:cubicBezTo>
                  <a:cubicBezTo>
                    <a:pt x="104429" y="111944"/>
                    <a:pt x="104122" y="111971"/>
                    <a:pt x="103814" y="112061"/>
                  </a:cubicBezTo>
                  <a:cubicBezTo>
                    <a:pt x="103579" y="112134"/>
                    <a:pt x="103335" y="112269"/>
                    <a:pt x="103081" y="112469"/>
                  </a:cubicBezTo>
                  <a:cubicBezTo>
                    <a:pt x="75175" y="136484"/>
                    <a:pt x="56362" y="152772"/>
                    <a:pt x="46644" y="161332"/>
                  </a:cubicBezTo>
                  <a:cubicBezTo>
                    <a:pt x="46013" y="161886"/>
                    <a:pt x="45961" y="162855"/>
                    <a:pt x="46526" y="163495"/>
                  </a:cubicBezTo>
                  <a:cubicBezTo>
                    <a:pt x="46571" y="163546"/>
                    <a:pt x="46620" y="163594"/>
                    <a:pt x="46671" y="163639"/>
                  </a:cubicBezTo>
                  <a:cubicBezTo>
                    <a:pt x="68253" y="181719"/>
                    <a:pt x="97489" y="187827"/>
                    <a:pt x="124065" y="179927"/>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6" name="Free-form: Shape 1851">
              <a:extLst>
                <a:ext uri="{FF2B5EF4-FFF2-40B4-BE49-F238E27FC236}">
                  <a16:creationId xmlns:a16="http://schemas.microsoft.com/office/drawing/2014/main" id="{B6599B69-2544-B58B-C21B-F8AD3BC9FA51}"/>
                </a:ext>
              </a:extLst>
            </p:cNvPr>
            <p:cNvSpPr/>
            <p:nvPr/>
          </p:nvSpPr>
          <p:spPr>
            <a:xfrm>
              <a:off x="3743325" y="6269236"/>
              <a:ext cx="233043" cy="140346"/>
            </a:xfrm>
            <a:custGeom>
              <a:avLst/>
              <a:gdLst>
                <a:gd name="connsiteX0" fmla="*/ 0 w 233043"/>
                <a:gd name="connsiteY0" fmla="*/ 112914 h 140346"/>
                <a:gd name="connsiteX1" fmla="*/ 0 w 233043"/>
                <a:gd name="connsiteY1" fmla="*/ 109222 h 140346"/>
                <a:gd name="connsiteX2" fmla="*/ 39036 w 233043"/>
                <a:gd name="connsiteY2" fmla="*/ 82809 h 140346"/>
                <a:gd name="connsiteX3" fmla="*/ 40964 w 233043"/>
                <a:gd name="connsiteY3" fmla="*/ 82130 h 140346"/>
                <a:gd name="connsiteX4" fmla="*/ 55053 w 233043"/>
                <a:gd name="connsiteY4" fmla="*/ 65326 h 140346"/>
                <a:gd name="connsiteX5" fmla="*/ 55405 w 233043"/>
                <a:gd name="connsiteY5" fmla="*/ 62883 h 140346"/>
                <a:gd name="connsiteX6" fmla="*/ 60618 w 233043"/>
                <a:gd name="connsiteY6" fmla="*/ 27620 h 140346"/>
                <a:gd name="connsiteX7" fmla="*/ 100848 w 233043"/>
                <a:gd name="connsiteY7" fmla="*/ 26263 h 140346"/>
                <a:gd name="connsiteX8" fmla="*/ 111001 w 233043"/>
                <a:gd name="connsiteY8" fmla="*/ 48876 h 140346"/>
                <a:gd name="connsiteX9" fmla="*/ 110187 w 233043"/>
                <a:gd name="connsiteY9" fmla="*/ 54169 h 140346"/>
                <a:gd name="connsiteX10" fmla="*/ 111381 w 233043"/>
                <a:gd name="connsiteY10" fmla="*/ 56178 h 140346"/>
                <a:gd name="connsiteX11" fmla="*/ 128809 w 233043"/>
                <a:gd name="connsiteY11" fmla="*/ 66249 h 140346"/>
                <a:gd name="connsiteX12" fmla="*/ 131361 w 233043"/>
                <a:gd name="connsiteY12" fmla="*/ 66086 h 140346"/>
                <a:gd name="connsiteX13" fmla="*/ 160950 w 233043"/>
                <a:gd name="connsiteY13" fmla="*/ 62150 h 140346"/>
                <a:gd name="connsiteX14" fmla="*/ 162986 w 233043"/>
                <a:gd name="connsiteY14" fmla="*/ 61417 h 140346"/>
                <a:gd name="connsiteX15" fmla="*/ 173627 w 233043"/>
                <a:gd name="connsiteY15" fmla="*/ 48387 h 140346"/>
                <a:gd name="connsiteX16" fmla="*/ 175012 w 233043"/>
                <a:gd name="connsiteY16" fmla="*/ 43012 h 140346"/>
                <a:gd name="connsiteX17" fmla="*/ 183237 w 233043"/>
                <a:gd name="connsiteY17" fmla="*/ 6365 h 140346"/>
                <a:gd name="connsiteX18" fmla="*/ 205986 w 233043"/>
                <a:gd name="connsiteY18" fmla="*/ 230 h 140346"/>
                <a:gd name="connsiteX19" fmla="*/ 225368 w 233043"/>
                <a:gd name="connsiteY19" fmla="*/ 10084 h 140346"/>
                <a:gd name="connsiteX20" fmla="*/ 223794 w 233043"/>
                <a:gd name="connsiteY20" fmla="*/ 50477 h 140346"/>
                <a:gd name="connsiteX21" fmla="*/ 191951 w 233043"/>
                <a:gd name="connsiteY21" fmla="*/ 57400 h 140346"/>
                <a:gd name="connsiteX22" fmla="*/ 189861 w 233043"/>
                <a:gd name="connsiteY22" fmla="*/ 58078 h 140346"/>
                <a:gd name="connsiteX23" fmla="*/ 177319 w 233043"/>
                <a:gd name="connsiteY23" fmla="*/ 73036 h 140346"/>
                <a:gd name="connsiteX24" fmla="*/ 176423 w 233043"/>
                <a:gd name="connsiteY24" fmla="*/ 78384 h 140346"/>
                <a:gd name="connsiteX25" fmla="*/ 177401 w 233043"/>
                <a:gd name="connsiteY25" fmla="*/ 99884 h 140346"/>
                <a:gd name="connsiteX26" fmla="*/ 126637 w 233043"/>
                <a:gd name="connsiteY26" fmla="*/ 110199 h 140346"/>
                <a:gd name="connsiteX27" fmla="*/ 120339 w 233043"/>
                <a:gd name="connsiteY27" fmla="*/ 84682 h 140346"/>
                <a:gd name="connsiteX28" fmla="*/ 119443 w 233043"/>
                <a:gd name="connsiteY28" fmla="*/ 82836 h 140346"/>
                <a:gd name="connsiteX29" fmla="*/ 101364 w 233043"/>
                <a:gd name="connsiteY29" fmla="*/ 72384 h 140346"/>
                <a:gd name="connsiteX30" fmla="*/ 98622 w 233043"/>
                <a:gd name="connsiteY30" fmla="*/ 72493 h 140346"/>
                <a:gd name="connsiteX31" fmla="*/ 71612 w 233043"/>
                <a:gd name="connsiteY31" fmla="*/ 76321 h 140346"/>
                <a:gd name="connsiteX32" fmla="*/ 69223 w 233043"/>
                <a:gd name="connsiteY32" fmla="*/ 76945 h 140346"/>
                <a:gd name="connsiteX33" fmla="*/ 65748 w 233043"/>
                <a:gd name="connsiteY33" fmla="*/ 82646 h 140346"/>
                <a:gd name="connsiteX34" fmla="*/ 65232 w 233043"/>
                <a:gd name="connsiteY34" fmla="*/ 83433 h 140346"/>
                <a:gd name="connsiteX35" fmla="*/ 55704 w 233043"/>
                <a:gd name="connsiteY35" fmla="*/ 93640 h 140346"/>
                <a:gd name="connsiteX36" fmla="*/ 55378 w 233043"/>
                <a:gd name="connsiteY36" fmla="*/ 96029 h 140346"/>
                <a:gd name="connsiteX37" fmla="*/ 57713 w 233043"/>
                <a:gd name="connsiteY37" fmla="*/ 120488 h 140346"/>
                <a:gd name="connsiteX38" fmla="*/ 41697 w 233043"/>
                <a:gd name="connsiteY38" fmla="*/ 137915 h 140346"/>
                <a:gd name="connsiteX39" fmla="*/ 20034 w 233043"/>
                <a:gd name="connsiteY39" fmla="*/ 138621 h 140346"/>
                <a:gd name="connsiteX40" fmla="*/ 0 w 233043"/>
                <a:gd name="connsiteY40" fmla="*/ 112914 h 140346"/>
                <a:gd name="connsiteX41" fmla="*/ 213966 w 233043"/>
                <a:gd name="connsiteY41" fmla="*/ 29343 h 140346"/>
                <a:gd name="connsiteX42" fmla="*/ 202101 w 233043"/>
                <a:gd name="connsiteY42" fmla="*/ 18825 h 140346"/>
                <a:gd name="connsiteX43" fmla="*/ 202101 w 233043"/>
                <a:gd name="connsiteY43" fmla="*/ 18825 h 140346"/>
                <a:gd name="connsiteX44" fmla="*/ 190459 w 233043"/>
                <a:gd name="connsiteY44" fmla="*/ 29589 h 140346"/>
                <a:gd name="connsiteX45" fmla="*/ 190459 w 233043"/>
                <a:gd name="connsiteY45" fmla="*/ 29589 h 140346"/>
                <a:gd name="connsiteX46" fmla="*/ 202323 w 233043"/>
                <a:gd name="connsiteY46" fmla="*/ 40107 h 140346"/>
                <a:gd name="connsiteX47" fmla="*/ 202324 w 233043"/>
                <a:gd name="connsiteY47" fmla="*/ 40107 h 140346"/>
                <a:gd name="connsiteX48" fmla="*/ 213966 w 233043"/>
                <a:gd name="connsiteY48" fmla="*/ 29343 h 140346"/>
                <a:gd name="connsiteX49" fmla="*/ 213966 w 233043"/>
                <a:gd name="connsiteY49" fmla="*/ 29343 h 140346"/>
                <a:gd name="connsiteX50" fmla="*/ 91971 w 233043"/>
                <a:gd name="connsiteY50" fmla="*/ 48469 h 140346"/>
                <a:gd name="connsiteX51" fmla="*/ 81439 w 233043"/>
                <a:gd name="connsiteY51" fmla="*/ 37936 h 140346"/>
                <a:gd name="connsiteX52" fmla="*/ 70906 w 233043"/>
                <a:gd name="connsiteY52" fmla="*/ 48469 h 140346"/>
                <a:gd name="connsiteX53" fmla="*/ 81439 w 233043"/>
                <a:gd name="connsiteY53" fmla="*/ 59001 h 140346"/>
                <a:gd name="connsiteX54" fmla="*/ 91971 w 233043"/>
                <a:gd name="connsiteY54" fmla="*/ 48469 h 140346"/>
                <a:gd name="connsiteX55" fmla="*/ 149284 w 233043"/>
                <a:gd name="connsiteY55" fmla="*/ 102272 h 140346"/>
                <a:gd name="connsiteX56" fmla="*/ 159973 w 233043"/>
                <a:gd name="connsiteY56" fmla="*/ 90564 h 140346"/>
                <a:gd name="connsiteX57" fmla="*/ 149325 w 233043"/>
                <a:gd name="connsiteY57" fmla="*/ 78818 h 140346"/>
                <a:gd name="connsiteX58" fmla="*/ 149325 w 233043"/>
                <a:gd name="connsiteY58" fmla="*/ 78818 h 140346"/>
                <a:gd name="connsiteX59" fmla="*/ 138636 w 233043"/>
                <a:gd name="connsiteY59" fmla="*/ 90527 h 140346"/>
                <a:gd name="connsiteX60" fmla="*/ 149284 w 233043"/>
                <a:gd name="connsiteY60" fmla="*/ 102272 h 140346"/>
                <a:gd name="connsiteX61" fmla="*/ 149284 w 233043"/>
                <a:gd name="connsiteY61" fmla="*/ 102272 h 140346"/>
                <a:gd name="connsiteX62" fmla="*/ 40394 w 233043"/>
                <a:gd name="connsiteY62" fmla="*/ 110905 h 140346"/>
                <a:gd name="connsiteX63" fmla="*/ 29861 w 233043"/>
                <a:gd name="connsiteY63" fmla="*/ 100372 h 140346"/>
                <a:gd name="connsiteX64" fmla="*/ 19328 w 233043"/>
                <a:gd name="connsiteY64" fmla="*/ 110905 h 140346"/>
                <a:gd name="connsiteX65" fmla="*/ 29861 w 233043"/>
                <a:gd name="connsiteY65" fmla="*/ 121438 h 140346"/>
                <a:gd name="connsiteX66" fmla="*/ 40394 w 233043"/>
                <a:gd name="connsiteY66" fmla="*/ 110905 h 14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33043" h="140346">
                  <a:moveTo>
                    <a:pt x="0" y="112914"/>
                  </a:moveTo>
                  <a:lnTo>
                    <a:pt x="0" y="109222"/>
                  </a:lnTo>
                  <a:cubicBezTo>
                    <a:pt x="4669" y="87360"/>
                    <a:pt x="17681" y="78556"/>
                    <a:pt x="39036" y="82809"/>
                  </a:cubicBezTo>
                  <a:cubicBezTo>
                    <a:pt x="39814" y="82953"/>
                    <a:pt x="40457" y="82727"/>
                    <a:pt x="40964" y="82130"/>
                  </a:cubicBezTo>
                  <a:lnTo>
                    <a:pt x="55053" y="65326"/>
                  </a:lnTo>
                  <a:cubicBezTo>
                    <a:pt x="55668" y="64584"/>
                    <a:pt x="55786" y="63770"/>
                    <a:pt x="55405" y="62883"/>
                  </a:cubicBezTo>
                  <a:cubicBezTo>
                    <a:pt x="49506" y="49075"/>
                    <a:pt x="51243" y="37321"/>
                    <a:pt x="60618" y="27620"/>
                  </a:cubicBezTo>
                  <a:cubicBezTo>
                    <a:pt x="71259" y="16626"/>
                    <a:pt x="89121" y="16165"/>
                    <a:pt x="100848" y="26263"/>
                  </a:cubicBezTo>
                  <a:cubicBezTo>
                    <a:pt x="107273" y="31801"/>
                    <a:pt x="110657" y="39338"/>
                    <a:pt x="111001" y="48876"/>
                  </a:cubicBezTo>
                  <a:cubicBezTo>
                    <a:pt x="111055" y="50233"/>
                    <a:pt x="110159" y="52405"/>
                    <a:pt x="110187" y="54169"/>
                  </a:cubicBezTo>
                  <a:cubicBezTo>
                    <a:pt x="110205" y="55056"/>
                    <a:pt x="110603" y="55726"/>
                    <a:pt x="111381" y="56178"/>
                  </a:cubicBezTo>
                  <a:lnTo>
                    <a:pt x="128809" y="66249"/>
                  </a:lnTo>
                  <a:cubicBezTo>
                    <a:pt x="129696" y="66756"/>
                    <a:pt x="130546" y="66702"/>
                    <a:pt x="131361" y="66086"/>
                  </a:cubicBezTo>
                  <a:cubicBezTo>
                    <a:pt x="140247" y="59282"/>
                    <a:pt x="150110" y="57970"/>
                    <a:pt x="160950" y="62150"/>
                  </a:cubicBezTo>
                  <a:cubicBezTo>
                    <a:pt x="161855" y="62494"/>
                    <a:pt x="162534" y="62250"/>
                    <a:pt x="162986" y="61417"/>
                  </a:cubicBezTo>
                  <a:cubicBezTo>
                    <a:pt x="165628" y="56730"/>
                    <a:pt x="169175" y="52387"/>
                    <a:pt x="173627" y="48387"/>
                  </a:cubicBezTo>
                  <a:cubicBezTo>
                    <a:pt x="175582" y="46632"/>
                    <a:pt x="176043" y="44840"/>
                    <a:pt x="175012" y="43012"/>
                  </a:cubicBezTo>
                  <a:cubicBezTo>
                    <a:pt x="167519" y="29738"/>
                    <a:pt x="172270" y="14834"/>
                    <a:pt x="183237" y="6365"/>
                  </a:cubicBezTo>
                  <a:cubicBezTo>
                    <a:pt x="189752" y="1316"/>
                    <a:pt x="197335" y="-729"/>
                    <a:pt x="205986" y="230"/>
                  </a:cubicBezTo>
                  <a:cubicBezTo>
                    <a:pt x="213623" y="1062"/>
                    <a:pt x="220084" y="4347"/>
                    <a:pt x="225368" y="10084"/>
                  </a:cubicBezTo>
                  <a:cubicBezTo>
                    <a:pt x="236227" y="21865"/>
                    <a:pt x="235439" y="39402"/>
                    <a:pt x="223794" y="50477"/>
                  </a:cubicBezTo>
                  <a:cubicBezTo>
                    <a:pt x="215451" y="58404"/>
                    <a:pt x="204836" y="60712"/>
                    <a:pt x="191951" y="57400"/>
                  </a:cubicBezTo>
                  <a:cubicBezTo>
                    <a:pt x="191119" y="57183"/>
                    <a:pt x="190422" y="57409"/>
                    <a:pt x="189861" y="58078"/>
                  </a:cubicBezTo>
                  <a:lnTo>
                    <a:pt x="177319" y="73036"/>
                  </a:lnTo>
                  <a:cubicBezTo>
                    <a:pt x="176063" y="74525"/>
                    <a:pt x="175719" y="76577"/>
                    <a:pt x="176423" y="78384"/>
                  </a:cubicBezTo>
                  <a:cubicBezTo>
                    <a:pt x="179247" y="85605"/>
                    <a:pt x="179572" y="92771"/>
                    <a:pt x="177401" y="99884"/>
                  </a:cubicBezTo>
                  <a:cubicBezTo>
                    <a:pt x="170397" y="122904"/>
                    <a:pt x="141948" y="128957"/>
                    <a:pt x="126637" y="110199"/>
                  </a:cubicBezTo>
                  <a:cubicBezTo>
                    <a:pt x="120955" y="103250"/>
                    <a:pt x="118855" y="94744"/>
                    <a:pt x="120339" y="84682"/>
                  </a:cubicBezTo>
                  <a:cubicBezTo>
                    <a:pt x="120466" y="83867"/>
                    <a:pt x="120167" y="83252"/>
                    <a:pt x="119443" y="82836"/>
                  </a:cubicBezTo>
                  <a:lnTo>
                    <a:pt x="101364" y="72384"/>
                  </a:lnTo>
                  <a:cubicBezTo>
                    <a:pt x="100423" y="71841"/>
                    <a:pt x="99509" y="71878"/>
                    <a:pt x="98622" y="72493"/>
                  </a:cubicBezTo>
                  <a:cubicBezTo>
                    <a:pt x="90406" y="78085"/>
                    <a:pt x="81403" y="79361"/>
                    <a:pt x="71612" y="76321"/>
                  </a:cubicBezTo>
                  <a:cubicBezTo>
                    <a:pt x="70671" y="76031"/>
                    <a:pt x="69874" y="76239"/>
                    <a:pt x="69223" y="76945"/>
                  </a:cubicBezTo>
                  <a:cubicBezTo>
                    <a:pt x="67829" y="78411"/>
                    <a:pt x="66671" y="80311"/>
                    <a:pt x="65748" y="82646"/>
                  </a:cubicBezTo>
                  <a:cubicBezTo>
                    <a:pt x="65623" y="82933"/>
                    <a:pt x="65448" y="83199"/>
                    <a:pt x="65232" y="83433"/>
                  </a:cubicBezTo>
                  <a:lnTo>
                    <a:pt x="55704" y="93640"/>
                  </a:lnTo>
                  <a:cubicBezTo>
                    <a:pt x="55034" y="94364"/>
                    <a:pt x="54926" y="95160"/>
                    <a:pt x="55378" y="96029"/>
                  </a:cubicBezTo>
                  <a:cubicBezTo>
                    <a:pt x="59758" y="104517"/>
                    <a:pt x="60536" y="112669"/>
                    <a:pt x="57713" y="120488"/>
                  </a:cubicBezTo>
                  <a:cubicBezTo>
                    <a:pt x="54709" y="128794"/>
                    <a:pt x="49370" y="134604"/>
                    <a:pt x="41697" y="137915"/>
                  </a:cubicBezTo>
                  <a:cubicBezTo>
                    <a:pt x="34801" y="140902"/>
                    <a:pt x="27581" y="141137"/>
                    <a:pt x="20034" y="138621"/>
                  </a:cubicBezTo>
                  <a:cubicBezTo>
                    <a:pt x="9121" y="134966"/>
                    <a:pt x="2443" y="126396"/>
                    <a:pt x="0" y="112914"/>
                  </a:cubicBezTo>
                  <a:close/>
                  <a:moveTo>
                    <a:pt x="213966" y="29343"/>
                  </a:moveTo>
                  <a:cubicBezTo>
                    <a:pt x="213905" y="23466"/>
                    <a:pt x="208593" y="18757"/>
                    <a:pt x="202101" y="18825"/>
                  </a:cubicBezTo>
                  <a:cubicBezTo>
                    <a:pt x="202101" y="18825"/>
                    <a:pt x="202101" y="18825"/>
                    <a:pt x="202101" y="18825"/>
                  </a:cubicBezTo>
                  <a:cubicBezTo>
                    <a:pt x="195610" y="18893"/>
                    <a:pt x="190397" y="23712"/>
                    <a:pt x="190459" y="29589"/>
                  </a:cubicBezTo>
                  <a:cubicBezTo>
                    <a:pt x="190459" y="29589"/>
                    <a:pt x="190459" y="29589"/>
                    <a:pt x="190459" y="29589"/>
                  </a:cubicBezTo>
                  <a:cubicBezTo>
                    <a:pt x="190520" y="35466"/>
                    <a:pt x="195832" y="40175"/>
                    <a:pt x="202323" y="40107"/>
                  </a:cubicBezTo>
                  <a:cubicBezTo>
                    <a:pt x="202324" y="40107"/>
                    <a:pt x="202324" y="40107"/>
                    <a:pt x="202324" y="40107"/>
                  </a:cubicBezTo>
                  <a:cubicBezTo>
                    <a:pt x="208815" y="40039"/>
                    <a:pt x="214027" y="35220"/>
                    <a:pt x="213966" y="29343"/>
                  </a:cubicBezTo>
                  <a:cubicBezTo>
                    <a:pt x="213966" y="29343"/>
                    <a:pt x="213966" y="29343"/>
                    <a:pt x="213966" y="29343"/>
                  </a:cubicBezTo>
                  <a:close/>
                  <a:moveTo>
                    <a:pt x="91971" y="48469"/>
                  </a:moveTo>
                  <a:cubicBezTo>
                    <a:pt x="91971" y="42651"/>
                    <a:pt x="87256" y="37936"/>
                    <a:pt x="81439" y="37936"/>
                  </a:cubicBezTo>
                  <a:cubicBezTo>
                    <a:pt x="75622" y="37936"/>
                    <a:pt x="70906" y="42652"/>
                    <a:pt x="70906" y="48469"/>
                  </a:cubicBezTo>
                  <a:cubicBezTo>
                    <a:pt x="70906" y="54286"/>
                    <a:pt x="75622" y="59001"/>
                    <a:pt x="81439" y="59001"/>
                  </a:cubicBezTo>
                  <a:cubicBezTo>
                    <a:pt x="87256" y="59001"/>
                    <a:pt x="91971" y="54286"/>
                    <a:pt x="91971" y="48469"/>
                  </a:cubicBezTo>
                  <a:close/>
                  <a:moveTo>
                    <a:pt x="149284" y="102272"/>
                  </a:moveTo>
                  <a:cubicBezTo>
                    <a:pt x="155176" y="102283"/>
                    <a:pt x="159961" y="97041"/>
                    <a:pt x="159973" y="90564"/>
                  </a:cubicBezTo>
                  <a:cubicBezTo>
                    <a:pt x="159984" y="84087"/>
                    <a:pt x="155217" y="78828"/>
                    <a:pt x="149325" y="78818"/>
                  </a:cubicBezTo>
                  <a:cubicBezTo>
                    <a:pt x="149325" y="78818"/>
                    <a:pt x="149325" y="78818"/>
                    <a:pt x="149325" y="78818"/>
                  </a:cubicBezTo>
                  <a:cubicBezTo>
                    <a:pt x="143433" y="78808"/>
                    <a:pt x="138647" y="84050"/>
                    <a:pt x="138636" y="90527"/>
                  </a:cubicBezTo>
                  <a:cubicBezTo>
                    <a:pt x="138624" y="97003"/>
                    <a:pt x="143392" y="102262"/>
                    <a:pt x="149284" y="102272"/>
                  </a:cubicBezTo>
                  <a:cubicBezTo>
                    <a:pt x="149284" y="102272"/>
                    <a:pt x="149284" y="102272"/>
                    <a:pt x="149284" y="102272"/>
                  </a:cubicBezTo>
                  <a:close/>
                  <a:moveTo>
                    <a:pt x="40394" y="110905"/>
                  </a:moveTo>
                  <a:cubicBezTo>
                    <a:pt x="40394" y="105088"/>
                    <a:pt x="35678" y="100372"/>
                    <a:pt x="29861" y="100372"/>
                  </a:cubicBezTo>
                  <a:cubicBezTo>
                    <a:pt x="24044" y="100372"/>
                    <a:pt x="19328" y="105088"/>
                    <a:pt x="19328" y="110905"/>
                  </a:cubicBezTo>
                  <a:cubicBezTo>
                    <a:pt x="19328" y="116722"/>
                    <a:pt x="24044" y="121438"/>
                    <a:pt x="29861" y="121438"/>
                  </a:cubicBezTo>
                  <a:cubicBezTo>
                    <a:pt x="35678" y="121438"/>
                    <a:pt x="40394" y="116722"/>
                    <a:pt x="40394" y="110905"/>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7" name="Free-form: Shape 1852">
              <a:extLst>
                <a:ext uri="{FF2B5EF4-FFF2-40B4-BE49-F238E27FC236}">
                  <a16:creationId xmlns:a16="http://schemas.microsoft.com/office/drawing/2014/main" id="{32EDB916-55DD-F1E3-044A-6F50A6BFA235}"/>
                </a:ext>
              </a:extLst>
            </p:cNvPr>
            <p:cNvSpPr/>
            <p:nvPr/>
          </p:nvSpPr>
          <p:spPr>
            <a:xfrm>
              <a:off x="3893959" y="6350544"/>
              <a:ext cx="388245" cy="289124"/>
            </a:xfrm>
            <a:custGeom>
              <a:avLst/>
              <a:gdLst>
                <a:gd name="connsiteX0" fmla="*/ 331618 w 388245"/>
                <a:gd name="connsiteY0" fmla="*/ 217205 h 289124"/>
                <a:gd name="connsiteX1" fmla="*/ 346169 w 388245"/>
                <a:gd name="connsiteY1" fmla="*/ 216960 h 289124"/>
                <a:gd name="connsiteX2" fmla="*/ 363624 w 388245"/>
                <a:gd name="connsiteY2" fmla="*/ 233357 h 289124"/>
                <a:gd name="connsiteX3" fmla="*/ 357597 w 388245"/>
                <a:gd name="connsiteY3" fmla="*/ 245382 h 289124"/>
                <a:gd name="connsiteX4" fmla="*/ 329610 w 388245"/>
                <a:gd name="connsiteY4" fmla="*/ 281134 h 289124"/>
                <a:gd name="connsiteX5" fmla="*/ 304038 w 388245"/>
                <a:gd name="connsiteY5" fmla="*/ 289088 h 289124"/>
                <a:gd name="connsiteX6" fmla="*/ 67893 w 388245"/>
                <a:gd name="connsiteY6" fmla="*/ 289115 h 289124"/>
                <a:gd name="connsiteX7" fmla="*/ 59043 w 388245"/>
                <a:gd name="connsiteY7" fmla="*/ 283143 h 289124"/>
                <a:gd name="connsiteX8" fmla="*/ 28205 w 388245"/>
                <a:gd name="connsiteY8" fmla="*/ 245274 h 289124"/>
                <a:gd name="connsiteX9" fmla="*/ 21988 w 388245"/>
                <a:gd name="connsiteY9" fmla="*/ 233710 h 289124"/>
                <a:gd name="connsiteX10" fmla="*/ 27146 w 388245"/>
                <a:gd name="connsiteY10" fmla="*/ 220516 h 289124"/>
                <a:gd name="connsiteX11" fmla="*/ 56138 w 388245"/>
                <a:gd name="connsiteY11" fmla="*/ 216933 h 289124"/>
                <a:gd name="connsiteX12" fmla="*/ 58392 w 388245"/>
                <a:gd name="connsiteY12" fmla="*/ 214707 h 289124"/>
                <a:gd name="connsiteX13" fmla="*/ 58392 w 388245"/>
                <a:gd name="connsiteY13" fmla="*/ 192936 h 289124"/>
                <a:gd name="connsiteX14" fmla="*/ 55215 w 388245"/>
                <a:gd name="connsiteY14" fmla="*/ 189760 h 289124"/>
                <a:gd name="connsiteX15" fmla="*/ 679 w 388245"/>
                <a:gd name="connsiteY15" fmla="*/ 189760 h 289124"/>
                <a:gd name="connsiteX16" fmla="*/ 0 w 388245"/>
                <a:gd name="connsiteY16" fmla="*/ 189081 h 289124"/>
                <a:gd name="connsiteX17" fmla="*/ 0 w 388245"/>
                <a:gd name="connsiteY17" fmla="*/ 172142 h 289124"/>
                <a:gd name="connsiteX18" fmla="*/ 1357 w 388245"/>
                <a:gd name="connsiteY18" fmla="*/ 170784 h 289124"/>
                <a:gd name="connsiteX19" fmla="*/ 18921 w 388245"/>
                <a:gd name="connsiteY19" fmla="*/ 170784 h 289124"/>
                <a:gd name="connsiteX20" fmla="*/ 20441 w 388245"/>
                <a:gd name="connsiteY20" fmla="*/ 169265 h 289124"/>
                <a:gd name="connsiteX21" fmla="*/ 20441 w 388245"/>
                <a:gd name="connsiteY21" fmla="*/ 169237 h 289124"/>
                <a:gd name="connsiteX22" fmla="*/ 20550 w 388245"/>
                <a:gd name="connsiteY22" fmla="*/ 121161 h 289124"/>
                <a:gd name="connsiteX23" fmla="*/ 68897 w 388245"/>
                <a:gd name="connsiteY23" fmla="*/ 28511 h 289124"/>
                <a:gd name="connsiteX24" fmla="*/ 125578 w 388245"/>
                <a:gd name="connsiteY24" fmla="*/ 1718 h 289124"/>
                <a:gd name="connsiteX25" fmla="*/ 141133 w 388245"/>
                <a:gd name="connsiteY25" fmla="*/ 3374 h 289124"/>
                <a:gd name="connsiteX26" fmla="*/ 192901 w 388245"/>
                <a:gd name="connsiteY26" fmla="*/ 42763 h 289124"/>
                <a:gd name="connsiteX27" fmla="*/ 195996 w 388245"/>
                <a:gd name="connsiteY27" fmla="*/ 42763 h 289124"/>
                <a:gd name="connsiteX28" fmla="*/ 250343 w 388245"/>
                <a:gd name="connsiteY28" fmla="*/ 1473 h 289124"/>
                <a:gd name="connsiteX29" fmla="*/ 256803 w 388245"/>
                <a:gd name="connsiteY29" fmla="*/ 985 h 289124"/>
                <a:gd name="connsiteX30" fmla="*/ 337129 w 388245"/>
                <a:gd name="connsiteY30" fmla="*/ 46753 h 289124"/>
                <a:gd name="connsiteX31" fmla="*/ 367804 w 388245"/>
                <a:gd name="connsiteY31" fmla="*/ 125342 h 289124"/>
                <a:gd name="connsiteX32" fmla="*/ 367913 w 388245"/>
                <a:gd name="connsiteY32" fmla="*/ 169291 h 289124"/>
                <a:gd name="connsiteX33" fmla="*/ 369189 w 388245"/>
                <a:gd name="connsiteY33" fmla="*/ 170784 h 289124"/>
                <a:gd name="connsiteX34" fmla="*/ 387567 w 388245"/>
                <a:gd name="connsiteY34" fmla="*/ 170784 h 289124"/>
                <a:gd name="connsiteX35" fmla="*/ 388245 w 388245"/>
                <a:gd name="connsiteY35" fmla="*/ 171463 h 289124"/>
                <a:gd name="connsiteX36" fmla="*/ 388245 w 388245"/>
                <a:gd name="connsiteY36" fmla="*/ 189081 h 289124"/>
                <a:gd name="connsiteX37" fmla="*/ 387594 w 388245"/>
                <a:gd name="connsiteY37" fmla="*/ 189733 h 289124"/>
                <a:gd name="connsiteX38" fmla="*/ 330940 w 388245"/>
                <a:gd name="connsiteY38" fmla="*/ 189733 h 289124"/>
                <a:gd name="connsiteX39" fmla="*/ 326922 w 388245"/>
                <a:gd name="connsiteY39" fmla="*/ 193777 h 289124"/>
                <a:gd name="connsiteX40" fmla="*/ 327085 w 388245"/>
                <a:gd name="connsiteY40" fmla="*/ 213648 h 289124"/>
                <a:gd name="connsiteX41" fmla="*/ 331618 w 388245"/>
                <a:gd name="connsiteY41" fmla="*/ 217205 h 289124"/>
                <a:gd name="connsiteX42" fmla="*/ 201615 w 388245"/>
                <a:gd name="connsiteY42" fmla="*/ 62172 h 289124"/>
                <a:gd name="connsiteX43" fmla="*/ 189128 w 388245"/>
                <a:gd name="connsiteY43" fmla="*/ 63448 h 289124"/>
                <a:gd name="connsiteX44" fmla="*/ 132501 w 388245"/>
                <a:gd name="connsiteY44" fmla="*/ 20693 h 289124"/>
                <a:gd name="connsiteX45" fmla="*/ 130655 w 388245"/>
                <a:gd name="connsiteY45" fmla="*/ 20313 h 289124"/>
                <a:gd name="connsiteX46" fmla="*/ 51062 w 388245"/>
                <a:gd name="connsiteY46" fmla="*/ 76533 h 289124"/>
                <a:gd name="connsiteX47" fmla="*/ 39606 w 388245"/>
                <a:gd name="connsiteY47" fmla="*/ 119885 h 289124"/>
                <a:gd name="connsiteX48" fmla="*/ 39579 w 388245"/>
                <a:gd name="connsiteY48" fmla="*/ 167717 h 289124"/>
                <a:gd name="connsiteX49" fmla="*/ 42837 w 388245"/>
                <a:gd name="connsiteY49" fmla="*/ 170920 h 289124"/>
                <a:gd name="connsiteX50" fmla="*/ 54944 w 388245"/>
                <a:gd name="connsiteY50" fmla="*/ 170920 h 289124"/>
                <a:gd name="connsiteX51" fmla="*/ 58202 w 388245"/>
                <a:gd name="connsiteY51" fmla="*/ 167527 h 289124"/>
                <a:gd name="connsiteX52" fmla="*/ 58392 w 388245"/>
                <a:gd name="connsiteY52" fmla="*/ 113180 h 289124"/>
                <a:gd name="connsiteX53" fmla="*/ 61622 w 388245"/>
                <a:gd name="connsiteY53" fmla="*/ 99471 h 289124"/>
                <a:gd name="connsiteX54" fmla="*/ 75358 w 388245"/>
                <a:gd name="connsiteY54" fmla="*/ 92033 h 289124"/>
                <a:gd name="connsiteX55" fmla="*/ 307133 w 388245"/>
                <a:gd name="connsiteY55" fmla="*/ 92060 h 289124"/>
                <a:gd name="connsiteX56" fmla="*/ 324886 w 388245"/>
                <a:gd name="connsiteY56" fmla="*/ 100476 h 289124"/>
                <a:gd name="connsiteX57" fmla="*/ 327139 w 388245"/>
                <a:gd name="connsiteY57" fmla="*/ 114076 h 289124"/>
                <a:gd name="connsiteX58" fmla="*/ 327194 w 388245"/>
                <a:gd name="connsiteY58" fmla="*/ 169346 h 289124"/>
                <a:gd name="connsiteX59" fmla="*/ 328632 w 388245"/>
                <a:gd name="connsiteY59" fmla="*/ 170757 h 289124"/>
                <a:gd name="connsiteX60" fmla="*/ 347580 w 388245"/>
                <a:gd name="connsiteY60" fmla="*/ 170757 h 289124"/>
                <a:gd name="connsiteX61" fmla="*/ 348965 w 388245"/>
                <a:gd name="connsiteY61" fmla="*/ 169373 h 289124"/>
                <a:gd name="connsiteX62" fmla="*/ 348802 w 388245"/>
                <a:gd name="connsiteY62" fmla="*/ 124717 h 289124"/>
                <a:gd name="connsiteX63" fmla="*/ 325999 w 388245"/>
                <a:gd name="connsiteY63" fmla="*/ 62878 h 289124"/>
                <a:gd name="connsiteX64" fmla="*/ 258378 w 388245"/>
                <a:gd name="connsiteY64" fmla="*/ 21209 h 289124"/>
                <a:gd name="connsiteX65" fmla="*/ 254822 w 388245"/>
                <a:gd name="connsiteY65" fmla="*/ 21914 h 289124"/>
                <a:gd name="connsiteX66" fmla="*/ 201615 w 388245"/>
                <a:gd name="connsiteY66" fmla="*/ 62172 h 289124"/>
                <a:gd name="connsiteX67" fmla="*/ 308137 w 388245"/>
                <a:gd name="connsiteY67" fmla="*/ 112447 h 289124"/>
                <a:gd name="connsiteX68" fmla="*/ 306725 w 388245"/>
                <a:gd name="connsiteY68" fmla="*/ 111036 h 289124"/>
                <a:gd name="connsiteX69" fmla="*/ 78806 w 388245"/>
                <a:gd name="connsiteY69" fmla="*/ 111036 h 289124"/>
                <a:gd name="connsiteX70" fmla="*/ 77394 w 388245"/>
                <a:gd name="connsiteY70" fmla="*/ 112447 h 289124"/>
                <a:gd name="connsiteX71" fmla="*/ 77394 w 388245"/>
                <a:gd name="connsiteY71" fmla="*/ 268701 h 289124"/>
                <a:gd name="connsiteX72" fmla="*/ 78806 w 388245"/>
                <a:gd name="connsiteY72" fmla="*/ 270113 h 289124"/>
                <a:gd name="connsiteX73" fmla="*/ 306725 w 388245"/>
                <a:gd name="connsiteY73" fmla="*/ 270113 h 289124"/>
                <a:gd name="connsiteX74" fmla="*/ 308137 w 388245"/>
                <a:gd name="connsiteY74" fmla="*/ 268701 h 289124"/>
                <a:gd name="connsiteX75" fmla="*/ 308137 w 388245"/>
                <a:gd name="connsiteY75" fmla="*/ 112447 h 289124"/>
                <a:gd name="connsiteX76" fmla="*/ 46366 w 388245"/>
                <a:gd name="connsiteY76" fmla="*/ 237374 h 289124"/>
                <a:gd name="connsiteX77" fmla="*/ 56790 w 388245"/>
                <a:gd name="connsiteY77" fmla="*/ 250459 h 289124"/>
                <a:gd name="connsiteX78" fmla="*/ 58473 w 388245"/>
                <a:gd name="connsiteY78" fmla="*/ 249862 h 289124"/>
                <a:gd name="connsiteX79" fmla="*/ 58229 w 388245"/>
                <a:gd name="connsiteY79" fmla="*/ 237021 h 289124"/>
                <a:gd name="connsiteX80" fmla="*/ 56953 w 388245"/>
                <a:gd name="connsiteY80" fmla="*/ 235773 h 289124"/>
                <a:gd name="connsiteX81" fmla="*/ 47044 w 388245"/>
                <a:gd name="connsiteY81" fmla="*/ 235963 h 289124"/>
                <a:gd name="connsiteX82" fmla="*/ 46366 w 388245"/>
                <a:gd name="connsiteY82" fmla="*/ 237374 h 289124"/>
                <a:gd name="connsiteX83" fmla="*/ 339572 w 388245"/>
                <a:gd name="connsiteY83" fmla="*/ 237374 h 289124"/>
                <a:gd name="connsiteX84" fmla="*/ 338839 w 388245"/>
                <a:gd name="connsiteY84" fmla="*/ 235908 h 289124"/>
                <a:gd name="connsiteX85" fmla="*/ 328469 w 388245"/>
                <a:gd name="connsiteY85" fmla="*/ 235908 h 289124"/>
                <a:gd name="connsiteX86" fmla="*/ 327166 w 388245"/>
                <a:gd name="connsiteY86" fmla="*/ 237239 h 289124"/>
                <a:gd name="connsiteX87" fmla="*/ 327166 w 388245"/>
                <a:gd name="connsiteY87" fmla="*/ 250649 h 289124"/>
                <a:gd name="connsiteX88" fmla="*/ 328931 w 388245"/>
                <a:gd name="connsiteY88" fmla="*/ 251246 h 289124"/>
                <a:gd name="connsiteX89" fmla="*/ 339572 w 388245"/>
                <a:gd name="connsiteY89" fmla="*/ 237374 h 28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88245" h="289124">
                  <a:moveTo>
                    <a:pt x="331618" y="217205"/>
                  </a:moveTo>
                  <a:cubicBezTo>
                    <a:pt x="331817" y="217168"/>
                    <a:pt x="336668" y="217087"/>
                    <a:pt x="346169" y="216960"/>
                  </a:cubicBezTo>
                  <a:cubicBezTo>
                    <a:pt x="356294" y="216825"/>
                    <a:pt x="364927" y="222987"/>
                    <a:pt x="363624" y="233357"/>
                  </a:cubicBezTo>
                  <a:cubicBezTo>
                    <a:pt x="363189" y="236868"/>
                    <a:pt x="361181" y="240876"/>
                    <a:pt x="357597" y="245382"/>
                  </a:cubicBezTo>
                  <a:cubicBezTo>
                    <a:pt x="354267" y="249581"/>
                    <a:pt x="344938" y="261498"/>
                    <a:pt x="329610" y="281134"/>
                  </a:cubicBezTo>
                  <a:cubicBezTo>
                    <a:pt x="322796" y="289848"/>
                    <a:pt x="316091" y="289088"/>
                    <a:pt x="304038" y="289088"/>
                  </a:cubicBezTo>
                  <a:cubicBezTo>
                    <a:pt x="225314" y="289124"/>
                    <a:pt x="146599" y="289133"/>
                    <a:pt x="67893" y="289115"/>
                  </a:cubicBezTo>
                  <a:cubicBezTo>
                    <a:pt x="65214" y="289115"/>
                    <a:pt x="62264" y="287124"/>
                    <a:pt x="59043" y="283143"/>
                  </a:cubicBezTo>
                  <a:cubicBezTo>
                    <a:pt x="45995" y="267054"/>
                    <a:pt x="35715" y="254431"/>
                    <a:pt x="28205" y="245274"/>
                  </a:cubicBezTo>
                  <a:cubicBezTo>
                    <a:pt x="24423" y="240659"/>
                    <a:pt x="22350" y="236804"/>
                    <a:pt x="21988" y="233710"/>
                  </a:cubicBezTo>
                  <a:cubicBezTo>
                    <a:pt x="21373" y="228552"/>
                    <a:pt x="23092" y="224154"/>
                    <a:pt x="27146" y="220516"/>
                  </a:cubicBezTo>
                  <a:cubicBezTo>
                    <a:pt x="32983" y="215304"/>
                    <a:pt x="45769" y="216825"/>
                    <a:pt x="56138" y="216933"/>
                  </a:cubicBezTo>
                  <a:cubicBezTo>
                    <a:pt x="57641" y="216951"/>
                    <a:pt x="58392" y="216209"/>
                    <a:pt x="58392" y="214707"/>
                  </a:cubicBezTo>
                  <a:lnTo>
                    <a:pt x="58392" y="192936"/>
                  </a:lnTo>
                  <a:cubicBezTo>
                    <a:pt x="58392" y="190818"/>
                    <a:pt x="57333" y="189760"/>
                    <a:pt x="55215" y="189760"/>
                  </a:cubicBezTo>
                  <a:lnTo>
                    <a:pt x="679" y="189760"/>
                  </a:lnTo>
                  <a:cubicBezTo>
                    <a:pt x="226" y="189760"/>
                    <a:pt x="0" y="189534"/>
                    <a:pt x="0" y="189081"/>
                  </a:cubicBezTo>
                  <a:lnTo>
                    <a:pt x="0" y="172142"/>
                  </a:lnTo>
                  <a:cubicBezTo>
                    <a:pt x="0" y="171237"/>
                    <a:pt x="452" y="170784"/>
                    <a:pt x="1357" y="170784"/>
                  </a:cubicBezTo>
                  <a:lnTo>
                    <a:pt x="18921" y="170784"/>
                  </a:lnTo>
                  <a:cubicBezTo>
                    <a:pt x="19760" y="170785"/>
                    <a:pt x="20441" y="170104"/>
                    <a:pt x="20441" y="169265"/>
                  </a:cubicBezTo>
                  <a:cubicBezTo>
                    <a:pt x="20441" y="169255"/>
                    <a:pt x="20441" y="169246"/>
                    <a:pt x="20441" y="169237"/>
                  </a:cubicBezTo>
                  <a:cubicBezTo>
                    <a:pt x="20170" y="151502"/>
                    <a:pt x="20206" y="135476"/>
                    <a:pt x="20550" y="121161"/>
                  </a:cubicBezTo>
                  <a:cubicBezTo>
                    <a:pt x="21491" y="82957"/>
                    <a:pt x="37607" y="52074"/>
                    <a:pt x="68897" y="28511"/>
                  </a:cubicBezTo>
                  <a:cubicBezTo>
                    <a:pt x="84751" y="16603"/>
                    <a:pt x="103644" y="7672"/>
                    <a:pt x="125578" y="1718"/>
                  </a:cubicBezTo>
                  <a:cubicBezTo>
                    <a:pt x="132338" y="-128"/>
                    <a:pt x="134591" y="-1567"/>
                    <a:pt x="141133" y="3374"/>
                  </a:cubicBezTo>
                  <a:cubicBezTo>
                    <a:pt x="156118" y="14739"/>
                    <a:pt x="173374" y="27869"/>
                    <a:pt x="192901" y="42763"/>
                  </a:cubicBezTo>
                  <a:cubicBezTo>
                    <a:pt x="193933" y="43559"/>
                    <a:pt x="194964" y="43559"/>
                    <a:pt x="195996" y="42763"/>
                  </a:cubicBezTo>
                  <a:cubicBezTo>
                    <a:pt x="210130" y="31940"/>
                    <a:pt x="228246" y="18177"/>
                    <a:pt x="250343" y="1473"/>
                  </a:cubicBezTo>
                  <a:cubicBezTo>
                    <a:pt x="251736" y="442"/>
                    <a:pt x="253890" y="279"/>
                    <a:pt x="256803" y="985"/>
                  </a:cubicBezTo>
                  <a:cubicBezTo>
                    <a:pt x="289578" y="8984"/>
                    <a:pt x="316353" y="24240"/>
                    <a:pt x="337129" y="46753"/>
                  </a:cubicBezTo>
                  <a:cubicBezTo>
                    <a:pt x="357543" y="68905"/>
                    <a:pt x="367768" y="95101"/>
                    <a:pt x="367804" y="125342"/>
                  </a:cubicBezTo>
                  <a:cubicBezTo>
                    <a:pt x="367841" y="153610"/>
                    <a:pt x="367877" y="168260"/>
                    <a:pt x="367913" y="169291"/>
                  </a:cubicBezTo>
                  <a:cubicBezTo>
                    <a:pt x="367931" y="170287"/>
                    <a:pt x="368356" y="170784"/>
                    <a:pt x="369189" y="170784"/>
                  </a:cubicBezTo>
                  <a:lnTo>
                    <a:pt x="387567" y="170784"/>
                  </a:lnTo>
                  <a:cubicBezTo>
                    <a:pt x="387942" y="170784"/>
                    <a:pt x="388245" y="171088"/>
                    <a:pt x="388245" y="171463"/>
                  </a:cubicBezTo>
                  <a:lnTo>
                    <a:pt x="388245" y="189081"/>
                  </a:lnTo>
                  <a:cubicBezTo>
                    <a:pt x="388245" y="189515"/>
                    <a:pt x="388028" y="189733"/>
                    <a:pt x="387594" y="189733"/>
                  </a:cubicBezTo>
                  <a:lnTo>
                    <a:pt x="330940" y="189733"/>
                  </a:lnTo>
                  <a:cubicBezTo>
                    <a:pt x="328243" y="189733"/>
                    <a:pt x="326904" y="191081"/>
                    <a:pt x="326922" y="193777"/>
                  </a:cubicBezTo>
                  <a:lnTo>
                    <a:pt x="327085" y="213648"/>
                  </a:lnTo>
                  <a:cubicBezTo>
                    <a:pt x="327121" y="216399"/>
                    <a:pt x="328632" y="217585"/>
                    <a:pt x="331618" y="217205"/>
                  </a:cubicBezTo>
                  <a:close/>
                  <a:moveTo>
                    <a:pt x="201615" y="62172"/>
                  </a:moveTo>
                  <a:cubicBezTo>
                    <a:pt x="197462" y="65267"/>
                    <a:pt x="193254" y="66190"/>
                    <a:pt x="189128" y="63448"/>
                  </a:cubicBezTo>
                  <a:cubicBezTo>
                    <a:pt x="186106" y="61457"/>
                    <a:pt x="167230" y="47206"/>
                    <a:pt x="132501" y="20693"/>
                  </a:cubicBezTo>
                  <a:cubicBezTo>
                    <a:pt x="131987" y="20299"/>
                    <a:pt x="131310" y="20159"/>
                    <a:pt x="130655" y="20313"/>
                  </a:cubicBezTo>
                  <a:cubicBezTo>
                    <a:pt x="98839" y="27941"/>
                    <a:pt x="66508" y="47731"/>
                    <a:pt x="51062" y="76533"/>
                  </a:cubicBezTo>
                  <a:cubicBezTo>
                    <a:pt x="43950" y="89780"/>
                    <a:pt x="40131" y="104231"/>
                    <a:pt x="39606" y="119885"/>
                  </a:cubicBezTo>
                  <a:cubicBezTo>
                    <a:pt x="39190" y="132716"/>
                    <a:pt x="39181" y="148660"/>
                    <a:pt x="39579" y="167717"/>
                  </a:cubicBezTo>
                  <a:cubicBezTo>
                    <a:pt x="39615" y="169853"/>
                    <a:pt x="40701" y="170920"/>
                    <a:pt x="42837" y="170920"/>
                  </a:cubicBezTo>
                  <a:lnTo>
                    <a:pt x="54944" y="170920"/>
                  </a:lnTo>
                  <a:cubicBezTo>
                    <a:pt x="57206" y="170920"/>
                    <a:pt x="58292" y="169789"/>
                    <a:pt x="58202" y="167527"/>
                  </a:cubicBezTo>
                  <a:cubicBezTo>
                    <a:pt x="57894" y="158189"/>
                    <a:pt x="57957" y="140073"/>
                    <a:pt x="58392" y="113180"/>
                  </a:cubicBezTo>
                  <a:cubicBezTo>
                    <a:pt x="58500" y="106810"/>
                    <a:pt x="59577" y="102240"/>
                    <a:pt x="61622" y="99471"/>
                  </a:cubicBezTo>
                  <a:cubicBezTo>
                    <a:pt x="65278" y="94513"/>
                    <a:pt x="69856" y="92033"/>
                    <a:pt x="75358" y="92033"/>
                  </a:cubicBezTo>
                  <a:cubicBezTo>
                    <a:pt x="152616" y="92015"/>
                    <a:pt x="229874" y="92024"/>
                    <a:pt x="307133" y="92060"/>
                  </a:cubicBezTo>
                  <a:cubicBezTo>
                    <a:pt x="315276" y="92060"/>
                    <a:pt x="320787" y="94015"/>
                    <a:pt x="324886" y="100476"/>
                  </a:cubicBezTo>
                  <a:cubicBezTo>
                    <a:pt x="326370" y="102847"/>
                    <a:pt x="327121" y="107380"/>
                    <a:pt x="327139" y="114076"/>
                  </a:cubicBezTo>
                  <a:cubicBezTo>
                    <a:pt x="327157" y="132481"/>
                    <a:pt x="327175" y="150904"/>
                    <a:pt x="327194" y="169346"/>
                  </a:cubicBezTo>
                  <a:cubicBezTo>
                    <a:pt x="327194" y="170287"/>
                    <a:pt x="327673" y="170757"/>
                    <a:pt x="328632" y="170757"/>
                  </a:cubicBezTo>
                  <a:lnTo>
                    <a:pt x="347580" y="170757"/>
                  </a:lnTo>
                  <a:cubicBezTo>
                    <a:pt x="348503" y="170757"/>
                    <a:pt x="348965" y="170296"/>
                    <a:pt x="348965" y="169373"/>
                  </a:cubicBezTo>
                  <a:cubicBezTo>
                    <a:pt x="348856" y="157374"/>
                    <a:pt x="348802" y="142489"/>
                    <a:pt x="348802" y="124717"/>
                  </a:cubicBezTo>
                  <a:cubicBezTo>
                    <a:pt x="348820" y="101263"/>
                    <a:pt x="341219" y="80650"/>
                    <a:pt x="325999" y="62878"/>
                  </a:cubicBezTo>
                  <a:cubicBezTo>
                    <a:pt x="308553" y="42518"/>
                    <a:pt x="286013" y="28629"/>
                    <a:pt x="258378" y="21209"/>
                  </a:cubicBezTo>
                  <a:cubicBezTo>
                    <a:pt x="257075" y="20847"/>
                    <a:pt x="255889" y="21082"/>
                    <a:pt x="254822" y="21914"/>
                  </a:cubicBezTo>
                  <a:cubicBezTo>
                    <a:pt x="232435" y="38962"/>
                    <a:pt x="214700" y="52382"/>
                    <a:pt x="201615" y="62172"/>
                  </a:cubicBezTo>
                  <a:close/>
                  <a:moveTo>
                    <a:pt x="308137" y="112447"/>
                  </a:moveTo>
                  <a:cubicBezTo>
                    <a:pt x="308137" y="111668"/>
                    <a:pt x="307505" y="111036"/>
                    <a:pt x="306725" y="111036"/>
                  </a:cubicBezTo>
                  <a:lnTo>
                    <a:pt x="78806" y="111036"/>
                  </a:lnTo>
                  <a:cubicBezTo>
                    <a:pt x="78026" y="111036"/>
                    <a:pt x="77394" y="111668"/>
                    <a:pt x="77394" y="112447"/>
                  </a:cubicBezTo>
                  <a:lnTo>
                    <a:pt x="77394" y="268701"/>
                  </a:lnTo>
                  <a:cubicBezTo>
                    <a:pt x="77394" y="269481"/>
                    <a:pt x="78026" y="270113"/>
                    <a:pt x="78806" y="270113"/>
                  </a:cubicBezTo>
                  <a:lnTo>
                    <a:pt x="306725" y="270113"/>
                  </a:lnTo>
                  <a:cubicBezTo>
                    <a:pt x="307505" y="270113"/>
                    <a:pt x="308137" y="269481"/>
                    <a:pt x="308137" y="268701"/>
                  </a:cubicBezTo>
                  <a:lnTo>
                    <a:pt x="308137" y="112447"/>
                  </a:lnTo>
                  <a:close/>
                  <a:moveTo>
                    <a:pt x="46366" y="237374"/>
                  </a:moveTo>
                  <a:lnTo>
                    <a:pt x="56790" y="250459"/>
                  </a:lnTo>
                  <a:cubicBezTo>
                    <a:pt x="57930" y="251925"/>
                    <a:pt x="58491" y="251726"/>
                    <a:pt x="58473" y="249862"/>
                  </a:cubicBezTo>
                  <a:lnTo>
                    <a:pt x="58229" y="237021"/>
                  </a:lnTo>
                  <a:cubicBezTo>
                    <a:pt x="58211" y="236171"/>
                    <a:pt x="57785" y="235755"/>
                    <a:pt x="56953" y="235773"/>
                  </a:cubicBezTo>
                  <a:lnTo>
                    <a:pt x="47044" y="235963"/>
                  </a:lnTo>
                  <a:cubicBezTo>
                    <a:pt x="45868" y="235981"/>
                    <a:pt x="45642" y="236451"/>
                    <a:pt x="46366" y="237374"/>
                  </a:cubicBezTo>
                  <a:close/>
                  <a:moveTo>
                    <a:pt x="339572" y="237374"/>
                  </a:moveTo>
                  <a:cubicBezTo>
                    <a:pt x="340314" y="236397"/>
                    <a:pt x="340070" y="235908"/>
                    <a:pt x="338839" y="235908"/>
                  </a:cubicBezTo>
                  <a:lnTo>
                    <a:pt x="328469" y="235908"/>
                  </a:lnTo>
                  <a:cubicBezTo>
                    <a:pt x="327601" y="235908"/>
                    <a:pt x="327166" y="236352"/>
                    <a:pt x="327166" y="237239"/>
                  </a:cubicBezTo>
                  <a:lnTo>
                    <a:pt x="327166" y="250649"/>
                  </a:lnTo>
                  <a:cubicBezTo>
                    <a:pt x="327166" y="252585"/>
                    <a:pt x="327755" y="252784"/>
                    <a:pt x="328931" y="251246"/>
                  </a:cubicBezTo>
                  <a:lnTo>
                    <a:pt x="339572" y="237374"/>
                  </a:ln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8" name="Free-form: Shape 1853">
              <a:extLst>
                <a:ext uri="{FF2B5EF4-FFF2-40B4-BE49-F238E27FC236}">
                  <a16:creationId xmlns:a16="http://schemas.microsoft.com/office/drawing/2014/main" id="{34E4BBF4-9B9B-8553-A5D8-4E9378BD4F44}"/>
                </a:ext>
              </a:extLst>
            </p:cNvPr>
            <p:cNvSpPr/>
            <p:nvPr/>
          </p:nvSpPr>
          <p:spPr>
            <a:xfrm>
              <a:off x="4074726" y="6532322"/>
              <a:ext cx="23997" cy="18676"/>
            </a:xfrm>
            <a:custGeom>
              <a:avLst/>
              <a:gdLst>
                <a:gd name="connsiteX0" fmla="*/ 15338 w 23997"/>
                <a:gd name="connsiteY0" fmla="*/ 0 h 18676"/>
                <a:gd name="connsiteX1" fmla="*/ 23997 w 23997"/>
                <a:gd name="connsiteY1" fmla="*/ 0 h 18676"/>
                <a:gd name="connsiteX2" fmla="*/ 23997 w 23997"/>
                <a:gd name="connsiteY2" fmla="*/ 18677 h 18676"/>
                <a:gd name="connsiteX3" fmla="*/ 15338 w 23997"/>
                <a:gd name="connsiteY3" fmla="*/ 18677 h 18676"/>
                <a:gd name="connsiteX4" fmla="*/ 8660 w 23997"/>
                <a:gd name="connsiteY4" fmla="*/ 18677 h 18676"/>
                <a:gd name="connsiteX5" fmla="*/ 0 w 23997"/>
                <a:gd name="connsiteY5" fmla="*/ 18677 h 18676"/>
                <a:gd name="connsiteX6" fmla="*/ 0 w 23997"/>
                <a:gd name="connsiteY6" fmla="*/ 0 h 18676"/>
                <a:gd name="connsiteX7" fmla="*/ 8660 w 23997"/>
                <a:gd name="connsiteY7" fmla="*/ 0 h 1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97" h="18676">
                  <a:moveTo>
                    <a:pt x="15338" y="0"/>
                  </a:moveTo>
                  <a:cubicBezTo>
                    <a:pt x="20120" y="0"/>
                    <a:pt x="23997" y="0"/>
                    <a:pt x="23997" y="0"/>
                  </a:cubicBezTo>
                  <a:lnTo>
                    <a:pt x="23997" y="18677"/>
                  </a:lnTo>
                  <a:cubicBezTo>
                    <a:pt x="23997" y="18677"/>
                    <a:pt x="20120" y="18677"/>
                    <a:pt x="15338" y="18677"/>
                  </a:cubicBezTo>
                  <a:lnTo>
                    <a:pt x="8660" y="18677"/>
                  </a:lnTo>
                  <a:cubicBezTo>
                    <a:pt x="3877" y="18677"/>
                    <a:pt x="0" y="18677"/>
                    <a:pt x="0" y="18677"/>
                  </a:cubicBezTo>
                  <a:lnTo>
                    <a:pt x="0" y="0"/>
                  </a:lnTo>
                  <a:cubicBezTo>
                    <a:pt x="0" y="0"/>
                    <a:pt x="3877" y="0"/>
                    <a:pt x="8660" y="0"/>
                  </a:cubicBezTo>
                  <a:close/>
                </a:path>
              </a:pathLst>
            </a:custGeom>
            <a:grpFill/>
            <a:ln w="269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440"/>
                </a:solidFill>
                <a:effectLst/>
                <a:uLnTx/>
                <a:uFillTx/>
                <a:latin typeface="Marianne Light"/>
                <a:ea typeface="+mn-ea"/>
                <a:cs typeface="+mn-cs"/>
              </a:endParaRPr>
            </a:p>
          </p:txBody>
        </p:sp>
      </p:grpSp>
      <p:grpSp>
        <p:nvGrpSpPr>
          <p:cNvPr id="12" name="Puzzle_Pieces2" descr="{&quot;Key&quot;:&quot;POWER_USER_SHAPE_ICON&quot;,&quot;Value&quot;:&quot;POWER_USER_SHAPE_ICON_STYLE_1&quot;}">
            <a:extLst>
              <a:ext uri="{FF2B5EF4-FFF2-40B4-BE49-F238E27FC236}">
                <a16:creationId xmlns:a16="http://schemas.microsoft.com/office/drawing/2014/main" id="{D99ECE62-5740-69F6-E4EF-EE39EE339D17}"/>
              </a:ext>
            </a:extLst>
          </p:cNvPr>
          <p:cNvGrpSpPr>
            <a:grpSpLocks noChangeAspect="1"/>
          </p:cNvGrpSpPr>
          <p:nvPr>
            <p:custDataLst>
              <p:tags r:id="rId1"/>
            </p:custDataLst>
          </p:nvPr>
        </p:nvGrpSpPr>
        <p:grpSpPr>
          <a:xfrm>
            <a:off x="2124168" y="3514724"/>
            <a:ext cx="423148" cy="425162"/>
            <a:chOff x="1852612" y="1198563"/>
            <a:chExt cx="333375" cy="334963"/>
          </a:xfrm>
          <a:solidFill>
            <a:schemeClr val="accent4"/>
          </a:solidFill>
        </p:grpSpPr>
        <p:sp>
          <p:nvSpPr>
            <p:cNvPr id="17" name="Freeform 613">
              <a:extLst>
                <a:ext uri="{FF2B5EF4-FFF2-40B4-BE49-F238E27FC236}">
                  <a16:creationId xmlns:a16="http://schemas.microsoft.com/office/drawing/2014/main" id="{87ADA2A2-166E-F65F-B7CA-4921F95566B9}"/>
                </a:ext>
              </a:extLst>
            </p:cNvPr>
            <p:cNvSpPr>
              <a:spLocks noEditPoints="1"/>
            </p:cNvSpPr>
            <p:nvPr/>
          </p:nvSpPr>
          <p:spPr bwMode="auto">
            <a:xfrm>
              <a:off x="1852612" y="1260476"/>
              <a:ext cx="163513" cy="141288"/>
            </a:xfrm>
            <a:custGeom>
              <a:avLst/>
              <a:gdLst>
                <a:gd name="T0" fmla="*/ 160 w 268"/>
                <a:gd name="T1" fmla="*/ 215 h 232"/>
                <a:gd name="T2" fmla="*/ 215 w 268"/>
                <a:gd name="T3" fmla="*/ 215 h 232"/>
                <a:gd name="T4" fmla="*/ 215 w 268"/>
                <a:gd name="T5" fmla="*/ 144 h 232"/>
                <a:gd name="T6" fmla="*/ 224 w 268"/>
                <a:gd name="T7" fmla="*/ 144 h 232"/>
                <a:gd name="T8" fmla="*/ 252 w 268"/>
                <a:gd name="T9" fmla="*/ 116 h 232"/>
                <a:gd name="T10" fmla="*/ 224 w 268"/>
                <a:gd name="T11" fmla="*/ 88 h 232"/>
                <a:gd name="T12" fmla="*/ 215 w 268"/>
                <a:gd name="T13" fmla="*/ 88 h 232"/>
                <a:gd name="T14" fmla="*/ 215 w 268"/>
                <a:gd name="T15" fmla="*/ 16 h 232"/>
                <a:gd name="T16" fmla="*/ 160 w 268"/>
                <a:gd name="T17" fmla="*/ 16 h 232"/>
                <a:gd name="T18" fmla="*/ 116 w 268"/>
                <a:gd name="T19" fmla="*/ 53 h 232"/>
                <a:gd name="T20" fmla="*/ 72 w 268"/>
                <a:gd name="T21" fmla="*/ 16 h 232"/>
                <a:gd name="T22" fmla="*/ 16 w 268"/>
                <a:gd name="T23" fmla="*/ 16 h 232"/>
                <a:gd name="T24" fmla="*/ 16 w 268"/>
                <a:gd name="T25" fmla="*/ 215 h 232"/>
                <a:gd name="T26" fmla="*/ 72 w 268"/>
                <a:gd name="T27" fmla="*/ 215 h 232"/>
                <a:gd name="T28" fmla="*/ 116 w 268"/>
                <a:gd name="T29" fmla="*/ 179 h 232"/>
                <a:gd name="T30" fmla="*/ 160 w 268"/>
                <a:gd name="T31" fmla="*/ 215 h 232"/>
                <a:gd name="T32" fmla="*/ 232 w 268"/>
                <a:gd name="T33" fmla="*/ 232 h 232"/>
                <a:gd name="T34" fmla="*/ 144 w 268"/>
                <a:gd name="T35" fmla="*/ 232 h 232"/>
                <a:gd name="T36" fmla="*/ 144 w 268"/>
                <a:gd name="T37" fmla="*/ 224 h 232"/>
                <a:gd name="T38" fmla="*/ 116 w 268"/>
                <a:gd name="T39" fmla="*/ 195 h 232"/>
                <a:gd name="T40" fmla="*/ 88 w 268"/>
                <a:gd name="T41" fmla="*/ 224 h 232"/>
                <a:gd name="T42" fmla="*/ 88 w 268"/>
                <a:gd name="T43" fmla="*/ 232 h 232"/>
                <a:gd name="T44" fmla="*/ 0 w 268"/>
                <a:gd name="T45" fmla="*/ 232 h 232"/>
                <a:gd name="T46" fmla="*/ 0 w 268"/>
                <a:gd name="T47" fmla="*/ 0 h 232"/>
                <a:gd name="T48" fmla="*/ 88 w 268"/>
                <a:gd name="T49" fmla="*/ 0 h 232"/>
                <a:gd name="T50" fmla="*/ 88 w 268"/>
                <a:gd name="T51" fmla="*/ 8 h 232"/>
                <a:gd name="T52" fmla="*/ 116 w 268"/>
                <a:gd name="T53" fmla="*/ 36 h 232"/>
                <a:gd name="T54" fmla="*/ 144 w 268"/>
                <a:gd name="T55" fmla="*/ 8 h 232"/>
                <a:gd name="T56" fmla="*/ 144 w 268"/>
                <a:gd name="T57" fmla="*/ 0 h 232"/>
                <a:gd name="T58" fmla="*/ 232 w 268"/>
                <a:gd name="T59" fmla="*/ 0 h 232"/>
                <a:gd name="T60" fmla="*/ 232 w 268"/>
                <a:gd name="T61" fmla="*/ 72 h 232"/>
                <a:gd name="T62" fmla="*/ 268 w 268"/>
                <a:gd name="T63" fmla="*/ 116 h 232"/>
                <a:gd name="T64" fmla="*/ 232 w 268"/>
                <a:gd name="T65" fmla="*/ 160 h 232"/>
                <a:gd name="T66" fmla="*/ 232 w 268"/>
                <a:gd name="T67" fmla="*/ 23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2">
                  <a:moveTo>
                    <a:pt x="160" y="215"/>
                  </a:moveTo>
                  <a:lnTo>
                    <a:pt x="215" y="215"/>
                  </a:lnTo>
                  <a:lnTo>
                    <a:pt x="215" y="144"/>
                  </a:lnTo>
                  <a:lnTo>
                    <a:pt x="224" y="144"/>
                  </a:lnTo>
                  <a:cubicBezTo>
                    <a:pt x="239" y="144"/>
                    <a:pt x="252" y="131"/>
                    <a:pt x="252" y="116"/>
                  </a:cubicBezTo>
                  <a:cubicBezTo>
                    <a:pt x="252" y="100"/>
                    <a:pt x="239" y="88"/>
                    <a:pt x="224" y="88"/>
                  </a:cubicBezTo>
                  <a:lnTo>
                    <a:pt x="215" y="88"/>
                  </a:lnTo>
                  <a:lnTo>
                    <a:pt x="215" y="16"/>
                  </a:lnTo>
                  <a:lnTo>
                    <a:pt x="160" y="16"/>
                  </a:lnTo>
                  <a:cubicBezTo>
                    <a:pt x="156" y="37"/>
                    <a:pt x="138" y="53"/>
                    <a:pt x="116" y="53"/>
                  </a:cubicBezTo>
                  <a:cubicBezTo>
                    <a:pt x="94" y="53"/>
                    <a:pt x="76" y="37"/>
                    <a:pt x="72" y="16"/>
                  </a:cubicBezTo>
                  <a:lnTo>
                    <a:pt x="16" y="16"/>
                  </a:lnTo>
                  <a:lnTo>
                    <a:pt x="16" y="215"/>
                  </a:lnTo>
                  <a:lnTo>
                    <a:pt x="72" y="215"/>
                  </a:lnTo>
                  <a:cubicBezTo>
                    <a:pt x="76" y="195"/>
                    <a:pt x="94" y="179"/>
                    <a:pt x="116" y="179"/>
                  </a:cubicBezTo>
                  <a:cubicBezTo>
                    <a:pt x="138" y="179"/>
                    <a:pt x="156" y="195"/>
                    <a:pt x="160" y="215"/>
                  </a:cubicBezTo>
                  <a:close/>
                  <a:moveTo>
                    <a:pt x="232" y="232"/>
                  </a:moveTo>
                  <a:lnTo>
                    <a:pt x="144" y="232"/>
                  </a:lnTo>
                  <a:lnTo>
                    <a:pt x="144" y="224"/>
                  </a:lnTo>
                  <a:cubicBezTo>
                    <a:pt x="144" y="208"/>
                    <a:pt x="131" y="195"/>
                    <a:pt x="116" y="195"/>
                  </a:cubicBezTo>
                  <a:cubicBezTo>
                    <a:pt x="100" y="195"/>
                    <a:pt x="88" y="208"/>
                    <a:pt x="88" y="224"/>
                  </a:cubicBezTo>
                  <a:lnTo>
                    <a:pt x="88" y="232"/>
                  </a:lnTo>
                  <a:lnTo>
                    <a:pt x="0" y="232"/>
                  </a:lnTo>
                  <a:lnTo>
                    <a:pt x="0" y="0"/>
                  </a:lnTo>
                  <a:lnTo>
                    <a:pt x="88" y="0"/>
                  </a:lnTo>
                  <a:lnTo>
                    <a:pt x="88" y="8"/>
                  </a:lnTo>
                  <a:cubicBezTo>
                    <a:pt x="88" y="24"/>
                    <a:pt x="100" y="36"/>
                    <a:pt x="116" y="36"/>
                  </a:cubicBezTo>
                  <a:cubicBezTo>
                    <a:pt x="131" y="36"/>
                    <a:pt x="144" y="24"/>
                    <a:pt x="144" y="8"/>
                  </a:cubicBezTo>
                  <a:lnTo>
                    <a:pt x="144" y="0"/>
                  </a:lnTo>
                  <a:lnTo>
                    <a:pt x="232" y="0"/>
                  </a:lnTo>
                  <a:lnTo>
                    <a:pt x="232" y="72"/>
                  </a:lnTo>
                  <a:cubicBezTo>
                    <a:pt x="253" y="76"/>
                    <a:pt x="268" y="94"/>
                    <a:pt x="268" y="116"/>
                  </a:cubicBezTo>
                  <a:cubicBezTo>
                    <a:pt x="268" y="138"/>
                    <a:pt x="253" y="156"/>
                    <a:pt x="232" y="160"/>
                  </a:cubicBezTo>
                  <a:lnTo>
                    <a:pt x="232" y="23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18" name="Freeform 614">
              <a:extLst>
                <a:ext uri="{FF2B5EF4-FFF2-40B4-BE49-F238E27FC236}">
                  <a16:creationId xmlns:a16="http://schemas.microsoft.com/office/drawing/2014/main" id="{F1D7F40A-EE3C-BC79-1C39-A29BD2DE897D}"/>
                </a:ext>
              </a:extLst>
            </p:cNvPr>
            <p:cNvSpPr>
              <a:spLocks noEditPoints="1"/>
            </p:cNvSpPr>
            <p:nvPr/>
          </p:nvSpPr>
          <p:spPr bwMode="auto">
            <a:xfrm>
              <a:off x="1852612" y="1370013"/>
              <a:ext cx="141288" cy="163513"/>
            </a:xfrm>
            <a:custGeom>
              <a:avLst/>
              <a:gdLst>
                <a:gd name="T0" fmla="*/ 16 w 232"/>
                <a:gd name="T1" fmla="*/ 252 h 269"/>
                <a:gd name="T2" fmla="*/ 215 w 232"/>
                <a:gd name="T3" fmla="*/ 252 h 269"/>
                <a:gd name="T4" fmla="*/ 215 w 232"/>
                <a:gd name="T5" fmla="*/ 197 h 269"/>
                <a:gd name="T6" fmla="*/ 179 w 232"/>
                <a:gd name="T7" fmla="*/ 152 h 269"/>
                <a:gd name="T8" fmla="*/ 215 w 232"/>
                <a:gd name="T9" fmla="*/ 108 h 269"/>
                <a:gd name="T10" fmla="*/ 215 w 232"/>
                <a:gd name="T11" fmla="*/ 53 h 269"/>
                <a:gd name="T12" fmla="*/ 144 w 232"/>
                <a:gd name="T13" fmla="*/ 53 h 269"/>
                <a:gd name="T14" fmla="*/ 144 w 232"/>
                <a:gd name="T15" fmla="*/ 45 h 269"/>
                <a:gd name="T16" fmla="*/ 116 w 232"/>
                <a:gd name="T17" fmla="*/ 16 h 269"/>
                <a:gd name="T18" fmla="*/ 88 w 232"/>
                <a:gd name="T19" fmla="*/ 45 h 269"/>
                <a:gd name="T20" fmla="*/ 88 w 232"/>
                <a:gd name="T21" fmla="*/ 53 h 269"/>
                <a:gd name="T22" fmla="*/ 16 w 232"/>
                <a:gd name="T23" fmla="*/ 53 h 269"/>
                <a:gd name="T24" fmla="*/ 16 w 232"/>
                <a:gd name="T25" fmla="*/ 108 h 269"/>
                <a:gd name="T26" fmla="*/ 53 w 232"/>
                <a:gd name="T27" fmla="*/ 152 h 269"/>
                <a:gd name="T28" fmla="*/ 16 w 232"/>
                <a:gd name="T29" fmla="*/ 197 h 269"/>
                <a:gd name="T30" fmla="*/ 16 w 232"/>
                <a:gd name="T31" fmla="*/ 252 h 269"/>
                <a:gd name="T32" fmla="*/ 232 w 232"/>
                <a:gd name="T33" fmla="*/ 269 h 269"/>
                <a:gd name="T34" fmla="*/ 0 w 232"/>
                <a:gd name="T35" fmla="*/ 269 h 269"/>
                <a:gd name="T36" fmla="*/ 0 w 232"/>
                <a:gd name="T37" fmla="*/ 181 h 269"/>
                <a:gd name="T38" fmla="*/ 8 w 232"/>
                <a:gd name="T39" fmla="*/ 181 h 269"/>
                <a:gd name="T40" fmla="*/ 36 w 232"/>
                <a:gd name="T41" fmla="*/ 152 h 269"/>
                <a:gd name="T42" fmla="*/ 8 w 232"/>
                <a:gd name="T43" fmla="*/ 124 h 269"/>
                <a:gd name="T44" fmla="*/ 0 w 232"/>
                <a:gd name="T45" fmla="*/ 124 h 269"/>
                <a:gd name="T46" fmla="*/ 0 w 232"/>
                <a:gd name="T47" fmla="*/ 36 h 269"/>
                <a:gd name="T48" fmla="*/ 72 w 232"/>
                <a:gd name="T49" fmla="*/ 36 h 269"/>
                <a:gd name="T50" fmla="*/ 116 w 232"/>
                <a:gd name="T51" fmla="*/ 0 h 269"/>
                <a:gd name="T52" fmla="*/ 160 w 232"/>
                <a:gd name="T53" fmla="*/ 36 h 269"/>
                <a:gd name="T54" fmla="*/ 232 w 232"/>
                <a:gd name="T55" fmla="*/ 36 h 269"/>
                <a:gd name="T56" fmla="*/ 232 w 232"/>
                <a:gd name="T57" fmla="*/ 124 h 269"/>
                <a:gd name="T58" fmla="*/ 224 w 232"/>
                <a:gd name="T59" fmla="*/ 124 h 269"/>
                <a:gd name="T60" fmla="*/ 195 w 232"/>
                <a:gd name="T61" fmla="*/ 152 h 269"/>
                <a:gd name="T62" fmla="*/ 224 w 232"/>
                <a:gd name="T63" fmla="*/ 181 h 269"/>
                <a:gd name="T64" fmla="*/ 232 w 232"/>
                <a:gd name="T65" fmla="*/ 181 h 269"/>
                <a:gd name="T66" fmla="*/ 232 w 232"/>
                <a:gd name="T67"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2" h="269">
                  <a:moveTo>
                    <a:pt x="16" y="252"/>
                  </a:moveTo>
                  <a:lnTo>
                    <a:pt x="215" y="252"/>
                  </a:lnTo>
                  <a:lnTo>
                    <a:pt x="215" y="197"/>
                  </a:lnTo>
                  <a:cubicBezTo>
                    <a:pt x="194" y="193"/>
                    <a:pt x="179" y="174"/>
                    <a:pt x="179" y="152"/>
                  </a:cubicBezTo>
                  <a:cubicBezTo>
                    <a:pt x="179" y="131"/>
                    <a:pt x="194" y="112"/>
                    <a:pt x="215" y="108"/>
                  </a:cubicBezTo>
                  <a:lnTo>
                    <a:pt x="215" y="53"/>
                  </a:lnTo>
                  <a:lnTo>
                    <a:pt x="144" y="53"/>
                  </a:lnTo>
                  <a:lnTo>
                    <a:pt x="144" y="45"/>
                  </a:lnTo>
                  <a:cubicBezTo>
                    <a:pt x="144" y="29"/>
                    <a:pt x="131" y="16"/>
                    <a:pt x="116" y="16"/>
                  </a:cubicBezTo>
                  <a:cubicBezTo>
                    <a:pt x="100" y="16"/>
                    <a:pt x="88" y="29"/>
                    <a:pt x="88" y="45"/>
                  </a:cubicBezTo>
                  <a:lnTo>
                    <a:pt x="88" y="53"/>
                  </a:lnTo>
                  <a:lnTo>
                    <a:pt x="16" y="53"/>
                  </a:lnTo>
                  <a:lnTo>
                    <a:pt x="16" y="108"/>
                  </a:lnTo>
                  <a:cubicBezTo>
                    <a:pt x="37" y="112"/>
                    <a:pt x="53" y="131"/>
                    <a:pt x="53" y="152"/>
                  </a:cubicBezTo>
                  <a:cubicBezTo>
                    <a:pt x="53" y="174"/>
                    <a:pt x="37" y="193"/>
                    <a:pt x="16" y="197"/>
                  </a:cubicBezTo>
                  <a:lnTo>
                    <a:pt x="16" y="252"/>
                  </a:lnTo>
                  <a:close/>
                  <a:moveTo>
                    <a:pt x="232" y="269"/>
                  </a:moveTo>
                  <a:lnTo>
                    <a:pt x="0" y="269"/>
                  </a:lnTo>
                  <a:lnTo>
                    <a:pt x="0" y="181"/>
                  </a:lnTo>
                  <a:lnTo>
                    <a:pt x="8" y="181"/>
                  </a:lnTo>
                  <a:cubicBezTo>
                    <a:pt x="23" y="181"/>
                    <a:pt x="36" y="168"/>
                    <a:pt x="36" y="152"/>
                  </a:cubicBezTo>
                  <a:cubicBezTo>
                    <a:pt x="36" y="137"/>
                    <a:pt x="23" y="124"/>
                    <a:pt x="8" y="124"/>
                  </a:cubicBezTo>
                  <a:lnTo>
                    <a:pt x="0" y="124"/>
                  </a:lnTo>
                  <a:lnTo>
                    <a:pt x="0" y="36"/>
                  </a:lnTo>
                  <a:lnTo>
                    <a:pt x="72" y="36"/>
                  </a:lnTo>
                  <a:cubicBezTo>
                    <a:pt x="76" y="16"/>
                    <a:pt x="94" y="0"/>
                    <a:pt x="116" y="0"/>
                  </a:cubicBezTo>
                  <a:cubicBezTo>
                    <a:pt x="138" y="0"/>
                    <a:pt x="156" y="16"/>
                    <a:pt x="160" y="36"/>
                  </a:cubicBezTo>
                  <a:lnTo>
                    <a:pt x="232" y="36"/>
                  </a:lnTo>
                  <a:lnTo>
                    <a:pt x="232" y="124"/>
                  </a:lnTo>
                  <a:lnTo>
                    <a:pt x="224" y="124"/>
                  </a:lnTo>
                  <a:cubicBezTo>
                    <a:pt x="208" y="124"/>
                    <a:pt x="195" y="137"/>
                    <a:pt x="195" y="152"/>
                  </a:cubicBezTo>
                  <a:cubicBezTo>
                    <a:pt x="195" y="168"/>
                    <a:pt x="208" y="181"/>
                    <a:pt x="224" y="181"/>
                  </a:cubicBezTo>
                  <a:lnTo>
                    <a:pt x="232" y="181"/>
                  </a:lnTo>
                  <a:lnTo>
                    <a:pt x="232" y="26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19" name="Freeform 615">
              <a:extLst>
                <a:ext uri="{FF2B5EF4-FFF2-40B4-BE49-F238E27FC236}">
                  <a16:creationId xmlns:a16="http://schemas.microsoft.com/office/drawing/2014/main" id="{4176550B-7105-2043-3476-0B06382C3749}"/>
                </a:ext>
              </a:extLst>
            </p:cNvPr>
            <p:cNvSpPr>
              <a:spLocks noEditPoints="1"/>
            </p:cNvSpPr>
            <p:nvPr/>
          </p:nvSpPr>
          <p:spPr bwMode="auto">
            <a:xfrm>
              <a:off x="2001837" y="1198563"/>
              <a:ext cx="184150" cy="184150"/>
            </a:xfrm>
            <a:custGeom>
              <a:avLst/>
              <a:gdLst>
                <a:gd name="T0" fmla="*/ 75 w 302"/>
                <a:gd name="T1" fmla="*/ 229 h 302"/>
                <a:gd name="T2" fmla="*/ 95 w 302"/>
                <a:gd name="T3" fmla="*/ 281 h 302"/>
                <a:gd name="T4" fmla="*/ 161 w 302"/>
                <a:gd name="T5" fmla="*/ 254 h 302"/>
                <a:gd name="T6" fmla="*/ 164 w 302"/>
                <a:gd name="T7" fmla="*/ 262 h 302"/>
                <a:gd name="T8" fmla="*/ 179 w 302"/>
                <a:gd name="T9" fmla="*/ 277 h 302"/>
                <a:gd name="T10" fmla="*/ 201 w 302"/>
                <a:gd name="T11" fmla="*/ 278 h 302"/>
                <a:gd name="T12" fmla="*/ 216 w 302"/>
                <a:gd name="T13" fmla="*/ 263 h 302"/>
                <a:gd name="T14" fmla="*/ 217 w 302"/>
                <a:gd name="T15" fmla="*/ 241 h 302"/>
                <a:gd name="T16" fmla="*/ 214 w 302"/>
                <a:gd name="T17" fmla="*/ 233 h 302"/>
                <a:gd name="T18" fmla="*/ 280 w 302"/>
                <a:gd name="T19" fmla="*/ 207 h 302"/>
                <a:gd name="T20" fmla="*/ 259 w 302"/>
                <a:gd name="T21" fmla="*/ 155 h 302"/>
                <a:gd name="T22" fmla="*/ 209 w 302"/>
                <a:gd name="T23" fmla="*/ 128 h 302"/>
                <a:gd name="T24" fmla="*/ 227 w 302"/>
                <a:gd name="T25" fmla="*/ 74 h 302"/>
                <a:gd name="T26" fmla="*/ 206 w 302"/>
                <a:gd name="T27" fmla="*/ 22 h 302"/>
                <a:gd name="T28" fmla="*/ 21 w 302"/>
                <a:gd name="T29" fmla="*/ 96 h 302"/>
                <a:gd name="T30" fmla="*/ 42 w 302"/>
                <a:gd name="T31" fmla="*/ 147 h 302"/>
                <a:gd name="T32" fmla="*/ 92 w 302"/>
                <a:gd name="T33" fmla="*/ 175 h 302"/>
                <a:gd name="T34" fmla="*/ 75 w 302"/>
                <a:gd name="T35" fmla="*/ 229 h 302"/>
                <a:gd name="T36" fmla="*/ 86 w 302"/>
                <a:gd name="T37" fmla="*/ 302 h 302"/>
                <a:gd name="T38" fmla="*/ 53 w 302"/>
                <a:gd name="T39" fmla="*/ 220 h 302"/>
                <a:gd name="T40" fmla="*/ 61 w 302"/>
                <a:gd name="T41" fmla="*/ 217 h 302"/>
                <a:gd name="T42" fmla="*/ 77 w 302"/>
                <a:gd name="T43" fmla="*/ 181 h 302"/>
                <a:gd name="T44" fmla="*/ 40 w 302"/>
                <a:gd name="T45" fmla="*/ 165 h 302"/>
                <a:gd name="T46" fmla="*/ 32 w 302"/>
                <a:gd name="T47" fmla="*/ 168 h 302"/>
                <a:gd name="T48" fmla="*/ 0 w 302"/>
                <a:gd name="T49" fmla="*/ 86 h 302"/>
                <a:gd name="T50" fmla="*/ 216 w 302"/>
                <a:gd name="T51" fmla="*/ 0 h 302"/>
                <a:gd name="T52" fmla="*/ 248 w 302"/>
                <a:gd name="T53" fmla="*/ 82 h 302"/>
                <a:gd name="T54" fmla="*/ 240 w 302"/>
                <a:gd name="T55" fmla="*/ 85 h 302"/>
                <a:gd name="T56" fmla="*/ 225 w 302"/>
                <a:gd name="T57" fmla="*/ 122 h 302"/>
                <a:gd name="T58" fmla="*/ 261 w 302"/>
                <a:gd name="T59" fmla="*/ 138 h 302"/>
                <a:gd name="T60" fmla="*/ 269 w 302"/>
                <a:gd name="T61" fmla="*/ 135 h 302"/>
                <a:gd name="T62" fmla="*/ 302 w 302"/>
                <a:gd name="T63" fmla="*/ 216 h 302"/>
                <a:gd name="T64" fmla="*/ 235 w 302"/>
                <a:gd name="T65" fmla="*/ 243 h 302"/>
                <a:gd name="T66" fmla="*/ 207 w 302"/>
                <a:gd name="T67" fmla="*/ 293 h 302"/>
                <a:gd name="T68" fmla="*/ 173 w 302"/>
                <a:gd name="T69" fmla="*/ 293 h 302"/>
                <a:gd name="T70" fmla="*/ 153 w 302"/>
                <a:gd name="T71" fmla="*/ 276 h 302"/>
                <a:gd name="T72" fmla="*/ 86 w 302"/>
                <a:gd name="T7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2" h="302">
                  <a:moveTo>
                    <a:pt x="75" y="229"/>
                  </a:moveTo>
                  <a:lnTo>
                    <a:pt x="95" y="281"/>
                  </a:lnTo>
                  <a:lnTo>
                    <a:pt x="161" y="254"/>
                  </a:lnTo>
                  <a:lnTo>
                    <a:pt x="164" y="262"/>
                  </a:lnTo>
                  <a:cubicBezTo>
                    <a:pt x="167" y="269"/>
                    <a:pt x="172" y="274"/>
                    <a:pt x="179" y="277"/>
                  </a:cubicBezTo>
                  <a:cubicBezTo>
                    <a:pt x="186" y="280"/>
                    <a:pt x="194" y="280"/>
                    <a:pt x="201" y="278"/>
                  </a:cubicBezTo>
                  <a:cubicBezTo>
                    <a:pt x="208" y="275"/>
                    <a:pt x="213" y="270"/>
                    <a:pt x="216" y="263"/>
                  </a:cubicBezTo>
                  <a:cubicBezTo>
                    <a:pt x="219" y="256"/>
                    <a:pt x="220" y="248"/>
                    <a:pt x="217" y="241"/>
                  </a:cubicBezTo>
                  <a:lnTo>
                    <a:pt x="214" y="233"/>
                  </a:lnTo>
                  <a:lnTo>
                    <a:pt x="280" y="207"/>
                  </a:lnTo>
                  <a:lnTo>
                    <a:pt x="259" y="155"/>
                  </a:lnTo>
                  <a:cubicBezTo>
                    <a:pt x="239" y="159"/>
                    <a:pt x="217" y="148"/>
                    <a:pt x="209" y="128"/>
                  </a:cubicBezTo>
                  <a:cubicBezTo>
                    <a:pt x="201" y="108"/>
                    <a:pt x="209" y="85"/>
                    <a:pt x="227" y="74"/>
                  </a:cubicBezTo>
                  <a:lnTo>
                    <a:pt x="206" y="22"/>
                  </a:lnTo>
                  <a:lnTo>
                    <a:pt x="21" y="96"/>
                  </a:lnTo>
                  <a:lnTo>
                    <a:pt x="42" y="147"/>
                  </a:lnTo>
                  <a:cubicBezTo>
                    <a:pt x="63" y="143"/>
                    <a:pt x="84" y="154"/>
                    <a:pt x="92" y="175"/>
                  </a:cubicBezTo>
                  <a:cubicBezTo>
                    <a:pt x="100" y="195"/>
                    <a:pt x="92" y="218"/>
                    <a:pt x="75" y="229"/>
                  </a:cubicBezTo>
                  <a:close/>
                  <a:moveTo>
                    <a:pt x="86" y="302"/>
                  </a:moveTo>
                  <a:lnTo>
                    <a:pt x="53" y="220"/>
                  </a:lnTo>
                  <a:lnTo>
                    <a:pt x="61" y="217"/>
                  </a:lnTo>
                  <a:cubicBezTo>
                    <a:pt x="75" y="212"/>
                    <a:pt x="82" y="195"/>
                    <a:pt x="77" y="181"/>
                  </a:cubicBezTo>
                  <a:cubicBezTo>
                    <a:pt x="71" y="166"/>
                    <a:pt x="54" y="159"/>
                    <a:pt x="40" y="165"/>
                  </a:cubicBezTo>
                  <a:lnTo>
                    <a:pt x="32" y="168"/>
                  </a:lnTo>
                  <a:lnTo>
                    <a:pt x="0" y="86"/>
                  </a:lnTo>
                  <a:lnTo>
                    <a:pt x="216" y="0"/>
                  </a:lnTo>
                  <a:lnTo>
                    <a:pt x="248" y="82"/>
                  </a:lnTo>
                  <a:lnTo>
                    <a:pt x="240" y="85"/>
                  </a:lnTo>
                  <a:cubicBezTo>
                    <a:pt x="226" y="91"/>
                    <a:pt x="219" y="107"/>
                    <a:pt x="225" y="122"/>
                  </a:cubicBezTo>
                  <a:cubicBezTo>
                    <a:pt x="230" y="136"/>
                    <a:pt x="247" y="143"/>
                    <a:pt x="261" y="138"/>
                  </a:cubicBezTo>
                  <a:lnTo>
                    <a:pt x="269" y="135"/>
                  </a:lnTo>
                  <a:lnTo>
                    <a:pt x="302" y="216"/>
                  </a:lnTo>
                  <a:lnTo>
                    <a:pt x="235" y="243"/>
                  </a:lnTo>
                  <a:cubicBezTo>
                    <a:pt x="239" y="264"/>
                    <a:pt x="227" y="285"/>
                    <a:pt x="207" y="293"/>
                  </a:cubicBezTo>
                  <a:cubicBezTo>
                    <a:pt x="196" y="298"/>
                    <a:pt x="184" y="297"/>
                    <a:pt x="173" y="293"/>
                  </a:cubicBezTo>
                  <a:cubicBezTo>
                    <a:pt x="164" y="289"/>
                    <a:pt x="157" y="283"/>
                    <a:pt x="153" y="276"/>
                  </a:cubicBezTo>
                  <a:lnTo>
                    <a:pt x="86" y="302"/>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0" name="Freeform 616">
              <a:extLst>
                <a:ext uri="{FF2B5EF4-FFF2-40B4-BE49-F238E27FC236}">
                  <a16:creationId xmlns:a16="http://schemas.microsoft.com/office/drawing/2014/main" id="{6DAFAD10-559E-A9AC-AA1C-302B2BA7E022}"/>
                </a:ext>
              </a:extLst>
            </p:cNvPr>
            <p:cNvSpPr>
              <a:spLocks noEditPoints="1"/>
            </p:cNvSpPr>
            <p:nvPr/>
          </p:nvSpPr>
          <p:spPr bwMode="auto">
            <a:xfrm>
              <a:off x="1962150" y="1390651"/>
              <a:ext cx="163513" cy="142875"/>
            </a:xfrm>
            <a:custGeom>
              <a:avLst/>
              <a:gdLst>
                <a:gd name="T0" fmla="*/ 197 w 269"/>
                <a:gd name="T1" fmla="*/ 216 h 233"/>
                <a:gd name="T2" fmla="*/ 252 w 269"/>
                <a:gd name="T3" fmla="*/ 216 h 233"/>
                <a:gd name="T4" fmla="*/ 252 w 269"/>
                <a:gd name="T5" fmla="*/ 17 h 233"/>
                <a:gd name="T6" fmla="*/ 197 w 269"/>
                <a:gd name="T7" fmla="*/ 17 h 233"/>
                <a:gd name="T8" fmla="*/ 152 w 269"/>
                <a:gd name="T9" fmla="*/ 53 h 233"/>
                <a:gd name="T10" fmla="*/ 108 w 269"/>
                <a:gd name="T11" fmla="*/ 17 h 233"/>
                <a:gd name="T12" fmla="*/ 53 w 269"/>
                <a:gd name="T13" fmla="*/ 17 h 233"/>
                <a:gd name="T14" fmla="*/ 53 w 269"/>
                <a:gd name="T15" fmla="*/ 88 h 233"/>
                <a:gd name="T16" fmla="*/ 45 w 269"/>
                <a:gd name="T17" fmla="*/ 88 h 233"/>
                <a:gd name="T18" fmla="*/ 16 w 269"/>
                <a:gd name="T19" fmla="*/ 116 h 233"/>
                <a:gd name="T20" fmla="*/ 45 w 269"/>
                <a:gd name="T21" fmla="*/ 145 h 233"/>
                <a:gd name="T22" fmla="*/ 53 w 269"/>
                <a:gd name="T23" fmla="*/ 145 h 233"/>
                <a:gd name="T24" fmla="*/ 53 w 269"/>
                <a:gd name="T25" fmla="*/ 216 h 233"/>
                <a:gd name="T26" fmla="*/ 108 w 269"/>
                <a:gd name="T27" fmla="*/ 216 h 233"/>
                <a:gd name="T28" fmla="*/ 152 w 269"/>
                <a:gd name="T29" fmla="*/ 179 h 233"/>
                <a:gd name="T30" fmla="*/ 197 w 269"/>
                <a:gd name="T31" fmla="*/ 216 h 233"/>
                <a:gd name="T32" fmla="*/ 269 w 269"/>
                <a:gd name="T33" fmla="*/ 233 h 233"/>
                <a:gd name="T34" fmla="*/ 181 w 269"/>
                <a:gd name="T35" fmla="*/ 233 h 233"/>
                <a:gd name="T36" fmla="*/ 181 w 269"/>
                <a:gd name="T37" fmla="*/ 224 h 233"/>
                <a:gd name="T38" fmla="*/ 152 w 269"/>
                <a:gd name="T39" fmla="*/ 196 h 233"/>
                <a:gd name="T40" fmla="*/ 124 w 269"/>
                <a:gd name="T41" fmla="*/ 224 h 233"/>
                <a:gd name="T42" fmla="*/ 124 w 269"/>
                <a:gd name="T43" fmla="*/ 233 h 233"/>
                <a:gd name="T44" fmla="*/ 36 w 269"/>
                <a:gd name="T45" fmla="*/ 233 h 233"/>
                <a:gd name="T46" fmla="*/ 36 w 269"/>
                <a:gd name="T47" fmla="*/ 161 h 233"/>
                <a:gd name="T48" fmla="*/ 0 w 269"/>
                <a:gd name="T49" fmla="*/ 116 h 233"/>
                <a:gd name="T50" fmla="*/ 36 w 269"/>
                <a:gd name="T51" fmla="*/ 72 h 233"/>
                <a:gd name="T52" fmla="*/ 36 w 269"/>
                <a:gd name="T53" fmla="*/ 0 h 233"/>
                <a:gd name="T54" fmla="*/ 124 w 269"/>
                <a:gd name="T55" fmla="*/ 0 h 233"/>
                <a:gd name="T56" fmla="*/ 124 w 269"/>
                <a:gd name="T57" fmla="*/ 9 h 233"/>
                <a:gd name="T58" fmla="*/ 152 w 269"/>
                <a:gd name="T59" fmla="*/ 37 h 233"/>
                <a:gd name="T60" fmla="*/ 181 w 269"/>
                <a:gd name="T61" fmla="*/ 9 h 233"/>
                <a:gd name="T62" fmla="*/ 181 w 269"/>
                <a:gd name="T63" fmla="*/ 0 h 233"/>
                <a:gd name="T64" fmla="*/ 269 w 269"/>
                <a:gd name="T65" fmla="*/ 0 h 233"/>
                <a:gd name="T66" fmla="*/ 269 w 269"/>
                <a:gd name="T67" fmla="*/ 23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9" h="233">
                  <a:moveTo>
                    <a:pt x="197" y="216"/>
                  </a:moveTo>
                  <a:lnTo>
                    <a:pt x="252" y="216"/>
                  </a:lnTo>
                  <a:lnTo>
                    <a:pt x="252" y="17"/>
                  </a:lnTo>
                  <a:lnTo>
                    <a:pt x="197" y="17"/>
                  </a:lnTo>
                  <a:cubicBezTo>
                    <a:pt x="193" y="38"/>
                    <a:pt x="174" y="53"/>
                    <a:pt x="152" y="53"/>
                  </a:cubicBezTo>
                  <a:cubicBezTo>
                    <a:pt x="131" y="53"/>
                    <a:pt x="112" y="38"/>
                    <a:pt x="108" y="17"/>
                  </a:cubicBezTo>
                  <a:lnTo>
                    <a:pt x="53" y="17"/>
                  </a:lnTo>
                  <a:lnTo>
                    <a:pt x="53" y="88"/>
                  </a:lnTo>
                  <a:lnTo>
                    <a:pt x="45" y="88"/>
                  </a:lnTo>
                  <a:cubicBezTo>
                    <a:pt x="29" y="88"/>
                    <a:pt x="16" y="101"/>
                    <a:pt x="16" y="116"/>
                  </a:cubicBezTo>
                  <a:cubicBezTo>
                    <a:pt x="16" y="132"/>
                    <a:pt x="29" y="145"/>
                    <a:pt x="45" y="145"/>
                  </a:cubicBezTo>
                  <a:lnTo>
                    <a:pt x="53" y="145"/>
                  </a:lnTo>
                  <a:lnTo>
                    <a:pt x="53" y="216"/>
                  </a:lnTo>
                  <a:lnTo>
                    <a:pt x="108" y="216"/>
                  </a:lnTo>
                  <a:cubicBezTo>
                    <a:pt x="112" y="195"/>
                    <a:pt x="131" y="179"/>
                    <a:pt x="152" y="179"/>
                  </a:cubicBezTo>
                  <a:cubicBezTo>
                    <a:pt x="174" y="179"/>
                    <a:pt x="193" y="195"/>
                    <a:pt x="197" y="216"/>
                  </a:cubicBezTo>
                  <a:close/>
                  <a:moveTo>
                    <a:pt x="269" y="233"/>
                  </a:moveTo>
                  <a:lnTo>
                    <a:pt x="181" y="233"/>
                  </a:lnTo>
                  <a:lnTo>
                    <a:pt x="181" y="224"/>
                  </a:lnTo>
                  <a:cubicBezTo>
                    <a:pt x="181" y="209"/>
                    <a:pt x="168" y="196"/>
                    <a:pt x="152" y="196"/>
                  </a:cubicBezTo>
                  <a:cubicBezTo>
                    <a:pt x="137" y="196"/>
                    <a:pt x="124" y="209"/>
                    <a:pt x="124" y="224"/>
                  </a:cubicBezTo>
                  <a:lnTo>
                    <a:pt x="124" y="233"/>
                  </a:lnTo>
                  <a:lnTo>
                    <a:pt x="36" y="233"/>
                  </a:lnTo>
                  <a:lnTo>
                    <a:pt x="36" y="161"/>
                  </a:lnTo>
                  <a:cubicBezTo>
                    <a:pt x="15" y="157"/>
                    <a:pt x="0" y="138"/>
                    <a:pt x="0" y="116"/>
                  </a:cubicBezTo>
                  <a:cubicBezTo>
                    <a:pt x="0" y="95"/>
                    <a:pt x="15" y="76"/>
                    <a:pt x="36" y="72"/>
                  </a:cubicBezTo>
                  <a:lnTo>
                    <a:pt x="36" y="0"/>
                  </a:lnTo>
                  <a:lnTo>
                    <a:pt x="124" y="0"/>
                  </a:lnTo>
                  <a:lnTo>
                    <a:pt x="124" y="9"/>
                  </a:lnTo>
                  <a:cubicBezTo>
                    <a:pt x="124" y="24"/>
                    <a:pt x="137" y="37"/>
                    <a:pt x="152" y="37"/>
                  </a:cubicBezTo>
                  <a:cubicBezTo>
                    <a:pt x="168" y="37"/>
                    <a:pt x="181" y="24"/>
                    <a:pt x="181" y="9"/>
                  </a:cubicBezTo>
                  <a:lnTo>
                    <a:pt x="181" y="0"/>
                  </a:lnTo>
                  <a:lnTo>
                    <a:pt x="269" y="0"/>
                  </a:lnTo>
                  <a:lnTo>
                    <a:pt x="269" y="23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D1440"/>
                </a:solidFill>
                <a:effectLst/>
                <a:uLnTx/>
                <a:uFillTx/>
                <a:latin typeface="Marianne Light"/>
                <a:ea typeface="+mn-ea"/>
                <a:cs typeface="+mn-cs"/>
              </a:endParaRPr>
            </a:p>
          </p:txBody>
        </p:sp>
      </p:grpSp>
    </p:spTree>
    <p:extLst>
      <p:ext uri="{BB962C8B-B14F-4D97-AF65-F5344CB8AC3E}">
        <p14:creationId xmlns:p14="http://schemas.microsoft.com/office/powerpoint/2010/main" val="1652324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4">
            <a:extLst>
              <a:ext uri="{FF2B5EF4-FFF2-40B4-BE49-F238E27FC236}">
                <a16:creationId xmlns:a16="http://schemas.microsoft.com/office/drawing/2014/main" id="{06C3626D-2AF2-FF50-5869-DBDFC1E7B01D}"/>
              </a:ext>
              <a:ext uri="{C183D7F6-B498-43B3-948B-1728B52AA6E4}">
                <adec:decorative xmlns:adec="http://schemas.microsoft.com/office/drawing/2017/decorative" val="1"/>
              </a:ext>
            </a:extLst>
          </p:cNvPr>
          <p:cNvSpPr/>
          <p:nvPr/>
        </p:nvSpPr>
        <p:spPr>
          <a:xfrm flipH="1">
            <a:off x="1440000" y="907620"/>
            <a:ext cx="5614733" cy="3939540"/>
          </a:xfrm>
          <a:prstGeom prst="roundRect">
            <a:avLst>
              <a:gd name="adj" fmla="val 5844"/>
            </a:avLst>
          </a:prstGeom>
          <a:noFill/>
          <a:ln w="9525">
            <a:solidFill>
              <a:schemeClr val="bg1">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400"/>
              </a:spcAft>
              <a:buClr>
                <a:srgbClr val="D92424"/>
              </a:buClr>
              <a:buSzTx/>
              <a:buFontTx/>
              <a:buNone/>
              <a:tabLst/>
              <a:defRPr/>
            </a:pPr>
            <a:endParaRPr kumimoji="0" lang="fr-FR" sz="1050" b="0" i="0" u="none" strike="noStrike" kern="1200" cap="none" spc="0" normalizeH="0" baseline="0" noProof="0">
              <a:ln>
                <a:noFill/>
              </a:ln>
              <a:solidFill>
                <a:srgbClr val="0D1440"/>
              </a:solidFill>
              <a:effectLst/>
              <a:uLnTx/>
              <a:uFillTx/>
              <a:latin typeface="Marianne"/>
              <a:ea typeface="+mn-ea"/>
              <a:cs typeface="+mn-cs"/>
            </a:endParaRPr>
          </a:p>
        </p:txBody>
      </p:sp>
      <p:cxnSp>
        <p:nvCxnSpPr>
          <p:cNvPr id="5" name="Connecteur droit 4">
            <a:extLst>
              <a:ext uri="{FF2B5EF4-FFF2-40B4-BE49-F238E27FC236}">
                <a16:creationId xmlns:a16="http://schemas.microsoft.com/office/drawing/2014/main" id="{0FA4A5DE-6E27-EB39-CC1E-D346D6EA2BFD}"/>
              </a:ext>
              <a:ext uri="{C183D7F6-B498-43B3-948B-1728B52AA6E4}">
                <adec:decorative xmlns:adec="http://schemas.microsoft.com/office/drawing/2017/decorative" val="1"/>
              </a:ext>
            </a:extLst>
          </p:cNvPr>
          <p:cNvCxnSpPr>
            <a:cxnSpLocks/>
          </p:cNvCxnSpPr>
          <p:nvPr/>
        </p:nvCxnSpPr>
        <p:spPr>
          <a:xfrm>
            <a:off x="1436544" y="3239524"/>
            <a:ext cx="1164584" cy="0"/>
          </a:xfrm>
          <a:prstGeom prst="line">
            <a:avLst/>
          </a:prstGeom>
          <a:ln w="19050">
            <a:solidFill>
              <a:schemeClr val="accent2">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450280-B709-DC30-76CD-F6030FE0F9A5}"/>
              </a:ext>
              <a:ext uri="{C183D7F6-B498-43B3-948B-1728B52AA6E4}">
                <adec:decorative xmlns:adec="http://schemas.microsoft.com/office/drawing/2017/decorative" val="1"/>
              </a:ext>
            </a:extLst>
          </p:cNvPr>
          <p:cNvSpPr/>
          <p:nvPr/>
        </p:nvSpPr>
        <p:spPr>
          <a:xfrm>
            <a:off x="2428657" y="3224967"/>
            <a:ext cx="172471" cy="29115"/>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F5F2EE"/>
              </a:solidFill>
              <a:effectLst/>
              <a:uLnTx/>
              <a:uFillTx/>
              <a:latin typeface="Marianne Light"/>
              <a:ea typeface="+mn-ea"/>
              <a:cs typeface="+mn-cs"/>
            </a:endParaRPr>
          </a:p>
        </p:txBody>
      </p:sp>
      <p:cxnSp>
        <p:nvCxnSpPr>
          <p:cNvPr id="7" name="Connecteur droit 6">
            <a:extLst>
              <a:ext uri="{FF2B5EF4-FFF2-40B4-BE49-F238E27FC236}">
                <a16:creationId xmlns:a16="http://schemas.microsoft.com/office/drawing/2014/main" id="{1C1D2F37-439C-1A16-280C-A9B2AA210971}"/>
              </a:ext>
              <a:ext uri="{C183D7F6-B498-43B3-948B-1728B52AA6E4}">
                <adec:decorative xmlns:adec="http://schemas.microsoft.com/office/drawing/2017/decorative" val="1"/>
              </a:ext>
            </a:extLst>
          </p:cNvPr>
          <p:cNvCxnSpPr>
            <a:cxnSpLocks/>
          </p:cNvCxnSpPr>
          <p:nvPr/>
        </p:nvCxnSpPr>
        <p:spPr>
          <a:xfrm rot="17577279">
            <a:off x="1585576" y="2549389"/>
            <a:ext cx="669635" cy="0"/>
          </a:xfrm>
          <a:prstGeom prst="line">
            <a:avLst/>
          </a:prstGeom>
          <a:ln w="19050">
            <a:solidFill>
              <a:schemeClr val="accent5">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EA4727-532E-1F48-0571-4470FE517096}"/>
              </a:ext>
              <a:ext uri="{C183D7F6-B498-43B3-948B-1728B52AA6E4}">
                <adec:decorative xmlns:adec="http://schemas.microsoft.com/office/drawing/2017/decorative" val="1"/>
              </a:ext>
            </a:extLst>
          </p:cNvPr>
          <p:cNvSpPr/>
          <p:nvPr/>
        </p:nvSpPr>
        <p:spPr>
          <a:xfrm rot="17577279">
            <a:off x="1935433" y="2288177"/>
            <a:ext cx="172471" cy="29115"/>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F5F2EE"/>
              </a:solidFill>
              <a:effectLst/>
              <a:uLnTx/>
              <a:uFillTx/>
              <a:latin typeface="Marianne Light"/>
              <a:ea typeface="+mn-ea"/>
              <a:cs typeface="+mn-cs"/>
            </a:endParaRPr>
          </a:p>
        </p:txBody>
      </p:sp>
      <p:cxnSp>
        <p:nvCxnSpPr>
          <p:cNvPr id="9" name="Connecteur droit 8">
            <a:extLst>
              <a:ext uri="{FF2B5EF4-FFF2-40B4-BE49-F238E27FC236}">
                <a16:creationId xmlns:a16="http://schemas.microsoft.com/office/drawing/2014/main" id="{233491E9-1E72-BBC1-59EC-EBA89292D78A}"/>
              </a:ext>
              <a:ext uri="{C183D7F6-B498-43B3-948B-1728B52AA6E4}">
                <adec:decorative xmlns:adec="http://schemas.microsoft.com/office/drawing/2017/decorative" val="1"/>
              </a:ext>
            </a:extLst>
          </p:cNvPr>
          <p:cNvCxnSpPr>
            <a:cxnSpLocks/>
          </p:cNvCxnSpPr>
          <p:nvPr/>
        </p:nvCxnSpPr>
        <p:spPr>
          <a:xfrm>
            <a:off x="1436544" y="2854520"/>
            <a:ext cx="353269" cy="0"/>
          </a:xfrm>
          <a:prstGeom prst="line">
            <a:avLst/>
          </a:prstGeom>
          <a:ln w="19050">
            <a:solidFill>
              <a:schemeClr val="accent5">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7B938B5-0B38-8829-C78B-E8D2CBC95DA3}"/>
              </a:ext>
              <a:ext uri="{C183D7F6-B498-43B3-948B-1728B52AA6E4}">
                <adec:decorative xmlns:adec="http://schemas.microsoft.com/office/drawing/2017/decorative" val="1"/>
              </a:ext>
            </a:extLst>
          </p:cNvPr>
          <p:cNvCxnSpPr>
            <a:cxnSpLocks/>
          </p:cNvCxnSpPr>
          <p:nvPr/>
        </p:nvCxnSpPr>
        <p:spPr>
          <a:xfrm flipV="1">
            <a:off x="1858530" y="2837193"/>
            <a:ext cx="359135" cy="227086"/>
          </a:xfrm>
          <a:prstGeom prst="line">
            <a:avLst/>
          </a:prstGeom>
          <a:ln w="19050">
            <a:solidFill>
              <a:schemeClr val="accent4">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52434CC-398B-E890-1381-4952496FC95A}"/>
              </a:ext>
              <a:ext uri="{C183D7F6-B498-43B3-948B-1728B52AA6E4}">
                <adec:decorative xmlns:adec="http://schemas.microsoft.com/office/drawing/2017/decorative" val="1"/>
              </a:ext>
            </a:extLst>
          </p:cNvPr>
          <p:cNvSpPr/>
          <p:nvPr/>
        </p:nvSpPr>
        <p:spPr>
          <a:xfrm rot="19661657">
            <a:off x="2111200" y="2833738"/>
            <a:ext cx="172470" cy="29115"/>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F5F2EE"/>
              </a:solidFill>
              <a:effectLst/>
              <a:uLnTx/>
              <a:uFillTx/>
              <a:latin typeface="Marianne Light"/>
              <a:ea typeface="+mn-ea"/>
              <a:cs typeface="+mn-cs"/>
            </a:endParaRPr>
          </a:p>
        </p:txBody>
      </p:sp>
      <p:cxnSp>
        <p:nvCxnSpPr>
          <p:cNvPr id="15" name="Connecteur droit 14">
            <a:extLst>
              <a:ext uri="{FF2B5EF4-FFF2-40B4-BE49-F238E27FC236}">
                <a16:creationId xmlns:a16="http://schemas.microsoft.com/office/drawing/2014/main" id="{A9836916-09F7-8709-CCF0-06B540A8F221}"/>
              </a:ext>
              <a:ext uri="{C183D7F6-B498-43B3-948B-1728B52AA6E4}">
                <adec:decorative xmlns:adec="http://schemas.microsoft.com/office/drawing/2017/decorative" val="1"/>
              </a:ext>
            </a:extLst>
          </p:cNvPr>
          <p:cNvCxnSpPr>
            <a:cxnSpLocks/>
          </p:cNvCxnSpPr>
          <p:nvPr/>
        </p:nvCxnSpPr>
        <p:spPr>
          <a:xfrm>
            <a:off x="1436544" y="3063700"/>
            <a:ext cx="428209" cy="0"/>
          </a:xfrm>
          <a:prstGeom prst="line">
            <a:avLst/>
          </a:prstGeom>
          <a:ln w="19050">
            <a:solidFill>
              <a:schemeClr val="accent4">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081E8F64-CF91-9B7C-F653-39DBFCB9D7B0}"/>
              </a:ext>
              <a:ext uri="{C183D7F6-B498-43B3-948B-1728B52AA6E4}">
                <adec:decorative xmlns:adec="http://schemas.microsoft.com/office/drawing/2017/decorative" val="1"/>
              </a:ext>
            </a:extLst>
          </p:cNvPr>
          <p:cNvCxnSpPr>
            <a:cxnSpLocks/>
          </p:cNvCxnSpPr>
          <p:nvPr/>
        </p:nvCxnSpPr>
        <p:spPr>
          <a:xfrm>
            <a:off x="1858530" y="3400713"/>
            <a:ext cx="359135" cy="227086"/>
          </a:xfrm>
          <a:prstGeom prst="line">
            <a:avLst/>
          </a:prstGeom>
          <a:ln w="19050">
            <a:solidFill>
              <a:schemeClr val="accent4">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5E9A837-5850-9AC6-FB0E-D5CFED746A97}"/>
              </a:ext>
              <a:ext uri="{C183D7F6-B498-43B3-948B-1728B52AA6E4}">
                <adec:decorative xmlns:adec="http://schemas.microsoft.com/office/drawing/2017/decorative" val="1"/>
              </a:ext>
            </a:extLst>
          </p:cNvPr>
          <p:cNvSpPr/>
          <p:nvPr/>
        </p:nvSpPr>
        <p:spPr>
          <a:xfrm rot="1938343" flipV="1">
            <a:off x="2111200" y="3602140"/>
            <a:ext cx="172470" cy="29115"/>
          </a:xfrm>
          <a:prstGeom prst="rect">
            <a:avLst/>
          </a:prstGeom>
          <a:solidFill>
            <a:schemeClr val="accent4">
              <a:lumMod val="40000"/>
              <a:lumOff val="60000"/>
            </a:schemeClr>
          </a:solidFill>
          <a:ln w="1905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F5F2EE"/>
              </a:solidFill>
              <a:effectLst/>
              <a:uLnTx/>
              <a:uFillTx/>
              <a:latin typeface="Marianne Light"/>
              <a:ea typeface="+mn-ea"/>
              <a:cs typeface="+mn-cs"/>
            </a:endParaRPr>
          </a:p>
        </p:txBody>
      </p:sp>
      <p:cxnSp>
        <p:nvCxnSpPr>
          <p:cNvPr id="18" name="Connecteur droit 17">
            <a:extLst>
              <a:ext uri="{FF2B5EF4-FFF2-40B4-BE49-F238E27FC236}">
                <a16:creationId xmlns:a16="http://schemas.microsoft.com/office/drawing/2014/main" id="{B9BDEEAF-571C-8B30-1CC2-081CB23C7339}"/>
              </a:ext>
              <a:ext uri="{C183D7F6-B498-43B3-948B-1728B52AA6E4}">
                <adec:decorative xmlns:adec="http://schemas.microsoft.com/office/drawing/2017/decorative" val="1"/>
              </a:ext>
            </a:extLst>
          </p:cNvPr>
          <p:cNvCxnSpPr>
            <a:cxnSpLocks/>
          </p:cNvCxnSpPr>
          <p:nvPr/>
        </p:nvCxnSpPr>
        <p:spPr>
          <a:xfrm flipV="1">
            <a:off x="1436544" y="3401292"/>
            <a:ext cx="428209" cy="0"/>
          </a:xfrm>
          <a:prstGeom prst="line">
            <a:avLst/>
          </a:prstGeom>
          <a:ln w="19050">
            <a:solidFill>
              <a:schemeClr val="accent4">
                <a:lumMod val="20000"/>
                <a:lumOff val="8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30" name="Google Shape;289;p15">
            <a:extLst>
              <a:ext uri="{FF2B5EF4-FFF2-40B4-BE49-F238E27FC236}">
                <a16:creationId xmlns:a16="http://schemas.microsoft.com/office/drawing/2014/main" id="{157D7231-5E84-3816-4506-F8A9767A2343}"/>
              </a:ext>
            </a:extLst>
          </p:cNvPr>
          <p:cNvSpPr txBox="1">
            <a:spLocks noGrp="1"/>
          </p:cNvSpPr>
          <p:nvPr>
            <p:ph type="title"/>
          </p:nvPr>
        </p:nvSpPr>
        <p:spPr>
          <a:xfrm>
            <a:off x="1119600" y="252000"/>
            <a:ext cx="7030500" cy="70983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000" kern="1200" spc="-20" dirty="0">
                <a:solidFill>
                  <a:srgbClr val="002060"/>
                </a:solidFill>
                <a:latin typeface="+mj-lt"/>
                <a:ea typeface="+mn-ea"/>
                <a:cs typeface="+mn-cs"/>
              </a:rPr>
              <a:t>Méthodologie d’analyse</a:t>
            </a:r>
            <a:endParaRPr sz="2000" kern="1200" spc="-20" dirty="0">
              <a:solidFill>
                <a:srgbClr val="002060"/>
              </a:solidFill>
              <a:latin typeface="+mj-lt"/>
              <a:ea typeface="+mn-ea"/>
              <a:cs typeface="+mn-cs"/>
            </a:endParaRPr>
          </a:p>
        </p:txBody>
      </p:sp>
      <p:sp>
        <p:nvSpPr>
          <p:cNvPr id="23" name="Ellipse 22">
            <a:extLst>
              <a:ext uri="{FF2B5EF4-FFF2-40B4-BE49-F238E27FC236}">
                <a16:creationId xmlns:a16="http://schemas.microsoft.com/office/drawing/2014/main" id="{A93BFE77-E6FD-5E4F-BCBD-4165A7E0EFE7}"/>
              </a:ext>
            </a:extLst>
          </p:cNvPr>
          <p:cNvSpPr/>
          <p:nvPr/>
        </p:nvSpPr>
        <p:spPr>
          <a:xfrm>
            <a:off x="1858530" y="1626698"/>
            <a:ext cx="612000" cy="612000"/>
          </a:xfrm>
          <a:prstGeom prst="ellipse">
            <a:avLst/>
          </a:prstGeom>
          <a:solidFill>
            <a:schemeClr val="accent5">
              <a:lumMod val="40000"/>
              <a:lumOff val="6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9A0808"/>
                </a:solidFill>
                <a:effectLst/>
                <a:uLnTx/>
                <a:uFillTx/>
                <a:latin typeface="Marianne ExtraBold" panose="02000000000000000000" pitchFamily="2" charset="0"/>
                <a:ea typeface="+mn-ea"/>
                <a:cs typeface="+mn-cs"/>
              </a:rPr>
              <a:t>1</a:t>
            </a:r>
            <a:endParaRPr kumimoji="0" lang="fr-FR" sz="1800" b="0" i="0" u="none" strike="noStrike" kern="1200" cap="none" spc="0" normalizeH="0" baseline="0" noProof="0">
              <a:ln>
                <a:noFill/>
              </a:ln>
              <a:solidFill>
                <a:srgbClr val="9A0808"/>
              </a:solidFill>
              <a:effectLst/>
              <a:uLnTx/>
              <a:uFillTx/>
              <a:latin typeface="Marianne ExtraBold" panose="02000000000000000000" pitchFamily="2" charset="0"/>
              <a:ea typeface="+mn-ea"/>
              <a:cs typeface="+mn-cs"/>
            </a:endParaRPr>
          </a:p>
        </p:txBody>
      </p:sp>
      <p:sp>
        <p:nvSpPr>
          <p:cNvPr id="19" name="TextBox 82">
            <a:extLst>
              <a:ext uri="{FF2B5EF4-FFF2-40B4-BE49-F238E27FC236}">
                <a16:creationId xmlns:a16="http://schemas.microsoft.com/office/drawing/2014/main" id="{0FA39DC1-440F-9993-5447-9BEB3DF6B669}"/>
              </a:ext>
            </a:extLst>
          </p:cNvPr>
          <p:cNvSpPr txBox="1"/>
          <p:nvPr/>
        </p:nvSpPr>
        <p:spPr>
          <a:xfrm>
            <a:off x="2552345" y="1314220"/>
            <a:ext cx="4373476" cy="759182"/>
          </a:xfrm>
          <a:prstGeom prst="rect">
            <a:avLst/>
          </a:prstGeom>
          <a:noFill/>
        </p:spPr>
        <p:txBody>
          <a:bodyPr wrap="square" lIns="0" rIns="0" rtlCol="0" anchor="b">
            <a:spAutoFit/>
          </a:bodyPr>
          <a:lstStyle/>
          <a:p>
            <a:pPr>
              <a:spcAft>
                <a:spcPts val="400"/>
              </a:spcAft>
              <a:buClrTx/>
              <a:defRPr/>
            </a:pPr>
            <a:r>
              <a:rPr lang="fr-FR" sz="1100" b="1" kern="1200" dirty="0">
                <a:solidFill>
                  <a:srgbClr val="D92424">
                    <a:lumMod val="60000"/>
                    <a:lumOff val="40000"/>
                  </a:srgbClr>
                </a:solidFill>
                <a:latin typeface="Marianne"/>
                <a:ea typeface="+mn-ea"/>
                <a:cs typeface="+mn-cs"/>
              </a:rPr>
              <a:t>Structuration des indicateurs autour des positions de jeu afin de comprendre l’apport de chaque joueur au collectif  </a:t>
            </a:r>
          </a:p>
          <a:p>
            <a:pPr marL="171450" indent="-171450">
              <a:buClrTx/>
              <a:buFont typeface="Arial" panose="020B0604020202020204" pitchFamily="34" charset="0"/>
              <a:buChar char="•"/>
              <a:defRPr/>
            </a:pPr>
            <a:r>
              <a:rPr lang="fr-FR" sz="900" b="1" kern="1200" dirty="0">
                <a:solidFill>
                  <a:srgbClr val="293378"/>
                </a:solidFill>
                <a:latin typeface="Marianne Light"/>
                <a:ea typeface="+mn-ea"/>
                <a:cs typeface="+mn-cs"/>
              </a:rPr>
              <a:t>Production offensive, efficacité au tir, création et gestion du ballon, rebond et présence intérieure, défense active, impact collectif, rythme </a:t>
            </a:r>
          </a:p>
        </p:txBody>
      </p:sp>
      <p:sp>
        <p:nvSpPr>
          <p:cNvPr id="21" name="Ellipse 20">
            <a:extLst>
              <a:ext uri="{FF2B5EF4-FFF2-40B4-BE49-F238E27FC236}">
                <a16:creationId xmlns:a16="http://schemas.microsoft.com/office/drawing/2014/main" id="{34323B62-7718-CA35-45F2-F22A79BDCB89}"/>
              </a:ext>
            </a:extLst>
          </p:cNvPr>
          <p:cNvSpPr/>
          <p:nvPr/>
        </p:nvSpPr>
        <p:spPr>
          <a:xfrm>
            <a:off x="2227135" y="2318887"/>
            <a:ext cx="612000" cy="612000"/>
          </a:xfrm>
          <a:prstGeom prst="ellipse">
            <a:avLst/>
          </a:prstGeom>
          <a:solidFill>
            <a:schemeClr val="accent4">
              <a:lumMod val="40000"/>
              <a:lumOff val="6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96B00">
                    <a:lumMod val="75000"/>
                  </a:srgbClr>
                </a:solidFill>
                <a:effectLst/>
                <a:uLnTx/>
                <a:uFillTx/>
                <a:latin typeface="Marianne ExtraBold" panose="02000000000000000000" pitchFamily="2" charset="0"/>
                <a:ea typeface="+mn-ea"/>
                <a:cs typeface="+mn-cs"/>
              </a:rPr>
              <a:t>2</a:t>
            </a:r>
            <a:endParaRPr kumimoji="0" lang="fr-FR" sz="1800" b="0" i="0" u="none" strike="noStrike" kern="1200" cap="none" spc="0" normalizeH="0" baseline="0" noProof="0">
              <a:ln>
                <a:noFill/>
              </a:ln>
              <a:solidFill>
                <a:srgbClr val="D96B00">
                  <a:lumMod val="75000"/>
                </a:srgbClr>
              </a:solidFill>
              <a:effectLst/>
              <a:uLnTx/>
              <a:uFillTx/>
              <a:latin typeface="Marianne ExtraBold" panose="02000000000000000000" pitchFamily="2" charset="0"/>
              <a:ea typeface="+mn-ea"/>
              <a:cs typeface="+mn-cs"/>
            </a:endParaRPr>
          </a:p>
        </p:txBody>
      </p:sp>
      <p:sp>
        <p:nvSpPr>
          <p:cNvPr id="25" name="TextBox 82">
            <a:extLst>
              <a:ext uri="{FF2B5EF4-FFF2-40B4-BE49-F238E27FC236}">
                <a16:creationId xmlns:a16="http://schemas.microsoft.com/office/drawing/2014/main" id="{58337B9C-03E0-9119-0C25-E4D4CB4AC011}"/>
              </a:ext>
            </a:extLst>
          </p:cNvPr>
          <p:cNvSpPr txBox="1"/>
          <p:nvPr/>
        </p:nvSpPr>
        <p:spPr>
          <a:xfrm>
            <a:off x="2966258" y="2199396"/>
            <a:ext cx="3966962" cy="589905"/>
          </a:xfrm>
          <a:prstGeom prst="rect">
            <a:avLst/>
          </a:prstGeom>
          <a:noFill/>
        </p:spPr>
        <p:txBody>
          <a:bodyPr wrap="square" lIns="0" rIns="0" rtlCol="0" anchor="ctr">
            <a:spAutoFit/>
          </a:bodyPr>
          <a:lstStyle/>
          <a:p>
            <a:pPr>
              <a:spcAft>
                <a:spcPts val="400"/>
              </a:spcAft>
              <a:buClrTx/>
              <a:defRPr/>
            </a:pPr>
            <a:r>
              <a:rPr lang="fr-FR" sz="1100" b="1" kern="1200" dirty="0">
                <a:solidFill>
                  <a:srgbClr val="D96B00">
                    <a:lumMod val="60000"/>
                    <a:lumOff val="40000"/>
                  </a:srgbClr>
                </a:solidFill>
                <a:latin typeface="Marianne"/>
                <a:ea typeface="+mn-ea"/>
                <a:cs typeface="+mn-cs"/>
              </a:rPr>
              <a:t>Analyse statistique &amp; visuelle </a:t>
            </a:r>
            <a:endParaRPr kumimoji="0" lang="fr-FR" sz="1100" b="1" i="0" u="none" strike="noStrike" kern="1200" cap="none" spc="0" normalizeH="0" baseline="0" noProof="0" dirty="0">
              <a:ln>
                <a:noFill/>
              </a:ln>
              <a:solidFill>
                <a:srgbClr val="D96B00">
                  <a:lumMod val="60000"/>
                  <a:lumOff val="40000"/>
                </a:srgbClr>
              </a:solidFill>
              <a:effectLst/>
              <a:uLnTx/>
              <a:uFillTx/>
              <a:latin typeface="Marianne"/>
              <a:ea typeface="+mn-ea"/>
              <a:cs typeface="+mn-cs"/>
            </a:endParaRPr>
          </a:p>
          <a:p>
            <a:pPr marL="171450" indent="-171450">
              <a:buClrTx/>
              <a:buFont typeface="Arial" panose="020B0604020202020204" pitchFamily="34" charset="0"/>
              <a:buChar char="•"/>
              <a:defRPr/>
            </a:pPr>
            <a:r>
              <a:rPr lang="fr-FR" sz="900" b="1" kern="1200" dirty="0">
                <a:solidFill>
                  <a:srgbClr val="293378"/>
                </a:solidFill>
                <a:latin typeface="Marianne Light"/>
                <a:ea typeface="+mn-ea"/>
                <a:cs typeface="+mn-cs"/>
              </a:rPr>
              <a:t>Statistiques descriptives, liens clés entre indicateurs, graphiques comparatifs </a:t>
            </a:r>
          </a:p>
        </p:txBody>
      </p:sp>
      <p:sp>
        <p:nvSpPr>
          <p:cNvPr id="20" name="Ellipse 19">
            <a:extLst>
              <a:ext uri="{FF2B5EF4-FFF2-40B4-BE49-F238E27FC236}">
                <a16:creationId xmlns:a16="http://schemas.microsoft.com/office/drawing/2014/main" id="{BF046F3C-5D4F-A615-0E8B-E6530AEF3CC7}"/>
              </a:ext>
            </a:extLst>
          </p:cNvPr>
          <p:cNvSpPr/>
          <p:nvPr/>
        </p:nvSpPr>
        <p:spPr>
          <a:xfrm>
            <a:off x="2617022" y="2927662"/>
            <a:ext cx="612000" cy="612000"/>
          </a:xfrm>
          <a:prstGeom prst="ellipse">
            <a:avLst/>
          </a:prstGeom>
          <a:solidFill>
            <a:schemeClr val="accent2">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885600"/>
                </a:solidFill>
                <a:effectLst/>
                <a:uLnTx/>
                <a:uFillTx/>
                <a:latin typeface="Marianne ExtraBold" panose="02000000000000000000" pitchFamily="2" charset="0"/>
                <a:ea typeface="+mn-ea"/>
                <a:cs typeface="+mn-cs"/>
              </a:rPr>
              <a:t>3</a:t>
            </a:r>
            <a:endParaRPr kumimoji="0" lang="fr-FR" sz="1800" b="0" i="0" u="none" strike="noStrike" kern="1200" cap="none" spc="0" normalizeH="0" baseline="0" noProof="0">
              <a:ln>
                <a:noFill/>
              </a:ln>
              <a:solidFill>
                <a:srgbClr val="885600"/>
              </a:solidFill>
              <a:effectLst/>
              <a:uLnTx/>
              <a:uFillTx/>
              <a:latin typeface="Marianne ExtraBold" panose="02000000000000000000" pitchFamily="2" charset="0"/>
              <a:ea typeface="+mn-ea"/>
              <a:cs typeface="+mn-cs"/>
            </a:endParaRPr>
          </a:p>
        </p:txBody>
      </p:sp>
      <p:sp>
        <p:nvSpPr>
          <p:cNvPr id="26" name="TextBox 82">
            <a:extLst>
              <a:ext uri="{FF2B5EF4-FFF2-40B4-BE49-F238E27FC236}">
                <a16:creationId xmlns:a16="http://schemas.microsoft.com/office/drawing/2014/main" id="{4FFAF882-C18F-6A71-248A-E9D6DDE22CEB}"/>
              </a:ext>
            </a:extLst>
          </p:cNvPr>
          <p:cNvSpPr txBox="1"/>
          <p:nvPr/>
        </p:nvSpPr>
        <p:spPr>
          <a:xfrm>
            <a:off x="3373273" y="2934696"/>
            <a:ext cx="3229635" cy="728405"/>
          </a:xfrm>
          <a:prstGeom prst="rect">
            <a:avLst/>
          </a:prstGeom>
          <a:noFill/>
        </p:spPr>
        <p:txBody>
          <a:bodyPr wrap="square" lIns="0" rIns="0" rtlCol="0" anchor="ctr">
            <a:spAutoFit/>
          </a:bodyPr>
          <a:lstStyle/>
          <a:p>
            <a:pPr lvl="0">
              <a:spcAft>
                <a:spcPts val="400"/>
              </a:spcAft>
              <a:buClrTx/>
              <a:defRPr/>
            </a:pPr>
            <a:r>
              <a:rPr lang="fr-FR" sz="1100" b="1" kern="1200" dirty="0">
                <a:solidFill>
                  <a:srgbClr val="FFCC52">
                    <a:lumMod val="75000"/>
                  </a:srgbClr>
                </a:solidFill>
                <a:latin typeface="Marianne"/>
                <a:ea typeface="+mn-ea"/>
                <a:cs typeface="+mn-cs"/>
              </a:rPr>
              <a:t>Identification des leviers de 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900" b="1" kern="1200" dirty="0">
                <a:solidFill>
                  <a:srgbClr val="293378"/>
                </a:solidFill>
                <a:latin typeface="Marianne Light"/>
                <a:ea typeface="+mn-ea"/>
                <a:cs typeface="+mn-cs"/>
              </a:rPr>
              <a:t>Facteurs les plus corrélés à l’impact, mise en évidence des combos performants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900" b="0" i="0" u="none" strike="noStrike" kern="1200" cap="none" spc="0" normalizeH="0" baseline="0" noProof="0" dirty="0">
              <a:ln>
                <a:noFill/>
              </a:ln>
              <a:solidFill>
                <a:srgbClr val="293378"/>
              </a:solidFill>
              <a:effectLst/>
              <a:uLnTx/>
              <a:uFillTx/>
              <a:latin typeface="Marianne Light"/>
              <a:ea typeface="+mn-ea"/>
              <a:cs typeface="+mn-cs"/>
            </a:endParaRPr>
          </a:p>
        </p:txBody>
      </p:sp>
      <p:sp>
        <p:nvSpPr>
          <p:cNvPr id="22" name="Ellipse 21">
            <a:extLst>
              <a:ext uri="{FF2B5EF4-FFF2-40B4-BE49-F238E27FC236}">
                <a16:creationId xmlns:a16="http://schemas.microsoft.com/office/drawing/2014/main" id="{7737FD63-ACA6-875B-1857-B55FD4046579}"/>
              </a:ext>
            </a:extLst>
          </p:cNvPr>
          <p:cNvSpPr/>
          <p:nvPr/>
        </p:nvSpPr>
        <p:spPr>
          <a:xfrm>
            <a:off x="2227135" y="3534854"/>
            <a:ext cx="612000" cy="612000"/>
          </a:xfrm>
          <a:prstGeom prst="ellipse">
            <a:avLst/>
          </a:prstGeom>
          <a:solidFill>
            <a:schemeClr val="accent4">
              <a:lumMod val="40000"/>
              <a:lumOff val="6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6B00">
                    <a:lumMod val="75000"/>
                  </a:srgbClr>
                </a:solidFill>
                <a:effectLst/>
                <a:uLnTx/>
                <a:uFillTx/>
                <a:latin typeface="Marianne ExtraBold" panose="02000000000000000000" pitchFamily="2" charset="0"/>
                <a:ea typeface="+mn-ea"/>
                <a:cs typeface="+mn-cs"/>
              </a:rPr>
              <a:t>4</a:t>
            </a:r>
            <a:endParaRPr kumimoji="0" lang="fr-FR" sz="1800" b="0" i="0" u="none" strike="noStrike" kern="1200" cap="none" spc="0" normalizeH="0" baseline="0" noProof="0" dirty="0">
              <a:ln>
                <a:noFill/>
              </a:ln>
              <a:solidFill>
                <a:srgbClr val="D96B00">
                  <a:lumMod val="75000"/>
                </a:srgbClr>
              </a:solidFill>
              <a:effectLst/>
              <a:uLnTx/>
              <a:uFillTx/>
              <a:latin typeface="Marianne ExtraBold" panose="02000000000000000000" pitchFamily="2" charset="0"/>
              <a:ea typeface="+mn-ea"/>
              <a:cs typeface="+mn-cs"/>
            </a:endParaRPr>
          </a:p>
        </p:txBody>
      </p:sp>
      <p:sp>
        <p:nvSpPr>
          <p:cNvPr id="27" name="TextBox 82">
            <a:extLst>
              <a:ext uri="{FF2B5EF4-FFF2-40B4-BE49-F238E27FC236}">
                <a16:creationId xmlns:a16="http://schemas.microsoft.com/office/drawing/2014/main" id="{AE53EBB5-AF25-AB2B-54CC-DB3B1C589106}"/>
              </a:ext>
            </a:extLst>
          </p:cNvPr>
          <p:cNvSpPr txBox="1"/>
          <p:nvPr/>
        </p:nvSpPr>
        <p:spPr>
          <a:xfrm>
            <a:off x="2981498" y="3711353"/>
            <a:ext cx="3942856" cy="728405"/>
          </a:xfrm>
          <a:prstGeom prst="rect">
            <a:avLst/>
          </a:prstGeom>
          <a:noFill/>
        </p:spPr>
        <p:txBody>
          <a:bodyPr wrap="square" lIns="0" rIns="0" rtlCol="0" anchor="ctr">
            <a:spAutoFit/>
          </a:bodyPr>
          <a:lstStyle/>
          <a:p>
            <a:pPr lvl="0">
              <a:spcAft>
                <a:spcPts val="400"/>
              </a:spcAft>
              <a:buClrTx/>
              <a:defRPr/>
            </a:pPr>
            <a:r>
              <a:rPr lang="fr-FR" sz="1100" b="1" kern="1200" dirty="0">
                <a:solidFill>
                  <a:srgbClr val="D96B00">
                    <a:lumMod val="60000"/>
                    <a:lumOff val="40000"/>
                  </a:srgbClr>
                </a:solidFill>
                <a:latin typeface="Marianne"/>
                <a:ea typeface="+mn-ea"/>
                <a:cs typeface="+mn-cs"/>
              </a:rPr>
              <a:t>Transposition pour “Les Pionniers” </a:t>
            </a:r>
          </a:p>
          <a:p>
            <a:pPr marL="171450" indent="-171450">
              <a:buClrTx/>
              <a:buFont typeface="Arial" panose="020B0604020202020204" pitchFamily="34" charset="0"/>
              <a:buChar char="•"/>
              <a:defRPr/>
            </a:pPr>
            <a:r>
              <a:rPr lang="fr-FR" sz="900" b="1" kern="1200" dirty="0">
                <a:solidFill>
                  <a:srgbClr val="293378"/>
                </a:solidFill>
                <a:latin typeface="Marianne Light"/>
                <a:ea typeface="+mn-ea"/>
                <a:cs typeface="+mn-cs"/>
              </a:rPr>
              <a:t> Leviers adaptables localement, recommandations actionnables à court terme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900" b="0" i="0" u="none" strike="noStrike" kern="1200" cap="none" spc="0" normalizeH="0" baseline="0" noProof="0" dirty="0">
              <a:ln>
                <a:noFill/>
              </a:ln>
              <a:solidFill>
                <a:srgbClr val="293378"/>
              </a:solidFill>
              <a:effectLst/>
              <a:uLnTx/>
              <a:uFillTx/>
              <a:latin typeface="Marianne Light"/>
              <a:ea typeface="+mn-ea"/>
              <a:cs typeface="+mn-cs"/>
            </a:endParaRPr>
          </a:p>
        </p:txBody>
      </p:sp>
    </p:spTree>
    <p:extLst>
      <p:ext uri="{BB962C8B-B14F-4D97-AF65-F5344CB8AC3E}">
        <p14:creationId xmlns:p14="http://schemas.microsoft.com/office/powerpoint/2010/main" val="2818321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1119600" y="252000"/>
            <a:ext cx="7030500" cy="628059"/>
          </a:xfrm>
          <a:prstGeom prst="rect">
            <a:avLst/>
          </a:prstGeom>
        </p:spPr>
        <p:txBody>
          <a:bodyPr spcFirstLastPara="1" wrap="square" lIns="91425" tIns="91425" rIns="91425" bIns="91425" anchor="t" anchorCtr="0">
            <a:normAutofit/>
          </a:bodyPr>
          <a:lstStyle/>
          <a:p>
            <a:pPr lvl="0"/>
            <a:r>
              <a:rPr lang="fr" sz="2000" kern="1200" spc="-20" dirty="0">
                <a:solidFill>
                  <a:srgbClr val="002060"/>
                </a:solidFill>
                <a:latin typeface="+mj-lt"/>
                <a:ea typeface="+mn-ea"/>
                <a:cs typeface="+mn-cs"/>
              </a:rPr>
              <a:t>Saison 2024/2025 </a:t>
            </a:r>
            <a:r>
              <a:rPr lang="fr" sz="1100" kern="1200" spc="-20" dirty="0">
                <a:solidFill>
                  <a:srgbClr val="002060"/>
                </a:solidFill>
                <a:latin typeface="+mj-lt"/>
                <a:ea typeface="+mn-ea"/>
                <a:cs typeface="+mn-cs"/>
              </a:rPr>
              <a:t>(1/2)</a:t>
            </a:r>
            <a:endParaRPr sz="1100" kern="1200" spc="-20" dirty="0">
              <a:solidFill>
                <a:srgbClr val="002060"/>
              </a:solidFill>
              <a:latin typeface="+mj-lt"/>
              <a:ea typeface="+mn-ea"/>
              <a:cs typeface="+mn-cs"/>
            </a:endParaRPr>
          </a:p>
        </p:txBody>
      </p:sp>
      <p:pic>
        <p:nvPicPr>
          <p:cNvPr id="2" name="Image 1" descr="Histogramme points/equipe">
            <a:extLst>
              <a:ext uri="{FF2B5EF4-FFF2-40B4-BE49-F238E27FC236}">
                <a16:creationId xmlns:a16="http://schemas.microsoft.com/office/drawing/2014/main" id="{F5171ED6-29F1-423B-AD14-DF97CCDA82FB}"/>
              </a:ext>
            </a:extLst>
          </p:cNvPr>
          <p:cNvPicPr>
            <a:picLocks noChangeAspect="1"/>
          </p:cNvPicPr>
          <p:nvPr/>
        </p:nvPicPr>
        <p:blipFill>
          <a:blip r:embed="rId3"/>
          <a:stretch>
            <a:fillRect/>
          </a:stretch>
        </p:blipFill>
        <p:spPr>
          <a:xfrm>
            <a:off x="900000" y="1080000"/>
            <a:ext cx="5260288" cy="3799896"/>
          </a:xfrm>
          <a:prstGeom prst="rect">
            <a:avLst/>
          </a:prstGeom>
        </p:spPr>
      </p:pic>
      <p:sp>
        <p:nvSpPr>
          <p:cNvPr id="3" name="Rectangle: Rounded Corners 4">
            <a:extLst>
              <a:ext uri="{FF2B5EF4-FFF2-40B4-BE49-F238E27FC236}">
                <a16:creationId xmlns:a16="http://schemas.microsoft.com/office/drawing/2014/main" id="{036A0EAD-4586-97CA-0B0E-FD18C78337D2}"/>
              </a:ext>
            </a:extLst>
          </p:cNvPr>
          <p:cNvSpPr/>
          <p:nvPr/>
        </p:nvSpPr>
        <p:spPr>
          <a:xfrm flipH="1">
            <a:off x="6660000" y="1800000"/>
            <a:ext cx="2072111" cy="209419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L'efficacité offensive n'est ni une question de nombre ni d'âge, mais le fruit de la qualité individuelle et de la clarté de la hiérarchie. </a:t>
            </a:r>
          </a:p>
        </p:txBody>
      </p:sp>
      <p:pic>
        <p:nvPicPr>
          <p:cNvPr id="8" name="Graphique 7" descr="Recherche avec un remplissage uni">
            <a:extLst>
              <a:ext uri="{FF2B5EF4-FFF2-40B4-BE49-F238E27FC236}">
                <a16:creationId xmlns:a16="http://schemas.microsoft.com/office/drawing/2014/main" id="{D99C23BB-C6C1-13CF-7223-A45D76AE6F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9601" y="1845351"/>
            <a:ext cx="486370" cy="486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67DE45BB-C649-0315-CDBF-F9FEFE32960B}"/>
            </a:ext>
          </a:extLst>
        </p:cNvPr>
        <p:cNvGrpSpPr/>
        <p:nvPr/>
      </p:nvGrpSpPr>
      <p:grpSpPr>
        <a:xfrm>
          <a:off x="0" y="0"/>
          <a:ext cx="0" cy="0"/>
          <a:chOff x="0" y="0"/>
          <a:chExt cx="0" cy="0"/>
        </a:xfrm>
      </p:grpSpPr>
      <p:sp>
        <p:nvSpPr>
          <p:cNvPr id="295" name="Google Shape;295;p16">
            <a:extLst>
              <a:ext uri="{FF2B5EF4-FFF2-40B4-BE49-F238E27FC236}">
                <a16:creationId xmlns:a16="http://schemas.microsoft.com/office/drawing/2014/main" id="{E3C65701-7056-EBA4-D00A-C7D71EE2FA1D}"/>
              </a:ext>
            </a:extLst>
          </p:cNvPr>
          <p:cNvSpPr txBox="1">
            <a:spLocks noGrp="1"/>
          </p:cNvSpPr>
          <p:nvPr>
            <p:ph type="title"/>
          </p:nvPr>
        </p:nvSpPr>
        <p:spPr>
          <a:xfrm>
            <a:off x="1119600" y="252000"/>
            <a:ext cx="7030500" cy="628059"/>
          </a:xfrm>
          <a:prstGeom prst="rect">
            <a:avLst/>
          </a:prstGeom>
        </p:spPr>
        <p:txBody>
          <a:bodyPr spcFirstLastPara="1" wrap="square" lIns="91425" tIns="91425" rIns="91425" bIns="91425" anchor="t" anchorCtr="0">
            <a:normAutofit/>
          </a:bodyPr>
          <a:lstStyle/>
          <a:p>
            <a:r>
              <a:rPr lang="fr" sz="2000" kern="1200" spc="-20" dirty="0">
                <a:solidFill>
                  <a:srgbClr val="002060"/>
                </a:solidFill>
                <a:latin typeface="+mj-lt"/>
                <a:ea typeface="+mn-ea"/>
                <a:cs typeface="+mn-cs"/>
              </a:rPr>
              <a:t>Saison 2024/2025 </a:t>
            </a:r>
            <a:r>
              <a:rPr lang="fr" sz="1100" kern="1200" spc="-20" dirty="0">
                <a:solidFill>
                  <a:srgbClr val="002060"/>
                </a:solidFill>
                <a:latin typeface="+mj-lt"/>
                <a:ea typeface="+mn-ea"/>
                <a:cs typeface="+mn-cs"/>
              </a:rPr>
              <a:t>(2/2)</a:t>
            </a:r>
            <a:endParaRPr sz="1100" kern="1200" spc="-20" dirty="0">
              <a:solidFill>
                <a:srgbClr val="002060"/>
              </a:solidFill>
              <a:latin typeface="+mj-lt"/>
              <a:ea typeface="+mn-ea"/>
              <a:cs typeface="+mn-cs"/>
            </a:endParaRPr>
          </a:p>
        </p:txBody>
      </p:sp>
      <p:pic>
        <p:nvPicPr>
          <p:cNvPr id="4" name="Graphique 3" descr="Index pointant vers la droite vu du côté du dos de la main avec un remplissage uni">
            <a:extLst>
              <a:ext uri="{FF2B5EF4-FFF2-40B4-BE49-F238E27FC236}">
                <a16:creationId xmlns:a16="http://schemas.microsoft.com/office/drawing/2014/main" id="{E020D651-81C8-5C05-78CB-15E079FB6F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4958" y="1860624"/>
            <a:ext cx="233710" cy="233710"/>
          </a:xfrm>
          <a:prstGeom prst="rect">
            <a:avLst/>
          </a:prstGeom>
        </p:spPr>
      </p:pic>
      <p:pic>
        <p:nvPicPr>
          <p:cNvPr id="9" name="Image 8" descr="Pareto 25 marque 60% des points">
            <a:extLst>
              <a:ext uri="{FF2B5EF4-FFF2-40B4-BE49-F238E27FC236}">
                <a16:creationId xmlns:a16="http://schemas.microsoft.com/office/drawing/2014/main" id="{A89C53D3-2235-6080-384A-B6FB308EF2E6}"/>
              </a:ext>
            </a:extLst>
          </p:cNvPr>
          <p:cNvPicPr>
            <a:picLocks noChangeAspect="1"/>
          </p:cNvPicPr>
          <p:nvPr/>
        </p:nvPicPr>
        <p:blipFill>
          <a:blip r:embed="rId5"/>
          <a:stretch>
            <a:fillRect/>
          </a:stretch>
        </p:blipFill>
        <p:spPr>
          <a:xfrm>
            <a:off x="900000" y="1080000"/>
            <a:ext cx="5488668" cy="3214193"/>
          </a:xfrm>
          <a:prstGeom prst="rect">
            <a:avLst/>
          </a:prstGeom>
        </p:spPr>
      </p:pic>
      <p:sp>
        <p:nvSpPr>
          <p:cNvPr id="10" name="Rectangle: Rounded Corners 4">
            <a:extLst>
              <a:ext uri="{FF2B5EF4-FFF2-40B4-BE49-F238E27FC236}">
                <a16:creationId xmlns:a16="http://schemas.microsoft.com/office/drawing/2014/main" id="{6A7E971E-8985-1F32-395C-4901F169A8E3}"/>
              </a:ext>
            </a:extLst>
          </p:cNvPr>
          <p:cNvSpPr/>
          <p:nvPr/>
        </p:nvSpPr>
        <p:spPr>
          <a:xfrm flipH="1">
            <a:off x="6659999" y="1800000"/>
            <a:ext cx="2072111" cy="155280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Quelques leaders portent l’attaque, le collectif fait le reste.</a:t>
            </a:r>
          </a:p>
        </p:txBody>
      </p:sp>
      <p:pic>
        <p:nvPicPr>
          <p:cNvPr id="11" name="Graphique 10" descr="Recherche avec un remplissage uni">
            <a:extLst>
              <a:ext uri="{FF2B5EF4-FFF2-40B4-BE49-F238E27FC236}">
                <a16:creationId xmlns:a16="http://schemas.microsoft.com/office/drawing/2014/main" id="{C4F793A3-1193-C7F5-CC70-77413DA035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9601" y="1845351"/>
            <a:ext cx="486370" cy="486370"/>
          </a:xfrm>
          <a:prstGeom prst="rect">
            <a:avLst/>
          </a:prstGeom>
        </p:spPr>
      </p:pic>
    </p:spTree>
    <p:extLst>
      <p:ext uri="{BB962C8B-B14F-4D97-AF65-F5344CB8AC3E}">
        <p14:creationId xmlns:p14="http://schemas.microsoft.com/office/powerpoint/2010/main" val="310208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119600" y="252000"/>
            <a:ext cx="7030500" cy="657796"/>
          </a:xfrm>
          <a:prstGeom prst="rect">
            <a:avLst/>
          </a:prstGeom>
        </p:spPr>
        <p:txBody>
          <a:bodyPr spcFirstLastPara="1" wrap="square" lIns="91425" tIns="91425" rIns="91425" bIns="91425" anchor="t" anchorCtr="0">
            <a:normAutofit/>
          </a:bodyPr>
          <a:lstStyle/>
          <a:p>
            <a:pPr lvl="0"/>
            <a:r>
              <a:rPr lang="fr" sz="2000" kern="1200" spc="-20" dirty="0">
                <a:solidFill>
                  <a:srgbClr val="002060"/>
                </a:solidFill>
                <a:latin typeface="+mj-lt"/>
                <a:ea typeface="+mn-ea"/>
                <a:cs typeface="+mn-cs"/>
              </a:rPr>
              <a:t>Analyse d’une équipe « </a:t>
            </a:r>
            <a:r>
              <a:rPr lang="fr-FR" sz="2000" kern="1200" spc="-20" dirty="0">
                <a:solidFill>
                  <a:srgbClr val="002060"/>
                </a:solidFill>
                <a:latin typeface="+mj-lt"/>
                <a:ea typeface="+mn-ea"/>
                <a:cs typeface="+mn-cs"/>
              </a:rPr>
              <a:t>Los Angeles Lakers » </a:t>
            </a:r>
            <a:r>
              <a:rPr lang="fr-FR" sz="1100" kern="1200" spc="-20" dirty="0">
                <a:solidFill>
                  <a:srgbClr val="002060"/>
                </a:solidFill>
                <a:latin typeface="+mj-lt"/>
                <a:ea typeface="+mn-ea"/>
                <a:cs typeface="+mn-cs"/>
              </a:rPr>
              <a:t>(1/2) </a:t>
            </a:r>
            <a:endParaRPr sz="1100" kern="1200" spc="-20" dirty="0">
              <a:solidFill>
                <a:srgbClr val="002060"/>
              </a:solidFill>
              <a:latin typeface="+mj-lt"/>
              <a:ea typeface="+mn-ea"/>
              <a:cs typeface="+mn-cs"/>
            </a:endParaRPr>
          </a:p>
        </p:txBody>
      </p:sp>
      <p:pic>
        <p:nvPicPr>
          <p:cNvPr id="3" name="Image 2" descr="Une image contenant Police, Graphique, texte, logo">
            <a:extLst>
              <a:ext uri="{FF2B5EF4-FFF2-40B4-BE49-F238E27FC236}">
                <a16:creationId xmlns:a16="http://schemas.microsoft.com/office/drawing/2014/main" id="{3C2B47A5-242B-BA58-4B03-D9133A6BA176}"/>
              </a:ext>
            </a:extLst>
          </p:cNvPr>
          <p:cNvPicPr>
            <a:picLocks noChangeAspect="1"/>
          </p:cNvPicPr>
          <p:nvPr/>
        </p:nvPicPr>
        <p:blipFill>
          <a:blip r:embed="rId3"/>
          <a:stretch>
            <a:fillRect/>
          </a:stretch>
        </p:blipFill>
        <p:spPr>
          <a:xfrm>
            <a:off x="8024045" y="292106"/>
            <a:ext cx="777761" cy="482211"/>
          </a:xfrm>
          <a:prstGeom prst="rect">
            <a:avLst/>
          </a:prstGeom>
        </p:spPr>
      </p:pic>
      <p:pic>
        <p:nvPicPr>
          <p:cNvPr id="2" name="Image 1" descr="Analyse des rebonds Lakers">
            <a:extLst>
              <a:ext uri="{FF2B5EF4-FFF2-40B4-BE49-F238E27FC236}">
                <a16:creationId xmlns:a16="http://schemas.microsoft.com/office/drawing/2014/main" id="{DA91F173-A834-6E37-7173-D3D559FA5E67}"/>
              </a:ext>
            </a:extLst>
          </p:cNvPr>
          <p:cNvPicPr>
            <a:picLocks noChangeAspect="1"/>
          </p:cNvPicPr>
          <p:nvPr/>
        </p:nvPicPr>
        <p:blipFill>
          <a:blip r:embed="rId4"/>
          <a:stretch>
            <a:fillRect/>
          </a:stretch>
        </p:blipFill>
        <p:spPr>
          <a:xfrm>
            <a:off x="900000" y="1080000"/>
            <a:ext cx="5513461" cy="3305557"/>
          </a:xfrm>
          <a:prstGeom prst="rect">
            <a:avLst/>
          </a:prstGeom>
        </p:spPr>
      </p:pic>
      <p:sp>
        <p:nvSpPr>
          <p:cNvPr id="7" name="Rectangle: Rounded Corners 4">
            <a:extLst>
              <a:ext uri="{FF2B5EF4-FFF2-40B4-BE49-F238E27FC236}">
                <a16:creationId xmlns:a16="http://schemas.microsoft.com/office/drawing/2014/main" id="{BE3CD42D-E489-4A07-9BA7-A0022B40782C}"/>
              </a:ext>
            </a:extLst>
          </p:cNvPr>
          <p:cNvSpPr/>
          <p:nvPr/>
        </p:nvSpPr>
        <p:spPr>
          <a:xfrm flipH="1">
            <a:off x="6659999" y="1800000"/>
            <a:ext cx="2072111" cy="166710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Le rebond défensif des Lakers crée de la valeur, mais repose sur trop peu d’acteurs.</a:t>
            </a:r>
          </a:p>
        </p:txBody>
      </p:sp>
      <p:pic>
        <p:nvPicPr>
          <p:cNvPr id="8" name="Graphique 7" descr="Recherche avec un remplissage uni">
            <a:extLst>
              <a:ext uri="{FF2B5EF4-FFF2-40B4-BE49-F238E27FC236}">
                <a16:creationId xmlns:a16="http://schemas.microsoft.com/office/drawing/2014/main" id="{83278E79-53F6-4F87-7918-867C5A3A2A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9601" y="1845351"/>
            <a:ext cx="486370" cy="4863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CF191C4-EFAB-1643-5A90-5F93BB75B81F}"/>
            </a:ext>
          </a:extLst>
        </p:cNvPr>
        <p:cNvGrpSpPr/>
        <p:nvPr/>
      </p:nvGrpSpPr>
      <p:grpSpPr>
        <a:xfrm>
          <a:off x="0" y="0"/>
          <a:ext cx="0" cy="0"/>
          <a:chOff x="0" y="0"/>
          <a:chExt cx="0" cy="0"/>
        </a:xfrm>
      </p:grpSpPr>
      <p:sp>
        <p:nvSpPr>
          <p:cNvPr id="301" name="Google Shape;301;p17">
            <a:extLst>
              <a:ext uri="{FF2B5EF4-FFF2-40B4-BE49-F238E27FC236}">
                <a16:creationId xmlns:a16="http://schemas.microsoft.com/office/drawing/2014/main" id="{5A2F3040-386E-66DE-4698-F5947994FF53}"/>
              </a:ext>
            </a:extLst>
          </p:cNvPr>
          <p:cNvSpPr txBox="1">
            <a:spLocks noGrp="1"/>
          </p:cNvSpPr>
          <p:nvPr>
            <p:ph type="title"/>
          </p:nvPr>
        </p:nvSpPr>
        <p:spPr>
          <a:xfrm>
            <a:off x="1119600" y="252000"/>
            <a:ext cx="7030500" cy="680098"/>
          </a:xfrm>
          <a:prstGeom prst="rect">
            <a:avLst/>
          </a:prstGeom>
        </p:spPr>
        <p:txBody>
          <a:bodyPr spcFirstLastPara="1" wrap="square" lIns="91425" tIns="91425" rIns="91425" bIns="91425" anchor="t" anchorCtr="0">
            <a:normAutofit/>
          </a:bodyPr>
          <a:lstStyle/>
          <a:p>
            <a:pPr lvl="0"/>
            <a:r>
              <a:rPr lang="fr" sz="2000" kern="1200" spc="-20" dirty="0">
                <a:solidFill>
                  <a:srgbClr val="002060"/>
                </a:solidFill>
                <a:latin typeface="+mj-lt"/>
                <a:ea typeface="+mn-ea"/>
                <a:cs typeface="+mn-cs"/>
              </a:rPr>
              <a:t>Analyse d’une équipe « </a:t>
            </a:r>
            <a:r>
              <a:rPr lang="fr-FR" sz="2000" kern="1200" spc="-20" dirty="0">
                <a:solidFill>
                  <a:srgbClr val="002060"/>
                </a:solidFill>
                <a:latin typeface="+mj-lt"/>
                <a:ea typeface="+mn-ea"/>
                <a:cs typeface="+mn-cs"/>
              </a:rPr>
              <a:t>Los Angeles Lakers » </a:t>
            </a:r>
            <a:r>
              <a:rPr lang="fr-FR" sz="1100" kern="1200" spc="-20" dirty="0">
                <a:solidFill>
                  <a:srgbClr val="002060"/>
                </a:solidFill>
                <a:latin typeface="+mj-lt"/>
                <a:ea typeface="+mn-ea"/>
                <a:cs typeface="+mn-cs"/>
              </a:rPr>
              <a:t>(2/2)</a:t>
            </a:r>
            <a:endParaRPr sz="1100" kern="1200" spc="-20" dirty="0">
              <a:solidFill>
                <a:srgbClr val="002060"/>
              </a:solidFill>
              <a:latin typeface="+mj-lt"/>
              <a:ea typeface="+mn-ea"/>
              <a:cs typeface="+mn-cs"/>
            </a:endParaRPr>
          </a:p>
        </p:txBody>
      </p:sp>
      <p:pic>
        <p:nvPicPr>
          <p:cNvPr id="11" name="Image 10" descr="Analyse Passes Lakers">
            <a:extLst>
              <a:ext uri="{FF2B5EF4-FFF2-40B4-BE49-F238E27FC236}">
                <a16:creationId xmlns:a16="http://schemas.microsoft.com/office/drawing/2014/main" id="{C47504AC-48DD-4E6F-AA7B-60C8A6F462AF}"/>
              </a:ext>
            </a:extLst>
          </p:cNvPr>
          <p:cNvPicPr>
            <a:picLocks noChangeAspect="1"/>
          </p:cNvPicPr>
          <p:nvPr/>
        </p:nvPicPr>
        <p:blipFill>
          <a:blip r:embed="rId3"/>
          <a:stretch>
            <a:fillRect/>
          </a:stretch>
        </p:blipFill>
        <p:spPr>
          <a:xfrm>
            <a:off x="900000" y="1080000"/>
            <a:ext cx="5513463" cy="3156225"/>
          </a:xfrm>
          <a:prstGeom prst="rect">
            <a:avLst/>
          </a:prstGeom>
        </p:spPr>
      </p:pic>
      <p:pic>
        <p:nvPicPr>
          <p:cNvPr id="2" name="Image 1" descr="Une image contenant Police, Graphique, texte, logo">
            <a:extLst>
              <a:ext uri="{FF2B5EF4-FFF2-40B4-BE49-F238E27FC236}">
                <a16:creationId xmlns:a16="http://schemas.microsoft.com/office/drawing/2014/main" id="{D9578E18-B5DB-6F82-F259-4DE4B4026729}"/>
              </a:ext>
            </a:extLst>
          </p:cNvPr>
          <p:cNvPicPr>
            <a:picLocks noChangeAspect="1"/>
          </p:cNvPicPr>
          <p:nvPr/>
        </p:nvPicPr>
        <p:blipFill>
          <a:blip r:embed="rId4"/>
          <a:stretch>
            <a:fillRect/>
          </a:stretch>
        </p:blipFill>
        <p:spPr>
          <a:xfrm>
            <a:off x="8024045" y="292106"/>
            <a:ext cx="777761" cy="482211"/>
          </a:xfrm>
          <a:prstGeom prst="rect">
            <a:avLst/>
          </a:prstGeom>
        </p:spPr>
      </p:pic>
      <p:sp>
        <p:nvSpPr>
          <p:cNvPr id="3" name="Rectangle: Rounded Corners 4">
            <a:extLst>
              <a:ext uri="{FF2B5EF4-FFF2-40B4-BE49-F238E27FC236}">
                <a16:creationId xmlns:a16="http://schemas.microsoft.com/office/drawing/2014/main" id="{5F4419C4-5A4A-AF05-1A98-1286458CBE62}"/>
              </a:ext>
            </a:extLst>
          </p:cNvPr>
          <p:cNvSpPr/>
          <p:nvPr/>
        </p:nvSpPr>
        <p:spPr>
          <a:xfrm flipH="1">
            <a:off x="6659998" y="1800000"/>
            <a:ext cx="2072111" cy="204048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Concentration de l’impact, dilution du collectif : une dépendance qui explique un classement en bas de tableau</a:t>
            </a:r>
          </a:p>
          <a:p>
            <a:pPr lvl="0" algn="ctr">
              <a:spcAft>
                <a:spcPts val="400"/>
              </a:spcAft>
              <a:buClr>
                <a:srgbClr val="D92424"/>
              </a:buClr>
              <a:defRPr/>
            </a:pPr>
            <a:r>
              <a:rPr lang="fr-FR" sz="1050" b="1" kern="1200" dirty="0">
                <a:solidFill>
                  <a:srgbClr val="293378"/>
                </a:solidFill>
                <a:latin typeface="Marianne Medium" panose="02000000000000000000" pitchFamily="2" charset="0"/>
              </a:rPr>
              <a:t>(25</a:t>
            </a:r>
            <a:r>
              <a:rPr lang="fr-FR" sz="1050" b="1" kern="1200" baseline="30000" dirty="0">
                <a:solidFill>
                  <a:srgbClr val="293378"/>
                </a:solidFill>
                <a:latin typeface="Marianne Medium" panose="02000000000000000000" pitchFamily="2" charset="0"/>
              </a:rPr>
              <a:t>ème</a:t>
            </a:r>
            <a:r>
              <a:rPr lang="fr-FR" sz="1050" b="1" kern="1200" dirty="0">
                <a:solidFill>
                  <a:srgbClr val="293378"/>
                </a:solidFill>
                <a:latin typeface="Marianne Medium" panose="02000000000000000000" pitchFamily="2" charset="0"/>
              </a:rPr>
              <a:t>/30). </a:t>
            </a:r>
          </a:p>
        </p:txBody>
      </p:sp>
      <p:pic>
        <p:nvPicPr>
          <p:cNvPr id="4" name="Graphique 3" descr="Recherche avec un remplissage uni">
            <a:extLst>
              <a:ext uri="{FF2B5EF4-FFF2-40B4-BE49-F238E27FC236}">
                <a16:creationId xmlns:a16="http://schemas.microsoft.com/office/drawing/2014/main" id="{C5C9A8B9-5C1D-0623-4192-6027AFBFE9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9601" y="1845351"/>
            <a:ext cx="486370" cy="486370"/>
          </a:xfrm>
          <a:prstGeom prst="rect">
            <a:avLst/>
          </a:prstGeom>
        </p:spPr>
      </p:pic>
    </p:spTree>
    <p:extLst>
      <p:ext uri="{BB962C8B-B14F-4D97-AF65-F5344CB8AC3E}">
        <p14:creationId xmlns:p14="http://schemas.microsoft.com/office/powerpoint/2010/main" val="1189999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1119600" y="252000"/>
            <a:ext cx="7030500" cy="60538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000" kern="1200" spc="-20" dirty="0">
                <a:solidFill>
                  <a:srgbClr val="002060"/>
                </a:solidFill>
                <a:latin typeface="+mj-lt"/>
                <a:ea typeface="+mn-ea"/>
                <a:cs typeface="+mn-cs"/>
              </a:rPr>
              <a:t>Analyse du top 15 </a:t>
            </a:r>
            <a:r>
              <a:rPr lang="fr" sz="1100" kern="1200" spc="-20" dirty="0">
                <a:solidFill>
                  <a:srgbClr val="002060"/>
                </a:solidFill>
                <a:latin typeface="+mj-lt"/>
                <a:ea typeface="+mn-ea"/>
                <a:cs typeface="+mn-cs"/>
              </a:rPr>
              <a:t>(par points), </a:t>
            </a:r>
            <a:r>
              <a:rPr lang="fr" sz="2000" kern="1200" spc="-20" dirty="0">
                <a:solidFill>
                  <a:srgbClr val="002060"/>
                </a:solidFill>
                <a:latin typeface="+mj-lt"/>
                <a:ea typeface="+mn-ea"/>
                <a:cs typeface="+mn-cs"/>
              </a:rPr>
              <a:t>Efficacité aux tirs</a:t>
            </a:r>
            <a:endParaRPr sz="2000" kern="1200" spc="-20" dirty="0">
              <a:solidFill>
                <a:srgbClr val="002060"/>
              </a:solidFill>
              <a:latin typeface="+mj-lt"/>
              <a:ea typeface="+mn-ea"/>
              <a:cs typeface="+mn-cs"/>
            </a:endParaRPr>
          </a:p>
        </p:txBody>
      </p:sp>
      <p:pic>
        <p:nvPicPr>
          <p:cNvPr id="2" name="Image 1" descr="Histogramme point vs pourcentage de tir réussi">
            <a:extLst>
              <a:ext uri="{FF2B5EF4-FFF2-40B4-BE49-F238E27FC236}">
                <a16:creationId xmlns:a16="http://schemas.microsoft.com/office/drawing/2014/main" id="{756D68B5-E0DF-3916-F68B-E8670A510341}"/>
              </a:ext>
            </a:extLst>
          </p:cNvPr>
          <p:cNvPicPr>
            <a:picLocks noChangeAspect="1"/>
          </p:cNvPicPr>
          <p:nvPr/>
        </p:nvPicPr>
        <p:blipFill>
          <a:blip r:embed="rId3"/>
          <a:stretch>
            <a:fillRect/>
          </a:stretch>
        </p:blipFill>
        <p:spPr>
          <a:xfrm>
            <a:off x="900000" y="1080001"/>
            <a:ext cx="5449321" cy="3232920"/>
          </a:xfrm>
          <a:prstGeom prst="rect">
            <a:avLst/>
          </a:prstGeom>
        </p:spPr>
      </p:pic>
      <p:sp>
        <p:nvSpPr>
          <p:cNvPr id="4" name="Rectangle: Rounded Corners 4">
            <a:extLst>
              <a:ext uri="{FF2B5EF4-FFF2-40B4-BE49-F238E27FC236}">
                <a16:creationId xmlns:a16="http://schemas.microsoft.com/office/drawing/2014/main" id="{A52EB588-7794-3AFB-34DA-E28A7430754D}"/>
              </a:ext>
            </a:extLst>
          </p:cNvPr>
          <p:cNvSpPr/>
          <p:nvPr/>
        </p:nvSpPr>
        <p:spPr>
          <a:xfrm flipH="1">
            <a:off x="6659997" y="1792380"/>
            <a:ext cx="2072111" cy="154518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Ce n’est pas le volume qui distingue les meilleurs, c’est l’efficacité.</a:t>
            </a:r>
          </a:p>
        </p:txBody>
      </p:sp>
      <p:pic>
        <p:nvPicPr>
          <p:cNvPr id="5" name="Graphique 4" descr="Recherche avec un remplissage uni">
            <a:extLst>
              <a:ext uri="{FF2B5EF4-FFF2-40B4-BE49-F238E27FC236}">
                <a16:creationId xmlns:a16="http://schemas.microsoft.com/office/drawing/2014/main" id="{7E844B31-D251-F2CA-A330-03590F0671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9601" y="1845351"/>
            <a:ext cx="486370" cy="486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6">
          <a:extLst>
            <a:ext uri="{FF2B5EF4-FFF2-40B4-BE49-F238E27FC236}">
              <a16:creationId xmlns:a16="http://schemas.microsoft.com/office/drawing/2014/main" id="{FD4B6475-12D1-20F3-221F-6A5BF5C3552B}"/>
            </a:ext>
          </a:extLst>
        </p:cNvPr>
        <p:cNvGrpSpPr/>
        <p:nvPr/>
      </p:nvGrpSpPr>
      <p:grpSpPr>
        <a:xfrm>
          <a:off x="0" y="0"/>
          <a:ext cx="0" cy="0"/>
          <a:chOff x="0" y="0"/>
          <a:chExt cx="0" cy="0"/>
        </a:xfrm>
      </p:grpSpPr>
      <p:sp>
        <p:nvSpPr>
          <p:cNvPr id="4" name="Google Shape;307;p18">
            <a:extLst>
              <a:ext uri="{FF2B5EF4-FFF2-40B4-BE49-F238E27FC236}">
                <a16:creationId xmlns:a16="http://schemas.microsoft.com/office/drawing/2014/main" id="{E9906458-CC7A-AE8F-FB7A-E58FB0B97C21}"/>
              </a:ext>
            </a:extLst>
          </p:cNvPr>
          <p:cNvSpPr txBox="1">
            <a:spLocks noGrp="1"/>
          </p:cNvSpPr>
          <p:nvPr>
            <p:ph type="title"/>
          </p:nvPr>
        </p:nvSpPr>
        <p:spPr>
          <a:xfrm>
            <a:off x="1119600" y="252000"/>
            <a:ext cx="7030500" cy="60538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000" kern="1200" spc="-20" dirty="0">
                <a:solidFill>
                  <a:srgbClr val="002060"/>
                </a:solidFill>
                <a:latin typeface="+mj-lt"/>
                <a:ea typeface="+mn-ea"/>
                <a:cs typeface="+mn-cs"/>
              </a:rPr>
              <a:t>Analyse du top 15 </a:t>
            </a:r>
            <a:r>
              <a:rPr lang="fr" sz="1100" kern="1200" spc="-20" dirty="0">
                <a:solidFill>
                  <a:srgbClr val="002060"/>
                </a:solidFill>
                <a:latin typeface="+mj-lt"/>
                <a:ea typeface="+mn-ea"/>
                <a:cs typeface="+mn-cs"/>
              </a:rPr>
              <a:t>(par points) </a:t>
            </a:r>
            <a:r>
              <a:rPr lang="fr" sz="2000" kern="1200" spc="-20" dirty="0">
                <a:solidFill>
                  <a:srgbClr val="002060"/>
                </a:solidFill>
                <a:latin typeface="+mj-lt"/>
                <a:ea typeface="+mn-ea"/>
                <a:cs typeface="+mn-cs"/>
              </a:rPr>
              <a:t>, Impact</a:t>
            </a:r>
            <a:endParaRPr sz="2000" kern="1200" spc="-20" dirty="0">
              <a:solidFill>
                <a:srgbClr val="002060"/>
              </a:solidFill>
              <a:latin typeface="+mj-lt"/>
              <a:ea typeface="+mn-ea"/>
              <a:cs typeface="+mn-cs"/>
            </a:endParaRPr>
          </a:p>
        </p:txBody>
      </p:sp>
      <p:pic>
        <p:nvPicPr>
          <p:cNvPr id="7" name="Image 6" descr="Nuage de point Impact/OREB/Efficacité au tir">
            <a:extLst>
              <a:ext uri="{FF2B5EF4-FFF2-40B4-BE49-F238E27FC236}">
                <a16:creationId xmlns:a16="http://schemas.microsoft.com/office/drawing/2014/main" id="{E9B1FE05-9918-FDEA-DF2D-B74642F787E4}"/>
              </a:ext>
            </a:extLst>
          </p:cNvPr>
          <p:cNvPicPr>
            <a:picLocks noChangeAspect="1"/>
          </p:cNvPicPr>
          <p:nvPr/>
        </p:nvPicPr>
        <p:blipFill>
          <a:blip r:embed="rId3"/>
          <a:stretch>
            <a:fillRect/>
          </a:stretch>
        </p:blipFill>
        <p:spPr>
          <a:xfrm>
            <a:off x="900000" y="1080001"/>
            <a:ext cx="5513465" cy="3493643"/>
          </a:xfrm>
          <a:prstGeom prst="rect">
            <a:avLst/>
          </a:prstGeom>
        </p:spPr>
      </p:pic>
      <p:sp>
        <p:nvSpPr>
          <p:cNvPr id="6" name="Rectangle: Rounded Corners 4">
            <a:extLst>
              <a:ext uri="{FF2B5EF4-FFF2-40B4-BE49-F238E27FC236}">
                <a16:creationId xmlns:a16="http://schemas.microsoft.com/office/drawing/2014/main" id="{2649F153-4B75-3348-C23F-702F045B307D}"/>
              </a:ext>
            </a:extLst>
          </p:cNvPr>
          <p:cNvSpPr/>
          <p:nvPr/>
        </p:nvSpPr>
        <p:spPr>
          <a:xfrm flipH="1">
            <a:off x="6660000" y="1800000"/>
            <a:ext cx="2072111" cy="1979520"/>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L’impact des joueurs se construit d’abord sur l’efficacité au tir et la création de secondes chances, bien plus que sur le volume de points.</a:t>
            </a:r>
          </a:p>
        </p:txBody>
      </p:sp>
      <p:pic>
        <p:nvPicPr>
          <p:cNvPr id="8" name="Graphique 7" descr="Recherche avec un remplissage uni">
            <a:extLst>
              <a:ext uri="{FF2B5EF4-FFF2-40B4-BE49-F238E27FC236}">
                <a16:creationId xmlns:a16="http://schemas.microsoft.com/office/drawing/2014/main" id="{33BDAE27-0495-4E73-C249-C7BE22EB28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9601" y="1845351"/>
            <a:ext cx="486370" cy="486370"/>
          </a:xfrm>
          <a:prstGeom prst="rect">
            <a:avLst/>
          </a:prstGeom>
        </p:spPr>
      </p:pic>
    </p:spTree>
    <p:extLst>
      <p:ext uri="{BB962C8B-B14F-4D97-AF65-F5344CB8AC3E}">
        <p14:creationId xmlns:p14="http://schemas.microsoft.com/office/powerpoint/2010/main" val="2322179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307;p18">
            <a:extLst>
              <a:ext uri="{FF2B5EF4-FFF2-40B4-BE49-F238E27FC236}">
                <a16:creationId xmlns:a16="http://schemas.microsoft.com/office/drawing/2014/main" id="{570AF8FE-D3D3-9154-3E0E-EDFFA09D0FF1}"/>
              </a:ext>
            </a:extLst>
          </p:cNvPr>
          <p:cNvSpPr txBox="1">
            <a:spLocks noGrp="1"/>
          </p:cNvSpPr>
          <p:nvPr>
            <p:ph type="title"/>
          </p:nvPr>
        </p:nvSpPr>
        <p:spPr>
          <a:xfrm>
            <a:off x="1119600" y="252000"/>
            <a:ext cx="7030500" cy="60538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000" kern="1200" spc="-20" dirty="0">
                <a:solidFill>
                  <a:srgbClr val="002060"/>
                </a:solidFill>
                <a:latin typeface="+mj-lt"/>
                <a:ea typeface="+mn-ea"/>
                <a:cs typeface="+mn-cs"/>
              </a:rPr>
              <a:t>Analyse du top 15 </a:t>
            </a:r>
            <a:r>
              <a:rPr lang="fr" sz="1100" kern="1200" spc="-20" dirty="0">
                <a:solidFill>
                  <a:srgbClr val="002060"/>
                </a:solidFill>
                <a:latin typeface="+mj-lt"/>
                <a:ea typeface="+mn-ea"/>
                <a:cs typeface="+mn-cs"/>
              </a:rPr>
              <a:t>(par points) </a:t>
            </a:r>
            <a:r>
              <a:rPr lang="fr" sz="2000" kern="1200" spc="-20" dirty="0">
                <a:solidFill>
                  <a:srgbClr val="002060"/>
                </a:solidFill>
                <a:latin typeface="+mj-lt"/>
                <a:ea typeface="+mn-ea"/>
                <a:cs typeface="+mn-cs"/>
              </a:rPr>
              <a:t>, Comparaison des tirs</a:t>
            </a:r>
            <a:endParaRPr sz="2000" kern="1200" spc="-20" dirty="0">
              <a:solidFill>
                <a:srgbClr val="002060"/>
              </a:solidFill>
              <a:latin typeface="+mj-lt"/>
              <a:ea typeface="+mn-ea"/>
              <a:cs typeface="+mn-cs"/>
            </a:endParaRPr>
          </a:p>
        </p:txBody>
      </p:sp>
      <p:pic>
        <p:nvPicPr>
          <p:cNvPr id="4" name="Image 3" descr="Comparaison en% des tir Lancers Francs/3 point et tirs réussis">
            <a:extLst>
              <a:ext uri="{FF2B5EF4-FFF2-40B4-BE49-F238E27FC236}">
                <a16:creationId xmlns:a16="http://schemas.microsoft.com/office/drawing/2014/main" id="{A5DECF97-8168-4457-AC85-ECC49C7CF02A}"/>
              </a:ext>
            </a:extLst>
          </p:cNvPr>
          <p:cNvPicPr>
            <a:picLocks noChangeAspect="1"/>
          </p:cNvPicPr>
          <p:nvPr/>
        </p:nvPicPr>
        <p:blipFill>
          <a:blip r:embed="rId2"/>
          <a:stretch>
            <a:fillRect/>
          </a:stretch>
        </p:blipFill>
        <p:spPr>
          <a:xfrm>
            <a:off x="900001" y="1080001"/>
            <a:ext cx="5432219" cy="2884010"/>
          </a:xfrm>
          <a:prstGeom prst="rect">
            <a:avLst/>
          </a:prstGeom>
        </p:spPr>
      </p:pic>
      <p:sp>
        <p:nvSpPr>
          <p:cNvPr id="9" name="Rectangle: Rounded Corners 4">
            <a:extLst>
              <a:ext uri="{FF2B5EF4-FFF2-40B4-BE49-F238E27FC236}">
                <a16:creationId xmlns:a16="http://schemas.microsoft.com/office/drawing/2014/main" id="{8F295AB8-F3E7-53A9-CC75-4BAE2B15BC67}"/>
              </a:ext>
            </a:extLst>
          </p:cNvPr>
          <p:cNvSpPr/>
          <p:nvPr/>
        </p:nvSpPr>
        <p:spPr>
          <a:xfrm flipH="1">
            <a:off x="6660000" y="1807620"/>
            <a:ext cx="2072111" cy="1294089"/>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Ce n’est pas le tir à 3 points qui fait l’élite, c’est l’efficacité globale.</a:t>
            </a:r>
          </a:p>
        </p:txBody>
      </p:sp>
      <p:pic>
        <p:nvPicPr>
          <p:cNvPr id="10" name="Graphique 9" descr="Recherche avec un remplissage uni">
            <a:extLst>
              <a:ext uri="{FF2B5EF4-FFF2-40B4-BE49-F238E27FC236}">
                <a16:creationId xmlns:a16="http://schemas.microsoft.com/office/drawing/2014/main" id="{C51106CF-1E12-1569-8AC1-49377E7A76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9600" y="1846800"/>
            <a:ext cx="486370" cy="486370"/>
          </a:xfrm>
          <a:prstGeom prst="rect">
            <a:avLst/>
          </a:prstGeom>
        </p:spPr>
      </p:pic>
    </p:spTree>
    <p:extLst>
      <p:ext uri="{BB962C8B-B14F-4D97-AF65-F5344CB8AC3E}">
        <p14:creationId xmlns:p14="http://schemas.microsoft.com/office/powerpoint/2010/main" val="210321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9"/>
          <p:cNvSpPr txBox="1">
            <a:spLocks noGrp="1"/>
          </p:cNvSpPr>
          <p:nvPr>
            <p:ph type="title"/>
          </p:nvPr>
        </p:nvSpPr>
        <p:spPr>
          <a:xfrm>
            <a:off x="1119600" y="252000"/>
            <a:ext cx="7030500" cy="65872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sz="2000" kern="1200" spc="-20" dirty="0">
                <a:solidFill>
                  <a:srgbClr val="002060"/>
                </a:solidFill>
                <a:latin typeface="+mj-lt"/>
                <a:ea typeface="+mn-ea"/>
                <a:cs typeface="+mn-cs"/>
              </a:rPr>
              <a:t>Analyse complémentaire</a:t>
            </a:r>
            <a:endParaRPr sz="2000" kern="1200" spc="-20" dirty="0">
              <a:solidFill>
                <a:srgbClr val="002060"/>
              </a:solidFill>
              <a:latin typeface="+mj-lt"/>
              <a:ea typeface="+mn-ea"/>
              <a:cs typeface="+mn-cs"/>
            </a:endParaRPr>
          </a:p>
        </p:txBody>
      </p:sp>
      <p:pic>
        <p:nvPicPr>
          <p:cNvPr id="2" name="Image 1" descr="Comparaison Point /impact">
            <a:extLst>
              <a:ext uri="{FF2B5EF4-FFF2-40B4-BE49-F238E27FC236}">
                <a16:creationId xmlns:a16="http://schemas.microsoft.com/office/drawing/2014/main" id="{02BCDB23-379D-D666-B0BA-6345DB2C64C5}"/>
              </a:ext>
            </a:extLst>
          </p:cNvPr>
          <p:cNvPicPr>
            <a:picLocks noChangeAspect="1"/>
          </p:cNvPicPr>
          <p:nvPr/>
        </p:nvPicPr>
        <p:blipFill>
          <a:blip r:embed="rId3"/>
          <a:stretch>
            <a:fillRect/>
          </a:stretch>
        </p:blipFill>
        <p:spPr>
          <a:xfrm>
            <a:off x="900001" y="1080000"/>
            <a:ext cx="5424599" cy="2926921"/>
          </a:xfrm>
          <a:prstGeom prst="rect">
            <a:avLst/>
          </a:prstGeom>
        </p:spPr>
      </p:pic>
      <p:sp>
        <p:nvSpPr>
          <p:cNvPr id="4" name="Rectangle: Rounded Corners 4">
            <a:extLst>
              <a:ext uri="{FF2B5EF4-FFF2-40B4-BE49-F238E27FC236}">
                <a16:creationId xmlns:a16="http://schemas.microsoft.com/office/drawing/2014/main" id="{C4EB91E8-3797-1570-7C53-9B142728990B}"/>
              </a:ext>
            </a:extLst>
          </p:cNvPr>
          <p:cNvSpPr/>
          <p:nvPr/>
        </p:nvSpPr>
        <p:spPr>
          <a:xfrm flipH="1">
            <a:off x="6660000" y="1800000"/>
            <a:ext cx="2072111" cy="1294089"/>
          </a:xfrm>
          <a:prstGeom prst="roundRect">
            <a:avLst>
              <a:gd name="adj" fmla="val 17689"/>
            </a:avLst>
          </a:prstGeom>
          <a:solidFill>
            <a:srgbClr val="FFE7D0"/>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Aft>
                <a:spcPts val="400"/>
              </a:spcAft>
              <a:buClr>
                <a:srgbClr val="D92424"/>
              </a:buClr>
              <a:defRPr/>
            </a:pPr>
            <a:endParaRPr lang="fr-FR" sz="1050" b="1" kern="1200" dirty="0">
              <a:solidFill>
                <a:srgbClr val="293378"/>
              </a:solidFill>
              <a:latin typeface="Marianne Medium" panose="02000000000000000000" pitchFamily="2" charset="0"/>
            </a:endParaRPr>
          </a:p>
          <a:p>
            <a:pPr lvl="0" algn="ctr">
              <a:spcAft>
                <a:spcPts val="400"/>
              </a:spcAft>
              <a:buClr>
                <a:srgbClr val="D92424"/>
              </a:buClr>
              <a:defRPr/>
            </a:pPr>
            <a:r>
              <a:rPr lang="fr-FR" sz="1050" b="1" kern="1200" dirty="0">
                <a:solidFill>
                  <a:srgbClr val="293378"/>
                </a:solidFill>
                <a:latin typeface="Marianne Medium" panose="02000000000000000000" pitchFamily="2" charset="0"/>
              </a:rPr>
              <a:t>Le PIE capture des contributions qui vont au-delà du </a:t>
            </a:r>
            <a:r>
              <a:rPr lang="fr-FR" sz="1050" b="1" kern="1200" dirty="0" err="1">
                <a:solidFill>
                  <a:srgbClr val="293378"/>
                </a:solidFill>
                <a:latin typeface="Marianne Medium" panose="02000000000000000000" pitchFamily="2" charset="0"/>
              </a:rPr>
              <a:t>scoring</a:t>
            </a:r>
            <a:r>
              <a:rPr lang="fr-FR" sz="1050" b="1" kern="1200" dirty="0">
                <a:solidFill>
                  <a:srgbClr val="293378"/>
                </a:solidFill>
                <a:latin typeface="Marianne Medium" panose="02000000000000000000" pitchFamily="2" charset="0"/>
              </a:rPr>
              <a:t>.</a:t>
            </a:r>
          </a:p>
        </p:txBody>
      </p:sp>
      <p:pic>
        <p:nvPicPr>
          <p:cNvPr id="5" name="Graphique 4" descr="Recherche avec un remplissage uni">
            <a:extLst>
              <a:ext uri="{FF2B5EF4-FFF2-40B4-BE49-F238E27FC236}">
                <a16:creationId xmlns:a16="http://schemas.microsoft.com/office/drawing/2014/main" id="{44B81C7C-5659-BC60-DCE9-E49EE911BD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9600" y="1846800"/>
            <a:ext cx="486370" cy="4863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re 1">
            <a:extLst>
              <a:ext uri="{FF2B5EF4-FFF2-40B4-BE49-F238E27FC236}">
                <a16:creationId xmlns:a16="http://schemas.microsoft.com/office/drawing/2014/main" id="{DE9FAC5A-FBF3-6E0B-6DE0-047857174533}"/>
              </a:ext>
            </a:extLst>
          </p:cNvPr>
          <p:cNvSpPr>
            <a:spLocks noGrp="1"/>
          </p:cNvSpPr>
          <p:nvPr>
            <p:ph type="title"/>
          </p:nvPr>
        </p:nvSpPr>
        <p:spPr>
          <a:xfrm>
            <a:off x="1119600" y="252000"/>
            <a:ext cx="7030500" cy="717268"/>
          </a:xfrm>
        </p:spPr>
        <p:txBody>
          <a:bodyPr>
            <a:normAutofit fontScale="90000"/>
          </a:bodyPr>
          <a:lstStyle/>
          <a:p>
            <a:r>
              <a:rPr lang="fr-FR" sz="2200" kern="1200" spc="-20" dirty="0">
                <a:solidFill>
                  <a:srgbClr val="002060"/>
                </a:solidFill>
                <a:latin typeface="+mj-lt"/>
                <a:ea typeface="+mn-ea"/>
                <a:cs typeface="+mn-cs"/>
              </a:rPr>
              <a:t>Les principaux enseignements de la ligue</a:t>
            </a:r>
            <a:br>
              <a:rPr lang="fr-FR" dirty="0"/>
            </a:br>
            <a:endParaRPr lang="fr-FR" dirty="0"/>
          </a:p>
        </p:txBody>
      </p:sp>
      <p:grpSp>
        <p:nvGrpSpPr>
          <p:cNvPr id="4" name="Groupe 3" descr="Logo enseignement">
            <a:extLst>
              <a:ext uri="{FF2B5EF4-FFF2-40B4-BE49-F238E27FC236}">
                <a16:creationId xmlns:a16="http://schemas.microsoft.com/office/drawing/2014/main" id="{27A975F8-A203-EF5C-5ED5-0DA1139DB8D1}"/>
              </a:ext>
            </a:extLst>
          </p:cNvPr>
          <p:cNvGrpSpPr/>
          <p:nvPr/>
        </p:nvGrpSpPr>
        <p:grpSpPr>
          <a:xfrm>
            <a:off x="3286865" y="915207"/>
            <a:ext cx="2058084" cy="1442024"/>
            <a:chOff x="2260110" y="1223456"/>
            <a:chExt cx="1777808" cy="1572731"/>
          </a:xfrm>
        </p:grpSpPr>
        <p:sp>
          <p:nvSpPr>
            <p:cNvPr id="6" name="Ellipse 5">
              <a:extLst>
                <a:ext uri="{FF2B5EF4-FFF2-40B4-BE49-F238E27FC236}">
                  <a16:creationId xmlns:a16="http://schemas.microsoft.com/office/drawing/2014/main" id="{7ADED9F3-E30D-1093-CF4B-75399DC4F5C6}"/>
                </a:ext>
              </a:extLst>
            </p:cNvPr>
            <p:cNvSpPr/>
            <p:nvPr/>
          </p:nvSpPr>
          <p:spPr>
            <a:xfrm>
              <a:off x="2323914" y="1223456"/>
              <a:ext cx="1650200" cy="1572731"/>
            </a:xfrm>
            <a:prstGeom prst="ellipse">
              <a:avLst/>
            </a:prstGeom>
            <a:noFill/>
            <a:ln w="12700">
              <a:solidFill>
                <a:schemeClr val="bg2">
                  <a:lumMod val="7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0D1440"/>
                </a:solidFill>
                <a:effectLst/>
                <a:uLnTx/>
                <a:uFillTx/>
                <a:latin typeface="Marianne Light"/>
                <a:ea typeface="+mn-ea"/>
                <a:cs typeface="+mn-cs"/>
              </a:endParaRPr>
            </a:p>
          </p:txBody>
        </p:sp>
        <p:sp>
          <p:nvSpPr>
            <p:cNvPr id="7" name="ZoneTexte 6">
              <a:extLst>
                <a:ext uri="{FF2B5EF4-FFF2-40B4-BE49-F238E27FC236}">
                  <a16:creationId xmlns:a16="http://schemas.microsoft.com/office/drawing/2014/main" id="{B15EA702-4123-99D6-F2BD-6F067DDE92F4}"/>
                </a:ext>
              </a:extLst>
            </p:cNvPr>
            <p:cNvSpPr txBox="1"/>
            <p:nvPr/>
          </p:nvSpPr>
          <p:spPr>
            <a:xfrm>
              <a:off x="2260110" y="2003663"/>
              <a:ext cx="1777808" cy="402809"/>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b="1" kern="1200" dirty="0">
                  <a:solidFill>
                    <a:srgbClr val="293378"/>
                  </a:solidFill>
                  <a:latin typeface="Marianne ExtraBold" panose="02000000000000000000" pitchFamily="2" charset="0"/>
                  <a:ea typeface="+mn-ea"/>
                  <a:cs typeface="+mn-cs"/>
                </a:rPr>
                <a:t>ENSEIGNEMENTS</a:t>
              </a:r>
              <a:r>
                <a:rPr kumimoji="0" lang="fr-FR" sz="1800" b="1" i="0" u="none" strike="noStrike" kern="1200" cap="none" spc="0" normalizeH="0" baseline="0" noProof="0" dirty="0">
                  <a:ln>
                    <a:noFill/>
                  </a:ln>
                  <a:solidFill>
                    <a:srgbClr val="293378"/>
                  </a:solidFill>
                  <a:effectLst/>
                  <a:uLnTx/>
                  <a:uFillTx/>
                  <a:latin typeface="Marianne ExtraBold" panose="02000000000000000000" pitchFamily="2" charset="0"/>
                  <a:ea typeface="+mn-ea"/>
                  <a:cs typeface="+mn-cs"/>
                </a:rPr>
                <a:t> </a:t>
              </a:r>
            </a:p>
          </p:txBody>
        </p:sp>
      </p:grpSp>
      <p:grpSp>
        <p:nvGrpSpPr>
          <p:cNvPr id="11" name="Groupe 10" descr="Principaux enseignements">
            <a:extLst>
              <a:ext uri="{FF2B5EF4-FFF2-40B4-BE49-F238E27FC236}">
                <a16:creationId xmlns:a16="http://schemas.microsoft.com/office/drawing/2014/main" id="{64C6A516-F210-DCF5-F343-6178AB1CC08B}"/>
              </a:ext>
            </a:extLst>
          </p:cNvPr>
          <p:cNvGrpSpPr/>
          <p:nvPr/>
        </p:nvGrpSpPr>
        <p:grpSpPr>
          <a:xfrm>
            <a:off x="1169317" y="975360"/>
            <a:ext cx="6301785" cy="3189253"/>
            <a:chOff x="644969" y="926224"/>
            <a:chExt cx="5443578" cy="3478334"/>
          </a:xfrm>
        </p:grpSpPr>
        <p:sp>
          <p:nvSpPr>
            <p:cNvPr id="12" name="Arrow: Right 16">
              <a:extLst>
                <a:ext uri="{FF2B5EF4-FFF2-40B4-BE49-F238E27FC236}">
                  <a16:creationId xmlns:a16="http://schemas.microsoft.com/office/drawing/2014/main" id="{8E1B3E5F-F3F7-D8C9-4090-5DA6C33E1932}"/>
                </a:ext>
              </a:extLst>
            </p:cNvPr>
            <p:cNvSpPr/>
            <p:nvPr/>
          </p:nvSpPr>
          <p:spPr>
            <a:xfrm rot="851850">
              <a:off x="2071463" y="1585735"/>
              <a:ext cx="334894" cy="294070"/>
            </a:xfrm>
            <a:prstGeom prst="rightArrow">
              <a:avLst/>
            </a:prstGeom>
            <a:solidFill>
              <a:schemeClr val="accent5">
                <a:lumMod val="20000"/>
                <a:lumOff val="80000"/>
                <a:alpha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grpSp>
          <p:nvGrpSpPr>
            <p:cNvPr id="13" name="Groupe 12">
              <a:extLst>
                <a:ext uri="{FF2B5EF4-FFF2-40B4-BE49-F238E27FC236}">
                  <a16:creationId xmlns:a16="http://schemas.microsoft.com/office/drawing/2014/main" id="{6BDDD19D-B1EE-A8DE-3AA0-39C97985B6EA}"/>
                </a:ext>
              </a:extLst>
            </p:cNvPr>
            <p:cNvGrpSpPr/>
            <p:nvPr/>
          </p:nvGrpSpPr>
          <p:grpSpPr>
            <a:xfrm>
              <a:off x="644969" y="926224"/>
              <a:ext cx="5443578" cy="3478334"/>
              <a:chOff x="644969" y="926224"/>
              <a:chExt cx="5443578" cy="3478334"/>
            </a:xfrm>
          </p:grpSpPr>
          <p:grpSp>
            <p:nvGrpSpPr>
              <p:cNvPr id="21" name="Groupe 20">
                <a:extLst>
                  <a:ext uri="{FF2B5EF4-FFF2-40B4-BE49-F238E27FC236}">
                    <a16:creationId xmlns:a16="http://schemas.microsoft.com/office/drawing/2014/main" id="{83664F5E-595E-8524-781E-816532FC2446}"/>
                  </a:ext>
                </a:extLst>
              </p:cNvPr>
              <p:cNvGrpSpPr/>
              <p:nvPr/>
            </p:nvGrpSpPr>
            <p:grpSpPr>
              <a:xfrm>
                <a:off x="644969" y="976090"/>
                <a:ext cx="1335039" cy="1273441"/>
                <a:chOff x="224993" y="2131737"/>
                <a:chExt cx="1335039" cy="1273441"/>
              </a:xfrm>
            </p:grpSpPr>
            <p:sp>
              <p:nvSpPr>
                <p:cNvPr id="37" name="Oval 22">
                  <a:extLst>
                    <a:ext uri="{FF2B5EF4-FFF2-40B4-BE49-F238E27FC236}">
                      <a16:creationId xmlns:a16="http://schemas.microsoft.com/office/drawing/2014/main" id="{B8874577-BBCF-549E-52AE-6CC208EDB407}"/>
                    </a:ext>
                  </a:extLst>
                </p:cNvPr>
                <p:cNvSpPr/>
                <p:nvPr>
                  <p:custDataLst>
                    <p:tags r:id="rId6"/>
                  </p:custDataLst>
                </p:nvPr>
              </p:nvSpPr>
              <p:spPr>
                <a:xfrm>
                  <a:off x="255792" y="2131737"/>
                  <a:ext cx="1273441" cy="1273441"/>
                </a:xfrm>
                <a:prstGeom prst="ellipse">
                  <a:avLst/>
                </a:pr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38" name="TextBox 9">
                  <a:extLst>
                    <a:ext uri="{FF2B5EF4-FFF2-40B4-BE49-F238E27FC236}">
                      <a16:creationId xmlns:a16="http://schemas.microsoft.com/office/drawing/2014/main" id="{74A4E57C-D681-62B1-A011-F0AC75F917F1}"/>
                    </a:ext>
                  </a:extLst>
                </p:cNvPr>
                <p:cNvSpPr txBox="1"/>
                <p:nvPr/>
              </p:nvSpPr>
              <p:spPr>
                <a:xfrm>
                  <a:off x="224993" y="2393026"/>
                  <a:ext cx="1335039" cy="817234"/>
                </a:xfrm>
                <a:prstGeom prst="rect">
                  <a:avLst/>
                </a:prstGeom>
                <a:noFill/>
              </p:spPr>
              <p:txBody>
                <a:bodyPr wrap="square" rtlCol="0" anchor="ctr">
                  <a:noAutofit/>
                </a:bodyPr>
                <a:lstStyle/>
                <a:p>
                  <a:pPr algn="ctr">
                    <a:buClrTx/>
                    <a:defRPr/>
                  </a:pPr>
                  <a:r>
                    <a:rPr kumimoji="0" lang="fr-FR" sz="950" b="1" i="0" u="none" strike="noStrike" kern="1200" cap="none" spc="0" normalizeH="0" baseline="0" noProof="0" dirty="0">
                      <a:ln>
                        <a:noFill/>
                      </a:ln>
                      <a:solidFill>
                        <a:srgbClr val="293378"/>
                      </a:solidFill>
                      <a:effectLst/>
                      <a:uLnTx/>
                      <a:uFillTx/>
                      <a:latin typeface="Marianne Light"/>
                      <a:ea typeface="+mn-ea"/>
                      <a:cs typeface="+mn-cs"/>
                    </a:rPr>
                    <a:t> </a:t>
                  </a:r>
                  <a:r>
                    <a:rPr lang="fr-FR" sz="950" b="1" kern="1200" dirty="0">
                      <a:solidFill>
                        <a:srgbClr val="293378"/>
                      </a:solidFill>
                      <a:latin typeface="Marianne Light"/>
                      <a:ea typeface="+mn-ea"/>
                      <a:cs typeface="+mn-cs"/>
                    </a:rPr>
                    <a:t>Mieux définir et exploiter les rôles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50" b="1" i="0" u="none" strike="noStrike" kern="1200" cap="none" spc="0" normalizeH="0" baseline="0" noProof="0" dirty="0">
                    <a:ln>
                      <a:noFill/>
                    </a:ln>
                    <a:solidFill>
                      <a:srgbClr val="293378"/>
                    </a:solidFill>
                    <a:effectLst/>
                    <a:uLnTx/>
                    <a:uFillTx/>
                    <a:latin typeface="Marianne Light"/>
                    <a:ea typeface="+mn-ea"/>
                    <a:cs typeface="+mn-cs"/>
                  </a:endParaRPr>
                </a:p>
              </p:txBody>
            </p:sp>
          </p:grpSp>
          <p:grpSp>
            <p:nvGrpSpPr>
              <p:cNvPr id="22" name="Groupe 21">
                <a:extLst>
                  <a:ext uri="{FF2B5EF4-FFF2-40B4-BE49-F238E27FC236}">
                    <a16:creationId xmlns:a16="http://schemas.microsoft.com/office/drawing/2014/main" id="{E41DA73B-07ED-5EE7-CB84-B51F26DFA67E}"/>
                  </a:ext>
                </a:extLst>
              </p:cNvPr>
              <p:cNvGrpSpPr/>
              <p:nvPr/>
            </p:nvGrpSpPr>
            <p:grpSpPr>
              <a:xfrm>
                <a:off x="877029" y="2289521"/>
                <a:ext cx="1273441" cy="1273441"/>
                <a:chOff x="1096398" y="3286547"/>
                <a:chExt cx="1273441" cy="1273441"/>
              </a:xfrm>
            </p:grpSpPr>
            <p:sp>
              <p:nvSpPr>
                <p:cNvPr id="35" name="Oval 21">
                  <a:extLst>
                    <a:ext uri="{FF2B5EF4-FFF2-40B4-BE49-F238E27FC236}">
                      <a16:creationId xmlns:a16="http://schemas.microsoft.com/office/drawing/2014/main" id="{A6BD55EB-1E33-BD4A-B2DD-4AE018741567}"/>
                    </a:ext>
                  </a:extLst>
                </p:cNvPr>
                <p:cNvSpPr/>
                <p:nvPr>
                  <p:custDataLst>
                    <p:tags r:id="rId5"/>
                  </p:custDataLst>
                </p:nvPr>
              </p:nvSpPr>
              <p:spPr>
                <a:xfrm>
                  <a:off x="1096398" y="3286547"/>
                  <a:ext cx="1273441" cy="1273441"/>
                </a:xfrm>
                <a:prstGeom prst="ellipse">
                  <a:avLst/>
                </a:prstGeom>
                <a:solidFill>
                  <a:schemeClr val="accent4">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36" name="TextBox 156">
                  <a:extLst>
                    <a:ext uri="{FF2B5EF4-FFF2-40B4-BE49-F238E27FC236}">
                      <a16:creationId xmlns:a16="http://schemas.microsoft.com/office/drawing/2014/main" id="{35441E0D-B1C9-4884-E365-5EBBF37B7C23}"/>
                    </a:ext>
                  </a:extLst>
                </p:cNvPr>
                <p:cNvSpPr txBox="1"/>
                <p:nvPr/>
              </p:nvSpPr>
              <p:spPr>
                <a:xfrm>
                  <a:off x="1096398" y="3514651"/>
                  <a:ext cx="1273441" cy="817234"/>
                </a:xfrm>
                <a:prstGeom prst="rect">
                  <a:avLst/>
                </a:prstGeom>
                <a:noFill/>
              </p:spPr>
              <p:txBody>
                <a:bodyPr wrap="square" rtlCol="0" anchor="ctr">
                  <a:noAutofit/>
                </a:bodyPr>
                <a:lstStyle/>
                <a:p>
                  <a:pPr algn="ctr">
                    <a:buClrTx/>
                    <a:defRPr/>
                  </a:pPr>
                  <a:r>
                    <a:rPr lang="fr-FR" sz="950" b="1" kern="1200" dirty="0">
                      <a:solidFill>
                        <a:srgbClr val="293378"/>
                      </a:solidFill>
                      <a:latin typeface="Marianne Light"/>
                      <a:ea typeface="+mn-ea"/>
                      <a:cs typeface="+mn-cs"/>
                    </a:rPr>
                    <a:t>Développer des joueurs capables de marquer “mieux” plutôt que “plus”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50" b="1" i="0" u="none" strike="noStrike" kern="1200" cap="none" spc="0" normalizeH="0" baseline="0" noProof="0" dirty="0">
                    <a:ln>
                      <a:noFill/>
                    </a:ln>
                    <a:solidFill>
                      <a:srgbClr val="293378"/>
                    </a:solidFill>
                    <a:effectLst/>
                    <a:uLnTx/>
                    <a:uFillTx/>
                    <a:latin typeface="Marianne Light"/>
                    <a:ea typeface="+mn-ea"/>
                    <a:cs typeface="+mn-cs"/>
                  </a:endParaRPr>
                </a:p>
              </p:txBody>
            </p:sp>
          </p:grpSp>
          <p:grpSp>
            <p:nvGrpSpPr>
              <p:cNvPr id="23" name="Groupe 22">
                <a:extLst>
                  <a:ext uri="{FF2B5EF4-FFF2-40B4-BE49-F238E27FC236}">
                    <a16:creationId xmlns:a16="http://schemas.microsoft.com/office/drawing/2014/main" id="{DCBCD33F-6A39-7057-93FE-ADECBC960D01}"/>
                  </a:ext>
                </a:extLst>
              </p:cNvPr>
              <p:cNvGrpSpPr/>
              <p:nvPr/>
            </p:nvGrpSpPr>
            <p:grpSpPr>
              <a:xfrm>
                <a:off x="1992082" y="3131117"/>
                <a:ext cx="1273441" cy="1273441"/>
                <a:chOff x="2492047" y="3866850"/>
                <a:chExt cx="1273441" cy="1273441"/>
              </a:xfrm>
            </p:grpSpPr>
            <p:sp>
              <p:nvSpPr>
                <p:cNvPr id="33" name="Oval 24">
                  <a:extLst>
                    <a:ext uri="{FF2B5EF4-FFF2-40B4-BE49-F238E27FC236}">
                      <a16:creationId xmlns:a16="http://schemas.microsoft.com/office/drawing/2014/main" id="{BB1176DD-ECD8-EE0C-5185-89D74A80FFAE}"/>
                    </a:ext>
                  </a:extLst>
                </p:cNvPr>
                <p:cNvSpPr/>
                <p:nvPr>
                  <p:custDataLst>
                    <p:tags r:id="rId4"/>
                  </p:custDataLst>
                </p:nvPr>
              </p:nvSpPr>
              <p:spPr>
                <a:xfrm>
                  <a:off x="2492047" y="3866850"/>
                  <a:ext cx="1273441" cy="1273441"/>
                </a:xfrm>
                <a:prstGeom prst="ellipse">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34" name="TextBox 25">
                  <a:extLst>
                    <a:ext uri="{FF2B5EF4-FFF2-40B4-BE49-F238E27FC236}">
                      <a16:creationId xmlns:a16="http://schemas.microsoft.com/office/drawing/2014/main" id="{4B47BC06-13E9-E949-584A-E9106ACC7D8D}"/>
                    </a:ext>
                  </a:extLst>
                </p:cNvPr>
                <p:cNvSpPr txBox="1"/>
                <p:nvPr/>
              </p:nvSpPr>
              <p:spPr>
                <a:xfrm>
                  <a:off x="2492047" y="4094954"/>
                  <a:ext cx="1273441" cy="817234"/>
                </a:xfrm>
                <a:prstGeom prst="rect">
                  <a:avLst/>
                </a:prstGeom>
                <a:noFill/>
              </p:spPr>
              <p:txBody>
                <a:bodyPr wrap="square" rtlCol="0" anchor="ctr">
                  <a:noAutofit/>
                </a:bodyPr>
                <a:lstStyle/>
                <a:p>
                  <a:pPr lvl="0" algn="ctr">
                    <a:buClrTx/>
                    <a:defRPr/>
                  </a:pPr>
                  <a:r>
                    <a:rPr lang="fr-FR" sz="950" b="1" kern="1200" dirty="0">
                      <a:solidFill>
                        <a:srgbClr val="293378"/>
                      </a:solidFill>
                      <a:latin typeface="Marianne Light"/>
                      <a:ea typeface="+mn-ea"/>
                      <a:cs typeface="+mn-cs"/>
                    </a:rPr>
                    <a:t>Construire un collectif où chaque joueur maximise son impact</a:t>
                  </a:r>
                </a:p>
              </p:txBody>
            </p:sp>
          </p:grpSp>
          <p:grpSp>
            <p:nvGrpSpPr>
              <p:cNvPr id="24" name="Groupe 23">
                <a:extLst>
                  <a:ext uri="{FF2B5EF4-FFF2-40B4-BE49-F238E27FC236}">
                    <a16:creationId xmlns:a16="http://schemas.microsoft.com/office/drawing/2014/main" id="{7B5892D8-EB14-041B-3516-F36E411BBA99}"/>
                  </a:ext>
                </a:extLst>
              </p:cNvPr>
              <p:cNvGrpSpPr/>
              <p:nvPr/>
            </p:nvGrpSpPr>
            <p:grpSpPr>
              <a:xfrm flipH="1">
                <a:off x="4753508" y="926224"/>
                <a:ext cx="1335039" cy="1273441"/>
                <a:chOff x="157487" y="2081871"/>
                <a:chExt cx="1335039" cy="1273441"/>
              </a:xfrm>
            </p:grpSpPr>
            <p:sp>
              <p:nvSpPr>
                <p:cNvPr id="31" name="Oval 22">
                  <a:extLst>
                    <a:ext uri="{FF2B5EF4-FFF2-40B4-BE49-F238E27FC236}">
                      <a16:creationId xmlns:a16="http://schemas.microsoft.com/office/drawing/2014/main" id="{6AEA9423-B830-9CA3-54E1-007796F724C1}"/>
                    </a:ext>
                  </a:extLst>
                </p:cNvPr>
                <p:cNvSpPr/>
                <p:nvPr>
                  <p:custDataLst>
                    <p:tags r:id="rId3"/>
                  </p:custDataLst>
                </p:nvPr>
              </p:nvSpPr>
              <p:spPr>
                <a:xfrm>
                  <a:off x="201449" y="2081871"/>
                  <a:ext cx="1273441" cy="1273441"/>
                </a:xfrm>
                <a:prstGeom prst="ellipse">
                  <a:avLst/>
                </a:pr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32" name="TextBox 9">
                  <a:extLst>
                    <a:ext uri="{FF2B5EF4-FFF2-40B4-BE49-F238E27FC236}">
                      <a16:creationId xmlns:a16="http://schemas.microsoft.com/office/drawing/2014/main" id="{BD28E644-47EE-C526-83F2-F92785CE8BD8}"/>
                    </a:ext>
                  </a:extLst>
                </p:cNvPr>
                <p:cNvSpPr txBox="1"/>
                <p:nvPr/>
              </p:nvSpPr>
              <p:spPr>
                <a:xfrm>
                  <a:off x="157487" y="2276734"/>
                  <a:ext cx="1335039" cy="817234"/>
                </a:xfrm>
                <a:prstGeom prst="rect">
                  <a:avLst/>
                </a:prstGeom>
                <a:noFill/>
              </p:spPr>
              <p:txBody>
                <a:bodyPr wrap="square" rtlCol="0" anchor="ctr">
                  <a:noAutofit/>
                </a:bodyPr>
                <a:lstStyle/>
                <a:p>
                  <a:pPr lvl="0" algn="ctr">
                    <a:buClrTx/>
                    <a:defRPr/>
                  </a:pPr>
                  <a:r>
                    <a:rPr lang="fr-FR" sz="950" b="1" kern="1200" dirty="0">
                      <a:solidFill>
                        <a:srgbClr val="293378"/>
                      </a:solidFill>
                      <a:latin typeface="Marianne Light"/>
                      <a:ea typeface="+mn-ea"/>
                      <a:cs typeface="+mn-cs"/>
                    </a:rPr>
                    <a:t>Prioriser des profils efficaces et actifs au rebond offensif</a:t>
                  </a:r>
                </a:p>
              </p:txBody>
            </p:sp>
          </p:grpSp>
          <p:grpSp>
            <p:nvGrpSpPr>
              <p:cNvPr id="25" name="Groupe 24">
                <a:extLst>
                  <a:ext uri="{FF2B5EF4-FFF2-40B4-BE49-F238E27FC236}">
                    <a16:creationId xmlns:a16="http://schemas.microsoft.com/office/drawing/2014/main" id="{393454FA-38FB-CC1B-308D-99E4865FD566}"/>
                  </a:ext>
                </a:extLst>
              </p:cNvPr>
              <p:cNvGrpSpPr/>
              <p:nvPr/>
            </p:nvGrpSpPr>
            <p:grpSpPr>
              <a:xfrm flipH="1">
                <a:off x="4532232" y="2296050"/>
                <a:ext cx="1280022" cy="1273441"/>
                <a:chOff x="1134207" y="3286547"/>
                <a:chExt cx="1280022" cy="1273441"/>
              </a:xfrm>
            </p:grpSpPr>
            <p:sp>
              <p:nvSpPr>
                <p:cNvPr id="29" name="Oval 21">
                  <a:extLst>
                    <a:ext uri="{FF2B5EF4-FFF2-40B4-BE49-F238E27FC236}">
                      <a16:creationId xmlns:a16="http://schemas.microsoft.com/office/drawing/2014/main" id="{FD6827A8-5EBE-F598-717D-631088CE21F1}"/>
                    </a:ext>
                  </a:extLst>
                </p:cNvPr>
                <p:cNvSpPr/>
                <p:nvPr>
                  <p:custDataLst>
                    <p:tags r:id="rId2"/>
                  </p:custDataLst>
                </p:nvPr>
              </p:nvSpPr>
              <p:spPr>
                <a:xfrm>
                  <a:off x="1140788" y="3286547"/>
                  <a:ext cx="1273441" cy="1273441"/>
                </a:xfrm>
                <a:prstGeom prst="ellipse">
                  <a:avLst/>
                </a:prstGeom>
                <a:solidFill>
                  <a:schemeClr val="accent4">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50" b="0" i="0" u="none" strike="noStrike" kern="1200" cap="none" spc="0" normalizeH="0" baseline="0" noProof="0">
                    <a:ln>
                      <a:noFill/>
                    </a:ln>
                    <a:solidFill>
                      <a:srgbClr val="0D1440"/>
                    </a:solidFill>
                    <a:effectLst/>
                    <a:uLnTx/>
                    <a:uFillTx/>
                    <a:latin typeface="Marianne Light"/>
                    <a:ea typeface="+mn-ea"/>
                    <a:cs typeface="+mn-cs"/>
                  </a:endParaRPr>
                </a:p>
              </p:txBody>
            </p:sp>
            <p:sp>
              <p:nvSpPr>
                <p:cNvPr id="30" name="TextBox 156">
                  <a:extLst>
                    <a:ext uri="{FF2B5EF4-FFF2-40B4-BE49-F238E27FC236}">
                      <a16:creationId xmlns:a16="http://schemas.microsoft.com/office/drawing/2014/main" id="{B1718D0A-9F23-2F60-5B3E-4B74C77DE5F9}"/>
                    </a:ext>
                  </a:extLst>
                </p:cNvPr>
                <p:cNvSpPr txBox="1"/>
                <p:nvPr/>
              </p:nvSpPr>
              <p:spPr>
                <a:xfrm>
                  <a:off x="1134207" y="3489716"/>
                  <a:ext cx="1273441" cy="783995"/>
                </a:xfrm>
                <a:prstGeom prst="rect">
                  <a:avLst/>
                </a:prstGeom>
                <a:noFill/>
              </p:spPr>
              <p:txBody>
                <a:bodyPr wrap="square" rtlCol="0" anchor="ctr">
                  <a:noAutofit/>
                </a:bodyPr>
                <a:lstStyle/>
                <a:p>
                  <a:pPr algn="ctr"/>
                  <a:r>
                    <a:rPr lang="fr-FR" sz="950" b="1" kern="1200" dirty="0">
                      <a:solidFill>
                        <a:srgbClr val="293378"/>
                      </a:solidFill>
                      <a:latin typeface="Marianne Light"/>
                      <a:ea typeface="+mn-ea"/>
                      <a:cs typeface="+mn-cs"/>
                    </a:rPr>
                    <a:t>Diversifier les relais défensifs et la création de jeu</a:t>
                  </a:r>
                </a:p>
              </p:txBody>
            </p:sp>
          </p:grpSp>
          <p:grpSp>
            <p:nvGrpSpPr>
              <p:cNvPr id="26" name="Groupe 25">
                <a:extLst>
                  <a:ext uri="{FF2B5EF4-FFF2-40B4-BE49-F238E27FC236}">
                    <a16:creationId xmlns:a16="http://schemas.microsoft.com/office/drawing/2014/main" id="{4F94047B-C5EC-3DFC-FE4C-DFF92DF6E157}"/>
                  </a:ext>
                </a:extLst>
              </p:cNvPr>
              <p:cNvGrpSpPr/>
              <p:nvPr/>
            </p:nvGrpSpPr>
            <p:grpSpPr>
              <a:xfrm flipH="1">
                <a:off x="3398848" y="3131117"/>
                <a:ext cx="1273441" cy="1273441"/>
                <a:chOff x="2554193" y="3866850"/>
                <a:chExt cx="1273441" cy="1273441"/>
              </a:xfrm>
            </p:grpSpPr>
            <p:sp>
              <p:nvSpPr>
                <p:cNvPr id="27" name="Oval 24">
                  <a:extLst>
                    <a:ext uri="{FF2B5EF4-FFF2-40B4-BE49-F238E27FC236}">
                      <a16:creationId xmlns:a16="http://schemas.microsoft.com/office/drawing/2014/main" id="{55FEDB64-4EE7-411B-FED7-5C4BFB7E7E0F}"/>
                    </a:ext>
                  </a:extLst>
                </p:cNvPr>
                <p:cNvSpPr/>
                <p:nvPr>
                  <p:custDataLst>
                    <p:tags r:id="rId1"/>
                  </p:custDataLst>
                </p:nvPr>
              </p:nvSpPr>
              <p:spPr>
                <a:xfrm>
                  <a:off x="2554193" y="3866850"/>
                  <a:ext cx="1273441" cy="1273441"/>
                </a:xfrm>
                <a:prstGeom prst="ellipse">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8" name="TextBox 25">
                  <a:extLst>
                    <a:ext uri="{FF2B5EF4-FFF2-40B4-BE49-F238E27FC236}">
                      <a16:creationId xmlns:a16="http://schemas.microsoft.com/office/drawing/2014/main" id="{B281FCD8-14A2-E2A3-E929-7EE680CD840C}"/>
                    </a:ext>
                  </a:extLst>
                </p:cNvPr>
                <p:cNvSpPr txBox="1"/>
                <p:nvPr/>
              </p:nvSpPr>
              <p:spPr>
                <a:xfrm>
                  <a:off x="2554193" y="4094954"/>
                  <a:ext cx="1273441" cy="817234"/>
                </a:xfrm>
                <a:prstGeom prst="rect">
                  <a:avLst/>
                </a:prstGeom>
                <a:noFill/>
              </p:spPr>
              <p:txBody>
                <a:bodyPr wrap="square" rtlCol="0" anchor="ctr">
                  <a:noAutofit/>
                </a:bodyPr>
                <a:lstStyle/>
                <a:p>
                  <a:pPr algn="ctr"/>
                  <a:r>
                    <a:rPr lang="fr-FR" sz="950" b="1" kern="1200" dirty="0">
                      <a:solidFill>
                        <a:srgbClr val="293378"/>
                      </a:solidFill>
                      <a:latin typeface="Marianne Light"/>
                      <a:ea typeface="+mn-ea"/>
                      <a:cs typeface="+mn-cs"/>
                    </a:rPr>
                    <a:t>Le rebond défensif doit être une responsabilité collective</a:t>
                  </a:r>
                </a:p>
              </p:txBody>
            </p:sp>
          </p:grpSp>
        </p:grpSp>
        <p:sp>
          <p:nvSpPr>
            <p:cNvPr id="14" name="Arrow: Right 16">
              <a:extLst>
                <a:ext uri="{FF2B5EF4-FFF2-40B4-BE49-F238E27FC236}">
                  <a16:creationId xmlns:a16="http://schemas.microsoft.com/office/drawing/2014/main" id="{28675CE3-9ABE-D87A-1068-54F06ABC6FE2}"/>
                </a:ext>
              </a:extLst>
            </p:cNvPr>
            <p:cNvSpPr/>
            <p:nvPr/>
          </p:nvSpPr>
          <p:spPr>
            <a:xfrm rot="20748150" flipH="1">
              <a:off x="4314370" y="1535869"/>
              <a:ext cx="334894" cy="294070"/>
            </a:xfrm>
            <a:prstGeom prst="rightArrow">
              <a:avLst/>
            </a:prstGeom>
            <a:solidFill>
              <a:schemeClr val="accent5">
                <a:lumMod val="20000"/>
                <a:lumOff val="80000"/>
                <a:alpha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grpSp>
          <p:nvGrpSpPr>
            <p:cNvPr id="15" name="Groupe 14">
              <a:extLst>
                <a:ext uri="{FF2B5EF4-FFF2-40B4-BE49-F238E27FC236}">
                  <a16:creationId xmlns:a16="http://schemas.microsoft.com/office/drawing/2014/main" id="{95692A3C-1168-EB40-3255-7A9B441F6C25}"/>
                </a:ext>
              </a:extLst>
            </p:cNvPr>
            <p:cNvGrpSpPr/>
            <p:nvPr/>
          </p:nvGrpSpPr>
          <p:grpSpPr>
            <a:xfrm>
              <a:off x="3611990" y="2342579"/>
              <a:ext cx="866546" cy="758040"/>
              <a:chOff x="3611990" y="2353860"/>
              <a:chExt cx="866546" cy="758040"/>
            </a:xfrm>
          </p:grpSpPr>
          <p:sp>
            <p:nvSpPr>
              <p:cNvPr id="19" name="Arrow: Right 16">
                <a:extLst>
                  <a:ext uri="{FF2B5EF4-FFF2-40B4-BE49-F238E27FC236}">
                    <a16:creationId xmlns:a16="http://schemas.microsoft.com/office/drawing/2014/main" id="{C650B79E-373D-D0B0-83DF-4B9F3CD655B0}"/>
                  </a:ext>
                </a:extLst>
              </p:cNvPr>
              <p:cNvSpPr/>
              <p:nvPr/>
            </p:nvSpPr>
            <p:spPr>
              <a:xfrm rot="1452040" flipH="1">
                <a:off x="4143642" y="2353860"/>
                <a:ext cx="334894" cy="294070"/>
              </a:xfrm>
              <a:prstGeom prst="rightArrow">
                <a:avLst/>
              </a:prstGeom>
              <a:solidFill>
                <a:schemeClr val="accent4">
                  <a:lumMod val="20000"/>
                  <a:lumOff val="80000"/>
                  <a:alpha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20" name="Arrow: Right 16">
                <a:extLst>
                  <a:ext uri="{FF2B5EF4-FFF2-40B4-BE49-F238E27FC236}">
                    <a16:creationId xmlns:a16="http://schemas.microsoft.com/office/drawing/2014/main" id="{D772FF7A-D4E5-9C8A-4EB0-EC34B17DCB1C}"/>
                  </a:ext>
                </a:extLst>
              </p:cNvPr>
              <p:cNvSpPr/>
              <p:nvPr/>
            </p:nvSpPr>
            <p:spPr>
              <a:xfrm rot="4321579" flipH="1">
                <a:off x="3591578" y="2797418"/>
                <a:ext cx="334894" cy="294070"/>
              </a:xfrm>
              <a:prstGeom prst="rightArrow">
                <a:avLst/>
              </a:prstGeom>
              <a:solidFill>
                <a:srgbClr val="FFF7E3"/>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grpSp>
        <p:grpSp>
          <p:nvGrpSpPr>
            <p:cNvPr id="16" name="Groupe 15">
              <a:extLst>
                <a:ext uri="{FF2B5EF4-FFF2-40B4-BE49-F238E27FC236}">
                  <a16:creationId xmlns:a16="http://schemas.microsoft.com/office/drawing/2014/main" id="{7449D3AC-7CF9-F319-62E4-45EE618CF6EB}"/>
                </a:ext>
              </a:extLst>
            </p:cNvPr>
            <p:cNvGrpSpPr/>
            <p:nvPr/>
          </p:nvGrpSpPr>
          <p:grpSpPr>
            <a:xfrm flipH="1">
              <a:off x="2211292" y="2342579"/>
              <a:ext cx="857668" cy="766918"/>
              <a:chOff x="3620868" y="2353860"/>
              <a:chExt cx="857668" cy="766918"/>
            </a:xfrm>
          </p:grpSpPr>
          <p:sp>
            <p:nvSpPr>
              <p:cNvPr id="17" name="Arrow: Right 16">
                <a:extLst>
                  <a:ext uri="{FF2B5EF4-FFF2-40B4-BE49-F238E27FC236}">
                    <a16:creationId xmlns:a16="http://schemas.microsoft.com/office/drawing/2014/main" id="{852FB038-8548-4C50-7264-B4124A7C0553}"/>
                  </a:ext>
                </a:extLst>
              </p:cNvPr>
              <p:cNvSpPr/>
              <p:nvPr/>
            </p:nvSpPr>
            <p:spPr>
              <a:xfrm rot="1452040" flipH="1">
                <a:off x="4143642" y="2353860"/>
                <a:ext cx="334894" cy="294070"/>
              </a:xfrm>
              <a:prstGeom prst="rightArrow">
                <a:avLst/>
              </a:prstGeom>
              <a:solidFill>
                <a:schemeClr val="accent4">
                  <a:lumMod val="20000"/>
                  <a:lumOff val="80000"/>
                  <a:alpha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sp>
            <p:nvSpPr>
              <p:cNvPr id="18" name="Arrow: Right 16">
                <a:extLst>
                  <a:ext uri="{FF2B5EF4-FFF2-40B4-BE49-F238E27FC236}">
                    <a16:creationId xmlns:a16="http://schemas.microsoft.com/office/drawing/2014/main" id="{4AF02DAB-0243-05C6-D7E4-2F59FB90AABD}"/>
                  </a:ext>
                </a:extLst>
              </p:cNvPr>
              <p:cNvSpPr/>
              <p:nvPr/>
            </p:nvSpPr>
            <p:spPr>
              <a:xfrm rot="4321579" flipH="1">
                <a:off x="3600456" y="2806296"/>
                <a:ext cx="334894" cy="294070"/>
              </a:xfrm>
              <a:prstGeom prst="rightArrow">
                <a:avLst/>
              </a:prstGeom>
              <a:solidFill>
                <a:schemeClr val="accent2">
                  <a:lumMod val="20000"/>
                  <a:lumOff val="80000"/>
                  <a:alpha val="8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0D1440"/>
                  </a:solidFill>
                  <a:effectLst/>
                  <a:uLnTx/>
                  <a:uFillTx/>
                  <a:latin typeface="Marianne Light"/>
                  <a:ea typeface="+mn-ea"/>
                  <a:cs typeface="+mn-cs"/>
                </a:endParaRPr>
              </a:p>
            </p:txBody>
          </p:sp>
        </p:grpSp>
      </p:grpSp>
      <p:pic>
        <p:nvPicPr>
          <p:cNvPr id="44" name="Graphique 43" descr="Classe contour">
            <a:extLst>
              <a:ext uri="{FF2B5EF4-FFF2-40B4-BE49-F238E27FC236}">
                <a16:creationId xmlns:a16="http://schemas.microsoft.com/office/drawing/2014/main" id="{5930B42F-D543-8598-8701-DAFE3AD747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17114" y="1041529"/>
            <a:ext cx="589043" cy="589043"/>
          </a:xfrm>
          <a:prstGeom prst="rect">
            <a:avLst/>
          </a:prstGeom>
        </p:spPr>
      </p:pic>
      <p:grpSp>
        <p:nvGrpSpPr>
          <p:cNvPr id="39" name="Groupe 38" descr="Conclusion enseignements">
            <a:extLst>
              <a:ext uri="{FF2B5EF4-FFF2-40B4-BE49-F238E27FC236}">
                <a16:creationId xmlns:a16="http://schemas.microsoft.com/office/drawing/2014/main" id="{EE6DDEA3-3B41-3523-4483-FB05988B87F5}"/>
              </a:ext>
            </a:extLst>
          </p:cNvPr>
          <p:cNvGrpSpPr/>
          <p:nvPr/>
        </p:nvGrpSpPr>
        <p:grpSpPr>
          <a:xfrm>
            <a:off x="1447799" y="4355903"/>
            <a:ext cx="5631181" cy="632143"/>
            <a:chOff x="739797" y="5160516"/>
            <a:chExt cx="5180251" cy="734221"/>
          </a:xfrm>
        </p:grpSpPr>
        <p:sp>
          <p:nvSpPr>
            <p:cNvPr id="40" name="Rectangle: Rounded Corners 4">
              <a:extLst>
                <a:ext uri="{FF2B5EF4-FFF2-40B4-BE49-F238E27FC236}">
                  <a16:creationId xmlns:a16="http://schemas.microsoft.com/office/drawing/2014/main" id="{FA87127D-A1F6-3043-0136-E34A36545BD6}"/>
                </a:ext>
              </a:extLst>
            </p:cNvPr>
            <p:cNvSpPr/>
            <p:nvPr/>
          </p:nvSpPr>
          <p:spPr>
            <a:xfrm flipH="1">
              <a:off x="1510672" y="5160516"/>
              <a:ext cx="4409376" cy="734221"/>
            </a:xfrm>
            <a:prstGeom prst="roundRect">
              <a:avLst>
                <a:gd name="adj" fmla="val 18878"/>
              </a:avLst>
            </a:prstGeom>
            <a:no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kern="1200" dirty="0">
                  <a:solidFill>
                    <a:srgbClr val="293378"/>
                  </a:solidFill>
                  <a:latin typeface="Marianne"/>
                </a:rPr>
                <a:t> Les « Pionniers » doivent moins chercher à produire plus de points, et davantage à produire de meilleures possessions : plus efficaces, mieux partagées et mieux sécurisées</a:t>
              </a:r>
              <a:r>
                <a:rPr lang="fr-FR" sz="1200" kern="1200" dirty="0">
                  <a:solidFill>
                    <a:srgbClr val="293378"/>
                  </a:solidFill>
                  <a:latin typeface="Marianne"/>
                </a:rPr>
                <a:t>.</a:t>
              </a:r>
            </a:p>
          </p:txBody>
        </p:sp>
        <p:sp>
          <p:nvSpPr>
            <p:cNvPr id="41" name="Flèche : droite rayée 40">
              <a:extLst>
                <a:ext uri="{FF2B5EF4-FFF2-40B4-BE49-F238E27FC236}">
                  <a16:creationId xmlns:a16="http://schemas.microsoft.com/office/drawing/2014/main" id="{2224FE2E-BB21-4EF2-ADFB-4F4E4565B30E}"/>
                </a:ext>
              </a:extLst>
            </p:cNvPr>
            <p:cNvSpPr/>
            <p:nvPr/>
          </p:nvSpPr>
          <p:spPr>
            <a:xfrm>
              <a:off x="739797" y="5278913"/>
              <a:ext cx="723466" cy="497427"/>
            </a:xfrm>
            <a:prstGeom prst="stripedRightArrow">
              <a:avLst>
                <a:gd name="adj1" fmla="val 45915"/>
                <a:gd name="adj2" fmla="val 67234"/>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D1440"/>
                </a:solidFill>
                <a:effectLst/>
                <a:uLnTx/>
                <a:uFillTx/>
                <a:latin typeface="Marianne Light"/>
                <a:ea typeface="+mn-ea"/>
                <a:cs typeface="+mn-cs"/>
              </a:endParaRPr>
            </a:p>
          </p:txBody>
        </p:sp>
      </p:grpSp>
    </p:spTree>
    <p:extLst>
      <p:ext uri="{BB962C8B-B14F-4D97-AF65-F5344CB8AC3E}">
        <p14:creationId xmlns:p14="http://schemas.microsoft.com/office/powerpoint/2010/main" val="427722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re 1">
            <a:extLst>
              <a:ext uri="{FF2B5EF4-FFF2-40B4-BE49-F238E27FC236}">
                <a16:creationId xmlns:a16="http://schemas.microsoft.com/office/drawing/2014/main" id="{3E1E2925-5538-2543-4538-B4765C06E658}"/>
              </a:ext>
            </a:extLst>
          </p:cNvPr>
          <p:cNvSpPr>
            <a:spLocks noGrp="1"/>
          </p:cNvSpPr>
          <p:nvPr>
            <p:ph type="title"/>
          </p:nvPr>
        </p:nvSpPr>
        <p:spPr>
          <a:xfrm>
            <a:off x="1119600" y="252000"/>
            <a:ext cx="7030500" cy="620625"/>
          </a:xfrm>
        </p:spPr>
        <p:txBody>
          <a:bodyPr>
            <a:normAutofit/>
          </a:bodyPr>
          <a:lstStyle/>
          <a:p>
            <a:r>
              <a:rPr lang="fr-FR" sz="2000" kern="1200" spc="-20" dirty="0">
                <a:solidFill>
                  <a:srgbClr val="002060"/>
                </a:solidFill>
                <a:latin typeface="+mj-lt"/>
                <a:ea typeface="+mn-ea"/>
                <a:cs typeface="+mn-cs"/>
              </a:rPr>
              <a:t>Leviers transposables pour « Les Pionniers »</a:t>
            </a:r>
          </a:p>
        </p:txBody>
      </p:sp>
      <p:grpSp>
        <p:nvGrpSpPr>
          <p:cNvPr id="4" name="Groupe 3" descr="Leviers transposables">
            <a:extLst>
              <a:ext uri="{FF2B5EF4-FFF2-40B4-BE49-F238E27FC236}">
                <a16:creationId xmlns:a16="http://schemas.microsoft.com/office/drawing/2014/main" id="{57631A1F-336B-27D1-EFF3-911DDF665DF4}"/>
              </a:ext>
            </a:extLst>
          </p:cNvPr>
          <p:cNvGrpSpPr/>
          <p:nvPr/>
        </p:nvGrpSpPr>
        <p:grpSpPr>
          <a:xfrm>
            <a:off x="1224000" y="936000"/>
            <a:ext cx="6117334" cy="3878580"/>
            <a:chOff x="5724845" y="1439774"/>
            <a:chExt cx="5538762" cy="4386151"/>
          </a:xfrm>
        </p:grpSpPr>
        <p:grpSp>
          <p:nvGrpSpPr>
            <p:cNvPr id="5" name="Group 2">
              <a:extLst>
                <a:ext uri="{FF2B5EF4-FFF2-40B4-BE49-F238E27FC236}">
                  <a16:creationId xmlns:a16="http://schemas.microsoft.com/office/drawing/2014/main" id="{758B3D60-7A95-22FB-E54E-E29D5B90543C}"/>
                </a:ext>
              </a:extLst>
            </p:cNvPr>
            <p:cNvGrpSpPr/>
            <p:nvPr/>
          </p:nvGrpSpPr>
          <p:grpSpPr>
            <a:xfrm>
              <a:off x="5724845" y="1439774"/>
              <a:ext cx="2658229" cy="2108939"/>
              <a:chOff x="5724845" y="1439774"/>
              <a:chExt cx="2658229" cy="2108939"/>
            </a:xfrm>
          </p:grpSpPr>
          <p:grpSp>
            <p:nvGrpSpPr>
              <p:cNvPr id="21" name="Group 3">
                <a:extLst>
                  <a:ext uri="{FF2B5EF4-FFF2-40B4-BE49-F238E27FC236}">
                    <a16:creationId xmlns:a16="http://schemas.microsoft.com/office/drawing/2014/main" id="{591377CE-32E9-AFBE-B320-7A867A21EE66}"/>
                  </a:ext>
                </a:extLst>
              </p:cNvPr>
              <p:cNvGrpSpPr/>
              <p:nvPr/>
            </p:nvGrpSpPr>
            <p:grpSpPr>
              <a:xfrm flipH="1">
                <a:off x="5724845" y="1439774"/>
                <a:ext cx="2521099" cy="2108939"/>
                <a:chOff x="8333039" y="3936071"/>
                <a:chExt cx="2932724" cy="2358197"/>
              </a:xfrm>
            </p:grpSpPr>
            <p:sp>
              <p:nvSpPr>
                <p:cNvPr id="23" name="Rectangle: Rounded Corners 5">
                  <a:extLst>
                    <a:ext uri="{FF2B5EF4-FFF2-40B4-BE49-F238E27FC236}">
                      <a16:creationId xmlns:a16="http://schemas.microsoft.com/office/drawing/2014/main" id="{78EBD887-3354-6195-F4DA-DCDC505C5A20}"/>
                    </a:ext>
                  </a:extLst>
                </p:cNvPr>
                <p:cNvSpPr/>
                <p:nvPr/>
              </p:nvSpPr>
              <p:spPr>
                <a:xfrm>
                  <a:off x="8428627" y="4006113"/>
                  <a:ext cx="2709571" cy="2205304"/>
                </a:xfrm>
                <a:prstGeom prst="roundRect">
                  <a:avLst>
                    <a:gd name="adj" fmla="val 11742"/>
                  </a:avLst>
                </a:prstGeom>
                <a:solidFill>
                  <a:srgbClr val="FFFFFF"/>
                </a:solidFill>
                <a:ln w="1016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sp>
              <p:nvSpPr>
                <p:cNvPr id="24" name="L-Shape 6">
                  <a:extLst>
                    <a:ext uri="{FF2B5EF4-FFF2-40B4-BE49-F238E27FC236}">
                      <a16:creationId xmlns:a16="http://schemas.microsoft.com/office/drawing/2014/main" id="{BA667447-B12C-6983-88EF-104DAA8060E9}"/>
                    </a:ext>
                  </a:extLst>
                </p:cNvPr>
                <p:cNvSpPr/>
                <p:nvPr/>
              </p:nvSpPr>
              <p:spPr>
                <a:xfrm>
                  <a:off x="8333039" y="3936071"/>
                  <a:ext cx="2932724" cy="2358197"/>
                </a:xfrm>
                <a:prstGeom prst="corner">
                  <a:avLst>
                    <a:gd name="adj1" fmla="val 19271"/>
                    <a:gd name="adj2" fmla="val 1910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grpSp>
          <p:sp>
            <p:nvSpPr>
              <p:cNvPr id="22" name="Rectangle: Rounded Corners 4">
                <a:extLst>
                  <a:ext uri="{FF2B5EF4-FFF2-40B4-BE49-F238E27FC236}">
                    <a16:creationId xmlns:a16="http://schemas.microsoft.com/office/drawing/2014/main" id="{67B11B1F-FBD7-116E-F83F-F8E082788DE9}"/>
                  </a:ext>
                </a:extLst>
              </p:cNvPr>
              <p:cNvSpPr/>
              <p:nvPr/>
            </p:nvSpPr>
            <p:spPr>
              <a:xfrm flipH="1">
                <a:off x="5980508" y="1656241"/>
                <a:ext cx="2402566" cy="1892472"/>
              </a:xfrm>
              <a:prstGeom prst="roundRect">
                <a:avLst>
                  <a:gd name="adj" fmla="val 8667"/>
                </a:avLst>
              </a:prstGeom>
              <a:solidFill>
                <a:schemeClr val="accent5">
                  <a:lumMod val="20000"/>
                  <a:lumOff val="80000"/>
                  <a:alpha val="69804"/>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lvl="1" algn="ctr"/>
                <a:r>
                  <a:rPr lang="fr-FR" sz="900" b="1" kern="1200" dirty="0">
                    <a:solidFill>
                      <a:srgbClr val="D92424">
                        <a:lumMod val="50000"/>
                      </a:srgbClr>
                    </a:solidFill>
                    <a:latin typeface="Marianne Medium" panose="02000000000000000000" pitchFamily="2" charset="0"/>
                  </a:rPr>
                  <a:t>METTRE L’ACCENT SUR L’EFFICACITE PLUTÔT QUE LE VOLUME</a:t>
                </a:r>
              </a:p>
              <a:p>
                <a:pPr lvl="1" algn="just"/>
                <a:endParaRPr lang="fr-FR" sz="1100" b="1" kern="1200" dirty="0">
                  <a:solidFill>
                    <a:srgbClr val="D92424">
                      <a:lumMod val="50000"/>
                    </a:srgbClr>
                  </a:solidFill>
                  <a:latin typeface="Marianne Medium" panose="02000000000000000000" pitchFamily="2" charset="0"/>
                </a:endParaRPr>
              </a:p>
              <a:p>
                <a:pPr marL="171450" indent="-171450">
                  <a:spcAft>
                    <a:spcPts val="400"/>
                  </a:spcAft>
                  <a:buClr>
                    <a:srgbClr val="D92424"/>
                  </a:buClr>
                  <a:buFont typeface="Times New Roman" panose="02020603050405020304" pitchFamily="18" charset="0"/>
                  <a:buChar char="→"/>
                  <a:defRPr/>
                </a:pPr>
                <a:r>
                  <a:rPr lang="fr-FR" sz="900" kern="1200" dirty="0">
                    <a:solidFill>
                      <a:srgbClr val="293378"/>
                    </a:solidFill>
                    <a:latin typeface="Marianne"/>
                  </a:rPr>
                  <a:t>Ne pas chercher à “marquer plus”, mais à marquer mieux</a:t>
                </a:r>
              </a:p>
              <a:p>
                <a:pPr marL="171450" indent="-171450">
                  <a:spcAft>
                    <a:spcPts val="400"/>
                  </a:spcAft>
                  <a:buClr>
                    <a:srgbClr val="D92424"/>
                  </a:buClr>
                  <a:buFont typeface="Times New Roman" panose="02020603050405020304" pitchFamily="18" charset="0"/>
                  <a:buChar char="→"/>
                  <a:defRPr/>
                </a:pPr>
                <a:r>
                  <a:rPr lang="fr-FR" sz="900" kern="1200" dirty="0">
                    <a:solidFill>
                      <a:srgbClr val="293378"/>
                    </a:solidFill>
                    <a:latin typeface="Marianne"/>
                  </a:rPr>
                  <a:t>Augmenter le FG% plutôt que les PTS bruts</a:t>
                </a:r>
              </a:p>
            </p:txBody>
          </p:sp>
        </p:grpSp>
        <p:grpSp>
          <p:nvGrpSpPr>
            <p:cNvPr id="6" name="Group 75">
              <a:extLst>
                <a:ext uri="{FF2B5EF4-FFF2-40B4-BE49-F238E27FC236}">
                  <a16:creationId xmlns:a16="http://schemas.microsoft.com/office/drawing/2014/main" id="{CAE97A55-4993-D7FF-92A4-B80763143723}"/>
                </a:ext>
              </a:extLst>
            </p:cNvPr>
            <p:cNvGrpSpPr/>
            <p:nvPr/>
          </p:nvGrpSpPr>
          <p:grpSpPr>
            <a:xfrm>
              <a:off x="8586546" y="1441606"/>
              <a:ext cx="2677061" cy="2108938"/>
              <a:chOff x="8586546" y="1441606"/>
              <a:chExt cx="2677061" cy="2108938"/>
            </a:xfrm>
          </p:grpSpPr>
          <p:grpSp>
            <p:nvGrpSpPr>
              <p:cNvPr id="17" name="Group 76">
                <a:extLst>
                  <a:ext uri="{FF2B5EF4-FFF2-40B4-BE49-F238E27FC236}">
                    <a16:creationId xmlns:a16="http://schemas.microsoft.com/office/drawing/2014/main" id="{9A90AA40-C84C-3E2C-CFAD-4ABAA410116C}"/>
                  </a:ext>
                </a:extLst>
              </p:cNvPr>
              <p:cNvGrpSpPr/>
              <p:nvPr/>
            </p:nvGrpSpPr>
            <p:grpSpPr>
              <a:xfrm>
                <a:off x="8742509" y="1441606"/>
                <a:ext cx="2521098" cy="2107108"/>
                <a:chOff x="8333039" y="3936071"/>
                <a:chExt cx="2932724" cy="2358197"/>
              </a:xfrm>
            </p:grpSpPr>
            <p:sp>
              <p:nvSpPr>
                <p:cNvPr id="19" name="Rectangle: Rounded Corners 78">
                  <a:extLst>
                    <a:ext uri="{FF2B5EF4-FFF2-40B4-BE49-F238E27FC236}">
                      <a16:creationId xmlns:a16="http://schemas.microsoft.com/office/drawing/2014/main" id="{01EA19C3-1E3C-B8EF-808D-E5F59701BCFE}"/>
                    </a:ext>
                  </a:extLst>
                </p:cNvPr>
                <p:cNvSpPr/>
                <p:nvPr/>
              </p:nvSpPr>
              <p:spPr>
                <a:xfrm>
                  <a:off x="8428626" y="4006113"/>
                  <a:ext cx="2709571" cy="2205304"/>
                </a:xfrm>
                <a:prstGeom prst="roundRect">
                  <a:avLst>
                    <a:gd name="adj" fmla="val 11742"/>
                  </a:avLst>
                </a:prstGeom>
                <a:solidFill>
                  <a:srgbClr val="FFFFFF"/>
                </a:solidFill>
                <a:ln w="1016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sp>
              <p:nvSpPr>
                <p:cNvPr id="20" name="L-Shape 79">
                  <a:extLst>
                    <a:ext uri="{FF2B5EF4-FFF2-40B4-BE49-F238E27FC236}">
                      <a16:creationId xmlns:a16="http://schemas.microsoft.com/office/drawing/2014/main" id="{D03377A2-921F-8E06-2F81-4BD4EE56A464}"/>
                    </a:ext>
                  </a:extLst>
                </p:cNvPr>
                <p:cNvSpPr/>
                <p:nvPr/>
              </p:nvSpPr>
              <p:spPr>
                <a:xfrm>
                  <a:off x="8333039" y="3936071"/>
                  <a:ext cx="2932724" cy="2358197"/>
                </a:xfrm>
                <a:prstGeom prst="corner">
                  <a:avLst>
                    <a:gd name="adj1" fmla="val 19271"/>
                    <a:gd name="adj2" fmla="val 1910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grpSp>
          <p:sp>
            <p:nvSpPr>
              <p:cNvPr id="18" name="Rectangle: Rounded Corners 77">
                <a:extLst>
                  <a:ext uri="{FF2B5EF4-FFF2-40B4-BE49-F238E27FC236}">
                    <a16:creationId xmlns:a16="http://schemas.microsoft.com/office/drawing/2014/main" id="{2B2141CD-91DE-B779-963D-0191BD0F3896}"/>
                  </a:ext>
                </a:extLst>
              </p:cNvPr>
              <p:cNvSpPr/>
              <p:nvPr/>
            </p:nvSpPr>
            <p:spPr>
              <a:xfrm flipH="1">
                <a:off x="8586546" y="1658072"/>
                <a:ext cx="2402566" cy="1892472"/>
              </a:xfrm>
              <a:prstGeom prst="roundRect">
                <a:avLst>
                  <a:gd name="adj" fmla="val 8667"/>
                </a:avLst>
              </a:prstGeom>
              <a:solidFill>
                <a:schemeClr val="accent2">
                  <a:lumMod val="20000"/>
                  <a:lumOff val="80000"/>
                  <a:alpha val="69804"/>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0" lang="fr-FR" sz="900" b="1" i="0" u="none" strike="noStrike" kern="1200" cap="none" spc="0" normalizeH="0" baseline="0" noProof="0" dirty="0">
                    <a:ln>
                      <a:noFill/>
                    </a:ln>
                    <a:solidFill>
                      <a:srgbClr val="FFCC52">
                        <a:lumMod val="50000"/>
                      </a:srgbClr>
                    </a:solidFill>
                    <a:effectLst/>
                    <a:uLnTx/>
                    <a:uFillTx/>
                    <a:latin typeface="Marianne Medium" panose="02000000000000000000" pitchFamily="2" charset="0"/>
                    <a:ea typeface="+mn-ea"/>
                    <a:cs typeface="+mn-cs"/>
                  </a:rPr>
                  <a:t>RENFORCER LA PRESENCE INTERIEURE</a:t>
                </a:r>
              </a:p>
              <a:p>
                <a:r>
                  <a:rPr lang="fr-FR" sz="1100" b="1" dirty="0">
                    <a:solidFill>
                      <a:schemeClr val="bg2">
                        <a:lumMod val="50000"/>
                      </a:schemeClr>
                    </a:solidFill>
                  </a:rPr>
                  <a:t> </a:t>
                </a:r>
              </a:p>
              <a:p>
                <a:pPr marL="171450" indent="-171450">
                  <a:spcAft>
                    <a:spcPts val="400"/>
                  </a:spcAft>
                  <a:buClr>
                    <a:srgbClr val="FFCC52">
                      <a:lumMod val="75000"/>
                    </a:srgbClr>
                  </a:buClr>
                  <a:buFont typeface="Times New Roman" panose="02020603050405020304" pitchFamily="18" charset="0"/>
                  <a:buChar char="→"/>
                  <a:defRPr/>
                </a:pPr>
                <a:r>
                  <a:rPr kumimoji="0" lang="fr-FR" sz="900" b="0" i="0" u="none" strike="noStrike" kern="1200" cap="none" spc="0" normalizeH="0" baseline="0" noProof="0" dirty="0">
                    <a:ln>
                      <a:noFill/>
                    </a:ln>
                    <a:solidFill>
                      <a:srgbClr val="293378"/>
                    </a:solidFill>
                    <a:effectLst/>
                    <a:uLnTx/>
                    <a:uFillTx/>
                    <a:latin typeface="Marianne"/>
                    <a:ea typeface="+mn-ea"/>
                    <a:cs typeface="+mn-cs"/>
                  </a:rPr>
                  <a:t> </a:t>
                </a:r>
                <a:r>
                  <a:rPr lang="fr-FR" sz="900" kern="1200" dirty="0">
                    <a:solidFill>
                      <a:srgbClr val="293378"/>
                    </a:solidFill>
                    <a:latin typeface="Marianne"/>
                  </a:rPr>
                  <a:t>Sécurisation du rebond défensif (DREB),</a:t>
                </a:r>
              </a:p>
              <a:p>
                <a:pPr marL="171450" indent="-171450">
                  <a:spcAft>
                    <a:spcPts val="400"/>
                  </a:spcAft>
                  <a:buClr>
                    <a:srgbClr val="FFCC52">
                      <a:lumMod val="75000"/>
                    </a:srgbClr>
                  </a:buClr>
                  <a:buFont typeface="Times New Roman" panose="02020603050405020304" pitchFamily="18" charset="0"/>
                  <a:buChar char="→"/>
                  <a:defRPr/>
                </a:pPr>
                <a:r>
                  <a:rPr lang="fr-FR" sz="900" kern="1200" dirty="0">
                    <a:solidFill>
                      <a:srgbClr val="293378"/>
                    </a:solidFill>
                    <a:latin typeface="Marianne"/>
                  </a:rPr>
                  <a:t>création de secondes chances offensives (OREB)</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fr-FR" sz="1200" b="0" i="0" u="none" strike="noStrike" kern="1200" cap="none" spc="0" normalizeH="0" baseline="0" noProof="0" dirty="0">
                  <a:ln>
                    <a:noFill/>
                  </a:ln>
                  <a:solidFill>
                    <a:srgbClr val="0D1440"/>
                  </a:solidFill>
                  <a:effectLst/>
                  <a:uLnTx/>
                  <a:uFillTx/>
                  <a:latin typeface="Marianne"/>
                  <a:ea typeface="+mn-ea"/>
                  <a:cs typeface="+mn-cs"/>
                </a:endParaRPr>
              </a:p>
            </p:txBody>
          </p:sp>
        </p:grpSp>
        <p:grpSp>
          <p:nvGrpSpPr>
            <p:cNvPr id="7" name="Group 80">
              <a:extLst>
                <a:ext uri="{FF2B5EF4-FFF2-40B4-BE49-F238E27FC236}">
                  <a16:creationId xmlns:a16="http://schemas.microsoft.com/office/drawing/2014/main" id="{42F8F5C6-D539-B2DA-F308-13E494C8936C}"/>
                </a:ext>
              </a:extLst>
            </p:cNvPr>
            <p:cNvGrpSpPr/>
            <p:nvPr/>
          </p:nvGrpSpPr>
          <p:grpSpPr>
            <a:xfrm>
              <a:off x="5724845" y="3730399"/>
              <a:ext cx="2666644" cy="2093698"/>
              <a:chOff x="5724845" y="3730399"/>
              <a:chExt cx="2666644" cy="2093698"/>
            </a:xfrm>
          </p:grpSpPr>
          <p:grpSp>
            <p:nvGrpSpPr>
              <p:cNvPr id="13" name="Group 81">
                <a:extLst>
                  <a:ext uri="{FF2B5EF4-FFF2-40B4-BE49-F238E27FC236}">
                    <a16:creationId xmlns:a16="http://schemas.microsoft.com/office/drawing/2014/main" id="{E93C9DAF-A492-A176-E224-0304E180921A}"/>
                  </a:ext>
                </a:extLst>
              </p:cNvPr>
              <p:cNvGrpSpPr/>
              <p:nvPr/>
            </p:nvGrpSpPr>
            <p:grpSpPr>
              <a:xfrm flipH="1" flipV="1">
                <a:off x="5724845" y="3730399"/>
                <a:ext cx="2612150" cy="2093698"/>
                <a:chOff x="8333039" y="3936071"/>
                <a:chExt cx="2932724" cy="2358197"/>
              </a:xfrm>
            </p:grpSpPr>
            <p:sp>
              <p:nvSpPr>
                <p:cNvPr id="15" name="Rectangle: Rounded Corners 83">
                  <a:extLst>
                    <a:ext uri="{FF2B5EF4-FFF2-40B4-BE49-F238E27FC236}">
                      <a16:creationId xmlns:a16="http://schemas.microsoft.com/office/drawing/2014/main" id="{5444742F-7133-A689-A196-583F811DD717}"/>
                    </a:ext>
                  </a:extLst>
                </p:cNvPr>
                <p:cNvSpPr/>
                <p:nvPr/>
              </p:nvSpPr>
              <p:spPr>
                <a:xfrm>
                  <a:off x="8428627" y="4006113"/>
                  <a:ext cx="2709571" cy="2205304"/>
                </a:xfrm>
                <a:prstGeom prst="roundRect">
                  <a:avLst>
                    <a:gd name="adj" fmla="val 11742"/>
                  </a:avLst>
                </a:prstGeom>
                <a:solidFill>
                  <a:srgbClr val="FFFFFF"/>
                </a:solidFill>
                <a:ln w="1016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sp>
              <p:nvSpPr>
                <p:cNvPr id="16" name="L-Shape 84">
                  <a:extLst>
                    <a:ext uri="{FF2B5EF4-FFF2-40B4-BE49-F238E27FC236}">
                      <a16:creationId xmlns:a16="http://schemas.microsoft.com/office/drawing/2014/main" id="{D3601D15-2332-98A5-E47C-565B2951E979}"/>
                    </a:ext>
                  </a:extLst>
                </p:cNvPr>
                <p:cNvSpPr/>
                <p:nvPr/>
              </p:nvSpPr>
              <p:spPr>
                <a:xfrm>
                  <a:off x="8333039" y="3936071"/>
                  <a:ext cx="2932724" cy="2358197"/>
                </a:xfrm>
                <a:prstGeom prst="corner">
                  <a:avLst>
                    <a:gd name="adj1" fmla="val 19271"/>
                    <a:gd name="adj2" fmla="val 1910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grpSp>
          <p:sp>
            <p:nvSpPr>
              <p:cNvPr id="14" name="Rectangle: Rounded Corners 82">
                <a:extLst>
                  <a:ext uri="{FF2B5EF4-FFF2-40B4-BE49-F238E27FC236}">
                    <a16:creationId xmlns:a16="http://schemas.microsoft.com/office/drawing/2014/main" id="{92490377-9759-6C9C-6DB6-35C47848AA43}"/>
                  </a:ext>
                </a:extLst>
              </p:cNvPr>
              <p:cNvSpPr/>
              <p:nvPr/>
            </p:nvSpPr>
            <p:spPr>
              <a:xfrm flipH="1">
                <a:off x="5988923" y="3730758"/>
                <a:ext cx="2402566" cy="1892472"/>
              </a:xfrm>
              <a:prstGeom prst="roundRect">
                <a:avLst>
                  <a:gd name="adj" fmla="val 8667"/>
                </a:avLst>
              </a:prstGeom>
              <a:solidFill>
                <a:schemeClr val="accent4">
                  <a:lumMod val="20000"/>
                  <a:lumOff val="80000"/>
                  <a:alpha val="69804"/>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buClrTx/>
                  <a:defRPr/>
                </a:pPr>
                <a:r>
                  <a:rPr kumimoji="0" lang="fr-FR" sz="900" b="1" i="0" u="none" strike="noStrike" kern="1200" cap="none" spc="0" normalizeH="0" baseline="0" noProof="0" dirty="0">
                    <a:ln>
                      <a:noFill/>
                    </a:ln>
                    <a:solidFill>
                      <a:srgbClr val="D96B00">
                        <a:lumMod val="50000"/>
                      </a:srgbClr>
                    </a:solidFill>
                    <a:effectLst/>
                    <a:uLnTx/>
                    <a:uFillTx/>
                    <a:latin typeface="Marianne Medium" panose="02000000000000000000" pitchFamily="2" charset="0"/>
                    <a:ea typeface="+mn-ea"/>
                    <a:cs typeface="+mn-cs"/>
                  </a:rPr>
                  <a:t>DEVELOPPER LA CREATION DE JEU AU-DELA DES SEULS LEADERS</a:t>
                </a:r>
                <a:endParaRPr lang="fr-FR" sz="900" b="1" dirty="0">
                  <a:solidFill>
                    <a:schemeClr val="bg2">
                      <a:lumMod val="50000"/>
                    </a:schemeClr>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dirty="0">
                  <a:ln>
                    <a:noFill/>
                  </a:ln>
                  <a:solidFill>
                    <a:srgbClr val="D96B00">
                      <a:lumMod val="50000"/>
                    </a:srgbClr>
                  </a:solidFill>
                  <a:effectLst/>
                  <a:uLnTx/>
                  <a:uFillTx/>
                  <a:latin typeface="Marianne Medium" panose="02000000000000000000" pitchFamily="2" charset="0"/>
                  <a:ea typeface="+mn-ea"/>
                  <a:cs typeface="+mn-cs"/>
                </a:endParaRPr>
              </a:p>
              <a:p>
                <a:pPr marL="171450" indent="-171450">
                  <a:spcAft>
                    <a:spcPts val="600"/>
                  </a:spcAft>
                  <a:buClr>
                    <a:srgbClr val="D96B00"/>
                  </a:buClr>
                  <a:buFont typeface="Times New Roman" panose="02020603050405020304" pitchFamily="18" charset="0"/>
                  <a:buChar char="→"/>
                  <a:defRPr/>
                </a:pPr>
                <a:r>
                  <a:rPr lang="fr-FR" sz="900" kern="1200" dirty="0">
                    <a:solidFill>
                      <a:srgbClr val="293378"/>
                    </a:solidFill>
                    <a:latin typeface="Marianne"/>
                  </a:rPr>
                  <a:t>Former plusieurs joueurs à la lecture du jeu</a:t>
                </a:r>
                <a:r>
                  <a:rPr lang="fr-FR" sz="900" b="1" dirty="0">
                    <a:solidFill>
                      <a:schemeClr val="bg2">
                        <a:lumMod val="50000"/>
                      </a:schemeClr>
                    </a:solidFill>
                  </a:rPr>
                  <a:t>,</a:t>
                </a:r>
              </a:p>
              <a:p>
                <a:pPr marL="171450" indent="-171450">
                  <a:spcAft>
                    <a:spcPts val="600"/>
                  </a:spcAft>
                  <a:buClr>
                    <a:srgbClr val="D96B00"/>
                  </a:buClr>
                  <a:buFont typeface="Times New Roman" panose="02020603050405020304" pitchFamily="18" charset="0"/>
                  <a:buChar char="→"/>
                  <a:defRPr/>
                </a:pPr>
                <a:r>
                  <a:rPr lang="fr-FR" sz="900" kern="1200" dirty="0">
                    <a:solidFill>
                      <a:srgbClr val="293378"/>
                    </a:solidFill>
                    <a:latin typeface="Marianne"/>
                  </a:rPr>
                  <a:t>Structurer des systèmes avec plusieurs points de création</a:t>
                </a:r>
                <a:r>
                  <a:rPr lang="fr-FR" sz="900" b="1" dirty="0">
                    <a:solidFill>
                      <a:schemeClr val="bg2">
                        <a:lumMod val="50000"/>
                      </a:schemeClr>
                    </a:solidFill>
                  </a:rPr>
                  <a:t>,</a:t>
                </a:r>
              </a:p>
              <a:p>
                <a:pPr marL="171450" indent="-171450">
                  <a:spcAft>
                    <a:spcPts val="600"/>
                  </a:spcAft>
                  <a:buClr>
                    <a:srgbClr val="D96B00"/>
                  </a:buClr>
                  <a:buFont typeface="Times New Roman" panose="02020603050405020304" pitchFamily="18" charset="0"/>
                  <a:buChar char="→"/>
                  <a:defRPr/>
                </a:pPr>
                <a:r>
                  <a:rPr lang="fr-FR" sz="900" kern="1200" dirty="0">
                    <a:solidFill>
                      <a:srgbClr val="293378"/>
                    </a:solidFill>
                    <a:latin typeface="Marianne"/>
                  </a:rPr>
                  <a:t>Valoriser les profils “connecteurs” (AST)</a:t>
                </a:r>
              </a:p>
            </p:txBody>
          </p:sp>
        </p:grpSp>
        <p:grpSp>
          <p:nvGrpSpPr>
            <p:cNvPr id="8" name="Group 85">
              <a:extLst>
                <a:ext uri="{FF2B5EF4-FFF2-40B4-BE49-F238E27FC236}">
                  <a16:creationId xmlns:a16="http://schemas.microsoft.com/office/drawing/2014/main" id="{E01584EF-4289-2A8F-E737-407BA83A732F}"/>
                </a:ext>
              </a:extLst>
            </p:cNvPr>
            <p:cNvGrpSpPr/>
            <p:nvPr/>
          </p:nvGrpSpPr>
          <p:grpSpPr>
            <a:xfrm>
              <a:off x="8594960" y="3730400"/>
              <a:ext cx="2668644" cy="2095525"/>
              <a:chOff x="8594960" y="3730400"/>
              <a:chExt cx="2668644" cy="2095525"/>
            </a:xfrm>
          </p:grpSpPr>
          <p:grpSp>
            <p:nvGrpSpPr>
              <p:cNvPr id="9" name="Group 86">
                <a:extLst>
                  <a:ext uri="{FF2B5EF4-FFF2-40B4-BE49-F238E27FC236}">
                    <a16:creationId xmlns:a16="http://schemas.microsoft.com/office/drawing/2014/main" id="{41766B16-84D4-ABF9-0CEA-C4046A7338CB}"/>
                  </a:ext>
                </a:extLst>
              </p:cNvPr>
              <p:cNvGrpSpPr/>
              <p:nvPr/>
            </p:nvGrpSpPr>
            <p:grpSpPr>
              <a:xfrm flipV="1">
                <a:off x="8657567" y="3730400"/>
                <a:ext cx="2606037" cy="2095525"/>
                <a:chOff x="8333039" y="3936071"/>
                <a:chExt cx="2932724" cy="2358197"/>
              </a:xfrm>
            </p:grpSpPr>
            <p:sp>
              <p:nvSpPr>
                <p:cNvPr id="11" name="Rectangle: Rounded Corners 88">
                  <a:extLst>
                    <a:ext uri="{FF2B5EF4-FFF2-40B4-BE49-F238E27FC236}">
                      <a16:creationId xmlns:a16="http://schemas.microsoft.com/office/drawing/2014/main" id="{BB041CBD-352B-B52D-4B6C-ADEC2AA6560E}"/>
                    </a:ext>
                  </a:extLst>
                </p:cNvPr>
                <p:cNvSpPr/>
                <p:nvPr/>
              </p:nvSpPr>
              <p:spPr>
                <a:xfrm>
                  <a:off x="8428628" y="4006113"/>
                  <a:ext cx="2709571" cy="2205304"/>
                </a:xfrm>
                <a:prstGeom prst="roundRect">
                  <a:avLst>
                    <a:gd name="adj" fmla="val 11742"/>
                  </a:avLst>
                </a:prstGeom>
                <a:solidFill>
                  <a:srgbClr val="FFFFFF"/>
                </a:solidFill>
                <a:ln w="1016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sp>
              <p:nvSpPr>
                <p:cNvPr id="12" name="L-Shape 89">
                  <a:extLst>
                    <a:ext uri="{FF2B5EF4-FFF2-40B4-BE49-F238E27FC236}">
                      <a16:creationId xmlns:a16="http://schemas.microsoft.com/office/drawing/2014/main" id="{2284E3E0-D607-5139-1F51-8783451D9AF7}"/>
                    </a:ext>
                  </a:extLst>
                </p:cNvPr>
                <p:cNvSpPr/>
                <p:nvPr/>
              </p:nvSpPr>
              <p:spPr>
                <a:xfrm>
                  <a:off x="8333039" y="3936071"/>
                  <a:ext cx="2932724" cy="2358197"/>
                </a:xfrm>
                <a:prstGeom prst="corner">
                  <a:avLst>
                    <a:gd name="adj1" fmla="val 19271"/>
                    <a:gd name="adj2" fmla="val 1910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fr-FR" sz="1400" b="0" i="0" u="none" strike="noStrike" kern="1200" cap="none" spc="0" normalizeH="0" baseline="0" noProof="0">
                    <a:ln>
                      <a:noFill/>
                    </a:ln>
                    <a:solidFill>
                      <a:srgbClr val="0D1440"/>
                    </a:solidFill>
                    <a:effectLst/>
                    <a:uLnTx/>
                    <a:uFillTx/>
                    <a:latin typeface="Marianne"/>
                    <a:ea typeface="+mn-ea"/>
                    <a:cs typeface="+mn-cs"/>
                  </a:endParaRPr>
                </a:p>
              </p:txBody>
            </p:sp>
          </p:grpSp>
          <p:sp>
            <p:nvSpPr>
              <p:cNvPr id="10" name="Rectangle: Rounded Corners 87">
                <a:extLst>
                  <a:ext uri="{FF2B5EF4-FFF2-40B4-BE49-F238E27FC236}">
                    <a16:creationId xmlns:a16="http://schemas.microsoft.com/office/drawing/2014/main" id="{8E282B35-A466-8C70-3CC8-57F1DBE86EF3}"/>
                  </a:ext>
                </a:extLst>
              </p:cNvPr>
              <p:cNvSpPr/>
              <p:nvPr/>
            </p:nvSpPr>
            <p:spPr>
              <a:xfrm flipH="1">
                <a:off x="8594960" y="3732589"/>
                <a:ext cx="2402566" cy="1892472"/>
              </a:xfrm>
              <a:prstGeom prst="roundRect">
                <a:avLst>
                  <a:gd name="adj" fmla="val 8667"/>
                </a:avLst>
              </a:prstGeom>
              <a:solidFill>
                <a:schemeClr val="accent6">
                  <a:lumMod val="20000"/>
                  <a:lumOff val="80000"/>
                  <a:alpha val="69804"/>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00"/>
                  </a:spcAft>
                  <a:buClrTx/>
                  <a:defRPr/>
                </a:pPr>
                <a:r>
                  <a:rPr kumimoji="0" lang="fr-FR" sz="900" b="1" i="0" u="none" strike="noStrike" kern="1200" cap="none" spc="0" normalizeH="0" baseline="0" noProof="0" dirty="0">
                    <a:ln>
                      <a:noFill/>
                    </a:ln>
                    <a:solidFill>
                      <a:srgbClr val="5C0F38">
                        <a:lumMod val="50000"/>
                      </a:srgbClr>
                    </a:solidFill>
                    <a:effectLst/>
                    <a:uLnTx/>
                    <a:uFillTx/>
                    <a:latin typeface="Marianne Medium" panose="02000000000000000000" pitchFamily="2" charset="0"/>
                    <a:ea typeface="+mn-ea"/>
                    <a:cs typeface="+mn-cs"/>
                  </a:rPr>
                  <a:t>REEQUILIBRER LA CONTRIBUTION COLLECTIVE</a:t>
                </a:r>
                <a:endParaRPr lang="fr-FR" sz="900" b="1" dirty="0">
                  <a:solidFill>
                    <a:schemeClr val="bg2">
                      <a:lumMod val="50000"/>
                    </a:schemeClr>
                  </a:solidFill>
                </a:endParaRPr>
              </a:p>
              <a:p>
                <a:pPr marL="171450" lvl="1" indent="-171450">
                  <a:spcAft>
                    <a:spcPts val="400"/>
                  </a:spcAft>
                  <a:buClr>
                    <a:srgbClr val="FFCC52">
                      <a:lumMod val="75000"/>
                    </a:srgbClr>
                  </a:buClr>
                  <a:buFont typeface="Times New Roman" panose="02020603050405020304" pitchFamily="18" charset="0"/>
                  <a:buChar char="→"/>
                  <a:defRPr/>
                </a:pPr>
                <a:r>
                  <a:rPr lang="fr-FR" sz="900" kern="1200" dirty="0">
                    <a:solidFill>
                      <a:srgbClr val="293378"/>
                    </a:solidFill>
                    <a:latin typeface="Marianne"/>
                  </a:rPr>
                  <a:t>Fixer des objectifs collectifs (rebonds, passes, stops défensifs),</a:t>
                </a:r>
              </a:p>
              <a:p>
                <a:pPr marL="171450" lvl="1" indent="-171450">
                  <a:spcAft>
                    <a:spcPts val="400"/>
                  </a:spcAft>
                  <a:buClr>
                    <a:srgbClr val="FFCC52">
                      <a:lumMod val="75000"/>
                    </a:srgbClr>
                  </a:buClr>
                  <a:buFont typeface="Times New Roman" panose="02020603050405020304" pitchFamily="18" charset="0"/>
                  <a:buChar char="→"/>
                  <a:defRPr/>
                </a:pPr>
                <a:r>
                  <a:rPr lang="fr-FR" sz="900" kern="1200" dirty="0">
                    <a:solidFill>
                      <a:srgbClr val="293378"/>
                    </a:solidFill>
                    <a:latin typeface="Marianne"/>
                  </a:rPr>
                  <a:t>Intégrer des indicateurs composites (type PIE) dans le suivi interne</a:t>
                </a:r>
              </a:p>
            </p:txBody>
          </p:sp>
        </p:grpSp>
      </p:grpSp>
      <p:pic>
        <p:nvPicPr>
          <p:cNvPr id="45" name="Image 44" descr="Une image contenant dessin humoristique, clipart, Animation">
            <a:extLst>
              <a:ext uri="{FF2B5EF4-FFF2-40B4-BE49-F238E27FC236}">
                <a16:creationId xmlns:a16="http://schemas.microsoft.com/office/drawing/2014/main" id="{C3878257-9A10-4982-27DA-D97E2BBFED4E}"/>
              </a:ext>
            </a:extLst>
          </p:cNvPr>
          <p:cNvPicPr>
            <a:picLocks noChangeAspect="1"/>
          </p:cNvPicPr>
          <p:nvPr/>
        </p:nvPicPr>
        <p:blipFill>
          <a:blip r:embed="rId2"/>
          <a:srcRect l="16797" t="6483" r="53471" b="59418"/>
          <a:stretch>
            <a:fillRect/>
          </a:stretch>
        </p:blipFill>
        <p:spPr>
          <a:xfrm>
            <a:off x="1072546" y="2250319"/>
            <a:ext cx="941684" cy="720000"/>
          </a:xfrm>
          <a:prstGeom prst="rect">
            <a:avLst/>
          </a:prstGeom>
        </p:spPr>
      </p:pic>
      <p:pic>
        <p:nvPicPr>
          <p:cNvPr id="49" name="Image 48" descr="Une image contenant dessin humoristique, clipart, Animation">
            <a:extLst>
              <a:ext uri="{FF2B5EF4-FFF2-40B4-BE49-F238E27FC236}">
                <a16:creationId xmlns:a16="http://schemas.microsoft.com/office/drawing/2014/main" id="{CE0472E8-1355-76A1-A577-E88084A17090}"/>
              </a:ext>
            </a:extLst>
          </p:cNvPr>
          <p:cNvPicPr>
            <a:picLocks noChangeAspect="1"/>
          </p:cNvPicPr>
          <p:nvPr/>
        </p:nvPicPr>
        <p:blipFill>
          <a:blip r:embed="rId2"/>
          <a:srcRect l="55343" t="9849" r="15675" b="60780"/>
          <a:stretch>
            <a:fillRect/>
          </a:stretch>
        </p:blipFill>
        <p:spPr>
          <a:xfrm>
            <a:off x="4270264" y="2264615"/>
            <a:ext cx="1065718" cy="720000"/>
          </a:xfrm>
          <a:prstGeom prst="rect">
            <a:avLst/>
          </a:prstGeom>
        </p:spPr>
      </p:pic>
      <p:pic>
        <p:nvPicPr>
          <p:cNvPr id="51" name="Image 50" descr="Une image contenant dessin humoristique, clipart, Animation">
            <a:extLst>
              <a:ext uri="{FF2B5EF4-FFF2-40B4-BE49-F238E27FC236}">
                <a16:creationId xmlns:a16="http://schemas.microsoft.com/office/drawing/2014/main" id="{E6DA361B-7DA3-34CC-34C8-FA7E2E57EA47}"/>
              </a:ext>
            </a:extLst>
          </p:cNvPr>
          <p:cNvPicPr>
            <a:picLocks noChangeAspect="1"/>
          </p:cNvPicPr>
          <p:nvPr/>
        </p:nvPicPr>
        <p:blipFill>
          <a:blip r:embed="rId2"/>
          <a:srcRect l="22485" t="55531" r="53828" b="14910"/>
          <a:stretch>
            <a:fillRect/>
          </a:stretch>
        </p:blipFill>
        <p:spPr>
          <a:xfrm>
            <a:off x="1062748" y="4222606"/>
            <a:ext cx="865520" cy="720000"/>
          </a:xfrm>
          <a:prstGeom prst="rect">
            <a:avLst/>
          </a:prstGeom>
        </p:spPr>
      </p:pic>
      <p:pic>
        <p:nvPicPr>
          <p:cNvPr id="47" name="Image 46" descr="Une image contenant dessin humoristique, clipart, Animation">
            <a:extLst>
              <a:ext uri="{FF2B5EF4-FFF2-40B4-BE49-F238E27FC236}">
                <a16:creationId xmlns:a16="http://schemas.microsoft.com/office/drawing/2014/main" id="{84EA56AA-92F2-8930-9C4D-5B9888F7BDB3}"/>
              </a:ext>
            </a:extLst>
          </p:cNvPr>
          <p:cNvPicPr>
            <a:picLocks noChangeAspect="1"/>
          </p:cNvPicPr>
          <p:nvPr/>
        </p:nvPicPr>
        <p:blipFill>
          <a:blip r:embed="rId2"/>
          <a:srcRect l="58099" t="54455" r="13210" b="11854"/>
          <a:stretch>
            <a:fillRect/>
          </a:stretch>
        </p:blipFill>
        <p:spPr>
          <a:xfrm>
            <a:off x="4306643" y="4260527"/>
            <a:ext cx="919748" cy="720000"/>
          </a:xfrm>
          <a:prstGeom prst="rect">
            <a:avLst/>
          </a:prstGeom>
        </p:spPr>
      </p:pic>
    </p:spTree>
    <p:extLst>
      <p:ext uri="{BB962C8B-B14F-4D97-AF65-F5344CB8AC3E}">
        <p14:creationId xmlns:p14="http://schemas.microsoft.com/office/powerpoint/2010/main" val="3652996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C7B9DBFA-30F9-5906-2FC9-AE92A659BD3F}"/>
              </a:ext>
            </a:extLst>
          </p:cNvPr>
          <p:cNvSpPr>
            <a:spLocks noGrp="1"/>
          </p:cNvSpPr>
          <p:nvPr>
            <p:ph type="title"/>
          </p:nvPr>
        </p:nvSpPr>
        <p:spPr>
          <a:xfrm>
            <a:off x="1119600" y="252000"/>
            <a:ext cx="7379283" cy="681585"/>
          </a:xfrm>
        </p:spPr>
        <p:txBody>
          <a:bodyPr>
            <a:normAutofit/>
          </a:bodyPr>
          <a:lstStyle/>
          <a:p>
            <a:r>
              <a:rPr lang="fr-FR" sz="2000" kern="1200" spc="-20" dirty="0">
                <a:solidFill>
                  <a:srgbClr val="002060"/>
                </a:solidFill>
                <a:latin typeface="+mj-lt"/>
                <a:ea typeface="+mn-ea"/>
                <a:cs typeface="+mn-cs"/>
              </a:rPr>
              <a:t>Outil de décision visuel : Radar « </a:t>
            </a:r>
            <a:r>
              <a:rPr lang="fr-FR" sz="2000" kern="1200" spc="-20" dirty="0" err="1">
                <a:solidFill>
                  <a:srgbClr val="002060"/>
                </a:solidFill>
                <a:latin typeface="+mj-lt"/>
                <a:ea typeface="+mn-ea"/>
                <a:cs typeface="+mn-cs"/>
              </a:rPr>
              <a:t>NBA_like</a:t>
            </a:r>
            <a:r>
              <a:rPr lang="fr-FR" sz="2000" kern="1200" spc="-20" dirty="0">
                <a:solidFill>
                  <a:srgbClr val="002060"/>
                </a:solidFill>
                <a:latin typeface="+mj-lt"/>
                <a:ea typeface="+mn-ea"/>
                <a:cs typeface="+mn-cs"/>
              </a:rPr>
              <a:t> »</a:t>
            </a:r>
          </a:p>
        </p:txBody>
      </p:sp>
      <p:sp>
        <p:nvSpPr>
          <p:cNvPr id="11" name="Rectangle: Rounded Corners 46" descr="Présentation outil radar">
            <a:extLst>
              <a:ext uri="{FF2B5EF4-FFF2-40B4-BE49-F238E27FC236}">
                <a16:creationId xmlns:a16="http://schemas.microsoft.com/office/drawing/2014/main" id="{08030735-17DC-2B13-33F4-94C49C90C544}"/>
              </a:ext>
              <a:ext uri="{C183D7F6-B498-43B3-948B-1728B52AA6E4}">
                <adec:decorative xmlns:adec="http://schemas.microsoft.com/office/drawing/2017/decorative" val="0"/>
              </a:ext>
            </a:extLst>
          </p:cNvPr>
          <p:cNvSpPr/>
          <p:nvPr/>
        </p:nvSpPr>
        <p:spPr>
          <a:xfrm>
            <a:off x="281060" y="1120140"/>
            <a:ext cx="3960000" cy="3429000"/>
          </a:xfrm>
          <a:prstGeom prst="roundRect">
            <a:avLst>
              <a:gd name="adj" fmla="val 11983"/>
            </a:avLst>
          </a:prstGeom>
          <a:solidFill>
            <a:schemeClr val="accent3">
              <a:lumMod val="20000"/>
              <a:lumOff val="80000"/>
              <a:alpha val="30465"/>
            </a:schemeClr>
          </a:solid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fr-FR" sz="1400" b="0" i="0" u="none" strike="noStrike" kern="0" cap="none" spc="0" normalizeH="0" baseline="0" noProof="0">
              <a:ln>
                <a:noFill/>
              </a:ln>
              <a:solidFill>
                <a:srgbClr val="7E58A0"/>
              </a:solidFill>
              <a:effectLst/>
              <a:uLnTx/>
              <a:uFillTx/>
              <a:latin typeface="Marianne"/>
              <a:ea typeface="Roboto"/>
              <a:cs typeface="Roboto"/>
              <a:sym typeface="Roboto"/>
            </a:endParaRPr>
          </a:p>
        </p:txBody>
      </p:sp>
      <p:sp>
        <p:nvSpPr>
          <p:cNvPr id="12" name="ZoneTexte 11">
            <a:extLst>
              <a:ext uri="{FF2B5EF4-FFF2-40B4-BE49-F238E27FC236}">
                <a16:creationId xmlns:a16="http://schemas.microsoft.com/office/drawing/2014/main" id="{32BF78B9-EE2F-D58B-3928-5AB995F0ACC0}"/>
              </a:ext>
            </a:extLst>
          </p:cNvPr>
          <p:cNvSpPr txBox="1"/>
          <p:nvPr/>
        </p:nvSpPr>
        <p:spPr>
          <a:xfrm>
            <a:off x="286839" y="1196339"/>
            <a:ext cx="3934642" cy="3154710"/>
          </a:xfrm>
          <a:prstGeom prst="rect">
            <a:avLst/>
          </a:prstGeom>
          <a:noFill/>
        </p:spPr>
        <p:txBody>
          <a:bodyPr wrap="square">
            <a:spAutoFit/>
          </a:bodyPr>
          <a:lstStyle/>
          <a:p>
            <a:pPr lvl="0" algn="ctr">
              <a:buClrTx/>
              <a:defRPr/>
            </a:pPr>
            <a:r>
              <a:rPr lang="fr-FR" sz="1100" b="1" i="1" kern="1200" dirty="0">
                <a:solidFill>
                  <a:srgbClr val="293378"/>
                </a:solidFill>
                <a:latin typeface="Marianne Light"/>
                <a:ea typeface="+mn-ea"/>
                <a:cs typeface="+mn-cs"/>
              </a:rPr>
              <a:t>Objectif du radar d’équipe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1" i="0" u="none" strike="noStrike" kern="1200" cap="none" spc="0" normalizeH="0" baseline="0" noProof="0" dirty="0">
              <a:ln>
                <a:noFill/>
              </a:ln>
              <a:solidFill>
                <a:srgbClr val="293378"/>
              </a:solidFill>
              <a:effectLst/>
              <a:uLnTx/>
              <a:uFillTx/>
              <a:latin typeface="Marianne Light"/>
              <a:ea typeface="+mn-ea"/>
              <a:cs typeface="+mn-cs"/>
            </a:endParaRPr>
          </a:p>
          <a:p>
            <a:pPr marL="285750" lvl="0" indent="-285750">
              <a:buClrTx/>
              <a:buFont typeface="Arial" panose="020B0604020202020204" pitchFamily="34" charset="0"/>
              <a:buChar char="•"/>
              <a:defRPr/>
            </a:pPr>
            <a:r>
              <a:rPr lang="fr-FR" sz="1100" kern="1200" dirty="0">
                <a:solidFill>
                  <a:srgbClr val="293378"/>
                </a:solidFill>
                <a:latin typeface="Marianne Light"/>
                <a:ea typeface="+mn-ea"/>
                <a:cs typeface="+mn-cs"/>
              </a:rPr>
              <a:t>Ce radar ne compare pas les Pionniers à la meilleure équipe NBA, mais à un profil d’équipe performante et équilibrée</a:t>
            </a:r>
          </a:p>
          <a:p>
            <a:pPr marL="285750" indent="-285750" algn="ctr">
              <a:buClrTx/>
              <a:buFont typeface="Arial"/>
              <a:buChar char="•"/>
              <a:defRPr/>
            </a:pPr>
            <a:endParaRPr lang="fr-FR" sz="800" b="1" i="1" kern="1200" dirty="0">
              <a:solidFill>
                <a:srgbClr val="293378"/>
              </a:solidFill>
              <a:latin typeface="Marianne Light"/>
              <a:ea typeface="+mn-ea"/>
              <a:cs typeface="+mn-cs"/>
            </a:endParaRPr>
          </a:p>
          <a:p>
            <a:pPr algn="ctr">
              <a:buClrTx/>
              <a:defRPr/>
            </a:pPr>
            <a:r>
              <a:rPr lang="fr-FR" sz="1100" b="1" i="1" kern="1200" dirty="0">
                <a:solidFill>
                  <a:srgbClr val="293378"/>
                </a:solidFill>
                <a:latin typeface="Marianne Light"/>
                <a:ea typeface="+mn-ea"/>
                <a:cs typeface="+mn-cs"/>
              </a:rPr>
              <a:t>Fonctionnement du radar</a:t>
            </a:r>
          </a:p>
          <a:p>
            <a:pPr marL="285750" lvl="0" indent="-285750">
              <a:buClrTx/>
              <a:buFont typeface="Arial" panose="020B0604020202020204" pitchFamily="34" charset="0"/>
              <a:buChar char="•"/>
              <a:defRPr/>
            </a:pPr>
            <a:endParaRPr kumimoji="0" lang="fr-FR" sz="800" b="0" i="0" u="none" strike="noStrike" kern="1200" cap="none" spc="0" normalizeH="0" baseline="0" noProof="0" dirty="0">
              <a:ln>
                <a:noFill/>
              </a:ln>
              <a:solidFill>
                <a:srgbClr val="293378"/>
              </a:solidFill>
              <a:effectLst/>
              <a:uLnTx/>
              <a:uFillTx/>
              <a:latin typeface="Marianne Light"/>
              <a:ea typeface="+mn-ea"/>
              <a:cs typeface="+mn-cs"/>
            </a:endParaRPr>
          </a:p>
          <a:p>
            <a:pPr marL="171450" lvl="1" indent="-171450">
              <a:buFont typeface="Arial" panose="020B0604020202020204" pitchFamily="34" charset="0"/>
              <a:buChar char="•"/>
            </a:pPr>
            <a:r>
              <a:rPr lang="fr-FR" sz="1100" kern="1200" dirty="0">
                <a:solidFill>
                  <a:srgbClr val="293378"/>
                </a:solidFill>
                <a:latin typeface="Marianne Light"/>
                <a:ea typeface="+mn-ea"/>
                <a:cs typeface="+mn-cs"/>
              </a:rPr>
              <a:t>Chaque axe représente un levier clé de performance</a:t>
            </a:r>
          </a:p>
          <a:p>
            <a:pPr marL="171450" lvl="1" indent="-171450">
              <a:buFont typeface="Arial" panose="020B0604020202020204" pitchFamily="34" charset="0"/>
              <a:buChar char="•"/>
            </a:pPr>
            <a:r>
              <a:rPr lang="fr-FR" sz="1100" kern="1200" dirty="0">
                <a:solidFill>
                  <a:srgbClr val="293378"/>
                </a:solidFill>
                <a:latin typeface="Marianne Light"/>
                <a:ea typeface="+mn-ea"/>
                <a:cs typeface="+mn-cs"/>
              </a:rPr>
              <a:t>Les indicateurs sont normalisés sur une échelle de 0 à 1</a:t>
            </a:r>
          </a:p>
          <a:p>
            <a:pPr marL="171450" lvl="1" indent="-171450">
              <a:buFont typeface="Arial" panose="020B0604020202020204" pitchFamily="34" charset="0"/>
              <a:buChar char="•"/>
            </a:pPr>
            <a:endParaRPr lang="fr-FR" sz="800" kern="1200" dirty="0">
              <a:solidFill>
                <a:srgbClr val="293378"/>
              </a:solidFill>
              <a:latin typeface="Marianne Light"/>
              <a:ea typeface="+mn-ea"/>
              <a:cs typeface="+mn-cs"/>
            </a:endParaRPr>
          </a:p>
          <a:p>
            <a:pPr algn="ctr">
              <a:buClrTx/>
              <a:defRPr/>
            </a:pPr>
            <a:r>
              <a:rPr lang="fr-FR" sz="1100" b="1" i="1" kern="1200" dirty="0">
                <a:solidFill>
                  <a:srgbClr val="293378"/>
                </a:solidFill>
                <a:latin typeface="Marianne Light"/>
                <a:ea typeface="+mn-ea"/>
                <a:cs typeface="+mn-cs"/>
              </a:rPr>
              <a:t>Lecture rapide</a:t>
            </a:r>
          </a:p>
          <a:p>
            <a:endParaRPr lang="fr-FR" sz="800" b="1" dirty="0"/>
          </a:p>
          <a:p>
            <a:pPr marL="171450" lvl="1" indent="-171450">
              <a:buFont typeface="Arial" panose="020B0604020202020204" pitchFamily="34" charset="0"/>
              <a:buChar char="•"/>
            </a:pPr>
            <a:r>
              <a:rPr lang="fr-FR" sz="1100" kern="1200" dirty="0">
                <a:solidFill>
                  <a:srgbClr val="293378"/>
                </a:solidFill>
                <a:latin typeface="Marianne Light"/>
                <a:ea typeface="+mn-ea"/>
                <a:cs typeface="+mn-cs"/>
              </a:rPr>
              <a:t>Plus la surface bleue est proche de la référence, plus l’équipe est performante</a:t>
            </a:r>
          </a:p>
          <a:p>
            <a:pPr marL="171450" lvl="1" indent="-171450">
              <a:buFont typeface="Arial" panose="020B0604020202020204" pitchFamily="34" charset="0"/>
              <a:buChar char="•"/>
            </a:pPr>
            <a:r>
              <a:rPr lang="fr-FR" sz="1100" kern="1200" dirty="0">
                <a:solidFill>
                  <a:srgbClr val="293378"/>
                </a:solidFill>
                <a:latin typeface="Marianne Light"/>
                <a:ea typeface="+mn-ea"/>
                <a:cs typeface="+mn-cs"/>
              </a:rPr>
              <a:t>Les creux du radar indiquent les leviers d’entraînement, de recrutement ou de jeu</a:t>
            </a:r>
          </a:p>
          <a:p>
            <a:pPr marL="171450" lvl="1" indent="-171450">
              <a:buFont typeface="Arial" panose="020B0604020202020204" pitchFamily="34" charset="0"/>
              <a:buChar char="•"/>
            </a:pPr>
            <a:endParaRPr lang="fr-FR" sz="1000" b="1" kern="1200" dirty="0">
              <a:solidFill>
                <a:srgbClr val="293378"/>
              </a:solidFill>
              <a:latin typeface="Marianne Light"/>
              <a:ea typeface="+mn-ea"/>
              <a:cs typeface="+mn-cs"/>
            </a:endParaRPr>
          </a:p>
        </p:txBody>
      </p:sp>
      <p:sp>
        <p:nvSpPr>
          <p:cNvPr id="15" name="Triangle isocèle 14">
            <a:extLst>
              <a:ext uri="{FF2B5EF4-FFF2-40B4-BE49-F238E27FC236}">
                <a16:creationId xmlns:a16="http://schemas.microsoft.com/office/drawing/2014/main" id="{5A7AC72F-D9DF-C01A-60E9-A78E637F7694}"/>
              </a:ext>
              <a:ext uri="{C183D7F6-B498-43B3-948B-1728B52AA6E4}">
                <adec:decorative xmlns:adec="http://schemas.microsoft.com/office/drawing/2017/decorative" val="1"/>
              </a:ext>
            </a:extLst>
          </p:cNvPr>
          <p:cNvSpPr/>
          <p:nvPr/>
        </p:nvSpPr>
        <p:spPr>
          <a:xfrm rot="5400000">
            <a:off x="4185340" y="2757277"/>
            <a:ext cx="484094" cy="89732"/>
          </a:xfrm>
          <a:prstGeom prst="triangl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5F2EE"/>
              </a:solidFill>
              <a:effectLst/>
              <a:uLnTx/>
              <a:uFillTx/>
              <a:latin typeface="Marianne Light"/>
              <a:ea typeface="+mn-ea"/>
              <a:cs typeface="+mn-cs"/>
            </a:endParaRPr>
          </a:p>
        </p:txBody>
      </p:sp>
      <p:pic>
        <p:nvPicPr>
          <p:cNvPr id="14" name="Image 13" descr="Outil de décision">
            <a:extLst>
              <a:ext uri="{FF2B5EF4-FFF2-40B4-BE49-F238E27FC236}">
                <a16:creationId xmlns:a16="http://schemas.microsoft.com/office/drawing/2014/main" id="{6A667D34-6404-81DC-1248-EA5CBEE8F830}"/>
              </a:ext>
            </a:extLst>
          </p:cNvPr>
          <p:cNvPicPr>
            <a:picLocks noChangeAspect="1"/>
          </p:cNvPicPr>
          <p:nvPr/>
        </p:nvPicPr>
        <p:blipFill>
          <a:blip r:embed="rId2"/>
          <a:stretch>
            <a:fillRect/>
          </a:stretch>
        </p:blipFill>
        <p:spPr>
          <a:xfrm>
            <a:off x="4556755" y="1120143"/>
            <a:ext cx="4397288" cy="3420000"/>
          </a:xfrm>
          <a:prstGeom prst="rect">
            <a:avLst/>
          </a:prstGeom>
        </p:spPr>
      </p:pic>
      <p:sp>
        <p:nvSpPr>
          <p:cNvPr id="16" name="Rectangle: Rounded Corners 4">
            <a:extLst>
              <a:ext uri="{FF2B5EF4-FFF2-40B4-BE49-F238E27FC236}">
                <a16:creationId xmlns:a16="http://schemas.microsoft.com/office/drawing/2014/main" id="{049F00B0-B970-DBFA-5174-24ED21EB8523}"/>
              </a:ext>
            </a:extLst>
          </p:cNvPr>
          <p:cNvSpPr/>
          <p:nvPr/>
        </p:nvSpPr>
        <p:spPr>
          <a:xfrm flipH="1">
            <a:off x="412678" y="4168141"/>
            <a:ext cx="3703617" cy="458574"/>
          </a:xfrm>
          <a:prstGeom prst="roundRect">
            <a:avLst>
              <a:gd name="adj" fmla="val 27452"/>
            </a:avLst>
          </a:prstGeom>
          <a:solidFill>
            <a:schemeClr val="accent3"/>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ClrTx/>
              <a:defRPr/>
            </a:pPr>
            <a:r>
              <a:rPr lang="fr-FR" sz="1000" kern="1200" dirty="0">
                <a:solidFill>
                  <a:srgbClr val="FFFFFF"/>
                </a:solidFill>
                <a:latin typeface="Marianne" panose="02000000000000000000" pitchFamily="2" charset="0"/>
              </a:rPr>
              <a:t>L’objectif n’est pas d’exceller partout, mais d’atteindre un profil cohérent et équilibré</a:t>
            </a:r>
          </a:p>
        </p:txBody>
      </p:sp>
    </p:spTree>
    <p:extLst>
      <p:ext uri="{BB962C8B-B14F-4D97-AF65-F5344CB8AC3E}">
        <p14:creationId xmlns:p14="http://schemas.microsoft.com/office/powerpoint/2010/main" val="3595595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5BEF0DB-C82C-A378-2D13-3A95813F4FCC}"/>
              </a:ext>
            </a:extLst>
          </p:cNvPr>
          <p:cNvSpPr>
            <a:spLocks noGrp="1"/>
          </p:cNvSpPr>
          <p:nvPr>
            <p:ph type="title"/>
          </p:nvPr>
        </p:nvSpPr>
        <p:spPr>
          <a:xfrm>
            <a:off x="1303800" y="-999300"/>
            <a:ext cx="7030500" cy="999300"/>
          </a:xfrm>
        </p:spPr>
        <p:txBody>
          <a:bodyPr spcFirstLastPara="1" wrap="square" lIns="91425" tIns="91425" rIns="91425" bIns="91425" anchor="b" anchorCtr="0">
            <a:normAutofit/>
          </a:bodyPr>
          <a:lstStyle/>
          <a:p>
            <a:r>
              <a:rPr lang="fr-FR" dirty="0"/>
              <a:t>Merci</a:t>
            </a:r>
          </a:p>
        </p:txBody>
      </p:sp>
      <p:pic>
        <p:nvPicPr>
          <p:cNvPr id="5" name="Image 4" descr="Une image contenant texte, capture d’écran, graphisme, Graphique">
            <a:extLst>
              <a:ext uri="{FF2B5EF4-FFF2-40B4-BE49-F238E27FC236}">
                <a16:creationId xmlns:a16="http://schemas.microsoft.com/office/drawing/2014/main" id="{4F70E562-F266-853D-B2D7-521DF5DAEDB4}"/>
              </a:ext>
            </a:extLst>
          </p:cNvPr>
          <p:cNvPicPr>
            <a:picLocks noChangeAspect="1"/>
          </p:cNvPicPr>
          <p:nvPr/>
        </p:nvPicPr>
        <p:blipFill>
          <a:blip r:embed="rId2"/>
          <a:stretch>
            <a:fillRect/>
          </a:stretch>
        </p:blipFill>
        <p:spPr>
          <a:xfrm>
            <a:off x="243840" y="0"/>
            <a:ext cx="8397240" cy="5143500"/>
          </a:xfrm>
          <a:prstGeom prst="rect">
            <a:avLst/>
          </a:prstGeom>
        </p:spPr>
      </p:pic>
    </p:spTree>
    <p:extLst>
      <p:ext uri="{BB962C8B-B14F-4D97-AF65-F5344CB8AC3E}">
        <p14:creationId xmlns:p14="http://schemas.microsoft.com/office/powerpoint/2010/main" val="29749429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18"/>
</p:tagLst>
</file>

<file path=ppt/tags/tag3.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6"/>
</p:tagLst>
</file>

<file path=ppt/tags/tag4.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7"/>
</p:tagLst>
</file>

<file path=ppt/tags/tag5.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18"/>
</p:tagLst>
</file>

<file path=ppt/tags/tag6.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6"/>
</p:tagLst>
</file>

<file path=ppt/tags/tag7.xml><?xml version="1.0" encoding="utf-8"?>
<p:tagLst xmlns:a="http://schemas.openxmlformats.org/drawingml/2006/main" xmlns:r="http://schemas.openxmlformats.org/officeDocument/2006/relationships" xmlns:p="http://schemas.openxmlformats.org/presentationml/2006/main">
  <p:tag name="POWER_USER_DIAGRAM_RELATIONSHIP_CIRCLES_KEY" val="POWER_USER_DIAGRAM_RELATIONSHIP_CIRCLES_VALUE_7"/>
</p:tagLst>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55a8600f-4ee6-4bb5-8f14-53589536b6df}" enabled="0" method="" siteId="{55a8600f-4ee6-4bb5-8f14-53589536b6df}" removed="1"/>
</clbl:labelList>
</file>

<file path=docProps/app.xml><?xml version="1.0" encoding="utf-8"?>
<Properties xmlns="http://schemas.openxmlformats.org/officeDocument/2006/extended-properties" xmlns:vt="http://schemas.openxmlformats.org/officeDocument/2006/docPropsVTypes">
  <TotalTime>0</TotalTime>
  <Words>798</Words>
  <Application>Microsoft Office PowerPoint</Application>
  <PresentationFormat>Affichage à l'écran (16:9)</PresentationFormat>
  <Paragraphs>97</Paragraphs>
  <Slides>16</Slides>
  <Notes>8</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16</vt:i4>
      </vt:variant>
    </vt:vector>
  </HeadingPairs>
  <TitlesOfParts>
    <vt:vector size="26" baseType="lpstr">
      <vt:lpstr>Marianne Light</vt:lpstr>
      <vt:lpstr>Symbol</vt:lpstr>
      <vt:lpstr>Marianne ExtraBold</vt:lpstr>
      <vt:lpstr>Arial</vt:lpstr>
      <vt:lpstr>Marianne Medium</vt:lpstr>
      <vt:lpstr>Marianne</vt:lpstr>
      <vt:lpstr>Times New Roman</vt:lpstr>
      <vt:lpstr>Nunito</vt:lpstr>
      <vt:lpstr>Maven Pro</vt:lpstr>
      <vt:lpstr>Momentum</vt:lpstr>
      <vt:lpstr>Présentation</vt:lpstr>
      <vt:lpstr>Cadre de la mission et questions d’analyse</vt:lpstr>
      <vt:lpstr>Structure générale de la base NBA</vt:lpstr>
      <vt:lpstr>Méthodologie d’analyse</vt:lpstr>
      <vt:lpstr>Saison 2024/2025 (1/2)</vt:lpstr>
      <vt:lpstr>Saison 2024/2025 (2/2)</vt:lpstr>
      <vt:lpstr>Analyse d’une équipe « Los Angeles Lakers » (1/2) </vt:lpstr>
      <vt:lpstr>Analyse d’une équipe « Los Angeles Lakers » (2/2)</vt:lpstr>
      <vt:lpstr>Analyse du top 15 (par points), Efficacité aux tirs</vt:lpstr>
      <vt:lpstr>Analyse du top 15 (par points) , Impact</vt:lpstr>
      <vt:lpstr>Analyse du top 15 (par points) , Comparaison des tirs</vt:lpstr>
      <vt:lpstr>Analyse complémentaire</vt:lpstr>
      <vt:lpstr>Les principaux enseignements de la ligue </vt:lpstr>
      <vt:lpstr>Leviers transposables pour « Les Pionniers »</vt:lpstr>
      <vt:lpstr>Outil de décision visuel : Radar « NBA_like »</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KOUAKOU Davies</cp:lastModifiedBy>
  <cp:revision>1</cp:revision>
  <dcterms:modified xsi:type="dcterms:W3CDTF">2026-01-31T16:52:07Z</dcterms:modified>
</cp:coreProperties>
</file>